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31"/>
  </p:notesMasterIdLst>
  <p:sldIdLst>
    <p:sldId id="260" r:id="rId3"/>
    <p:sldId id="262" r:id="rId4"/>
    <p:sldId id="263" r:id="rId5"/>
    <p:sldId id="264" r:id="rId6"/>
    <p:sldId id="278" r:id="rId7"/>
    <p:sldId id="277" r:id="rId8"/>
    <p:sldId id="276" r:id="rId9"/>
    <p:sldId id="267" r:id="rId10"/>
    <p:sldId id="280" r:id="rId11"/>
    <p:sldId id="268" r:id="rId12"/>
    <p:sldId id="269" r:id="rId13"/>
    <p:sldId id="285" r:id="rId14"/>
    <p:sldId id="286" r:id="rId15"/>
    <p:sldId id="287" r:id="rId16"/>
    <p:sldId id="289" r:id="rId17"/>
    <p:sldId id="290" r:id="rId18"/>
    <p:sldId id="291" r:id="rId19"/>
    <p:sldId id="292" r:id="rId20"/>
    <p:sldId id="270" r:id="rId21"/>
    <p:sldId id="284" r:id="rId22"/>
    <p:sldId id="283" r:id="rId23"/>
    <p:sldId id="293" r:id="rId24"/>
    <p:sldId id="282" r:id="rId25"/>
    <p:sldId id="288" r:id="rId26"/>
    <p:sldId id="294" r:id="rId27"/>
    <p:sldId id="271" r:id="rId28"/>
    <p:sldId id="279" r:id="rId29"/>
    <p:sldId id="266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29" autoAdjust="0"/>
    <p:restoredTop sz="85033" autoAdjust="0"/>
  </p:normalViewPr>
  <p:slideViewPr>
    <p:cSldViewPr snapToGrid="0">
      <p:cViewPr varScale="1">
        <p:scale>
          <a:sx n="69" d="100"/>
          <a:sy n="69" d="100"/>
        </p:scale>
        <p:origin x="86" y="4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2707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这是方案四：图文融合设计。它将装饰元素与文字紧密结合，使页面看起来更活泼、更有设计感。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这是目录页。您可以在这里清晰地列出演示的主要部分。简洁的布局有助于观众快速了解整个演示的结构和核心要点。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这是一个章节过渡页。您可以用它来分隔不同的主题部分，让演示节奏更加清晰。大字号的标题和数字能够有效地引导观众的注意力。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这是一个章节过渡页。您可以用它来分隔不同的主题部分，让演示节奏更加清晰。大字号的标题和数字能够有效地引导观众的注意力。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这是一个章节过渡页。您可以用它来分隔不同的主题部分，让演示节奏更加清晰。大字号的标题和数字能够有效地引导观众的注意力。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这是一个章节过渡页。您可以用它来分隔不同的主题部分，让演示节奏更加清晰。大字号的标题和数字能够有效地引导观众的注意力。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这是一个章节过渡页。您可以用它来分隔不同的主题部分，让演示节奏更加清晰。大字号的标题和数字能够有效地引导观众的注意力。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759592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036077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这是一个章节过渡页。您可以用它来分隔不同的主题部分，让演示节奏更加清晰。大字号的标题和数字能够有效地引导观众的注意力。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这是一个标准的内容页布局，采用左文右图的形式。左侧可以放置详细的文本要点，右侧则可以搭配一张图片来辅助说明，使信息传达更加直观和生动。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感谢您的观看。希望这款极简风格的模板能帮助您更好地展示您的内容。如果您有任何问题或建议，欢迎随时提出。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9.png"/><Relationship Id="rId4" Type="http://schemas.openxmlformats.org/officeDocument/2006/relationships/image" Target="../media/image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642764" y="-762001"/>
            <a:ext cx="2803236" cy="2832215"/>
          </a:xfrm>
          <a:prstGeom prst="ellipse">
            <a:avLst/>
          </a:prstGeom>
          <a:solidFill>
            <a:srgbClr val="60A5FA">
              <a:alpha val="10000"/>
            </a:srgbClr>
          </a:solidFill>
          <a:ln cap="flat" cmpd="sng">
            <a:solidFill>
              <a:srgbClr val="4088E1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1" y="4937760"/>
            <a:ext cx="2513677" cy="2428240"/>
          </a:xfrm>
          <a:prstGeom prst="roundRect">
            <a:avLst>
              <a:gd name="adj" fmla="val 0"/>
            </a:avLst>
          </a:prstGeom>
          <a:solidFill>
            <a:srgbClr val="60A5FA">
              <a:alpha val="12000"/>
            </a:srgbClr>
          </a:solidFill>
          <a:ln cap="flat" cmpd="sng">
            <a:solidFill>
              <a:srgbClr val="4088E1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731731" y="5460999"/>
            <a:ext cx="825269" cy="831735"/>
          </a:xfrm>
          <a:prstGeom prst="ellipse">
            <a:avLst/>
          </a:prstGeom>
          <a:solidFill>
            <a:srgbClr val="60A5FA">
              <a:alpha val="15000"/>
            </a:srgbClr>
          </a:solidFill>
          <a:ln cap="flat" cmpd="sng">
            <a:solidFill>
              <a:srgbClr val="4088E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635000"/>
            <a:ext cx="655320" cy="645160"/>
          </a:xfrm>
          <a:prstGeom prst="roundRect">
            <a:avLst>
              <a:gd name="adj" fmla="val 0"/>
            </a:avLst>
          </a:prstGeom>
          <a:solidFill>
            <a:srgbClr val="60A5FA">
              <a:alpha val="20000"/>
            </a:srgbClr>
          </a:solidFill>
          <a:ln cap="flat" cmpd="sng">
            <a:solidFill>
              <a:srgbClr val="4088E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587500" y="46355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300" b="0" i="0" u="none" strike="noStrike" dirty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160701" y="4744403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25000"/>
              </a:lnSpc>
              <a:defRPr/>
            </a:pPr>
            <a:r>
              <a:rPr lang="en-US" sz="1300" b="0" i="0" u="none" strike="noStrike" dirty="0" smtClea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953500" y="46355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300" b="0" i="0" u="none" strike="noStrike" dirty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159657" y="4429928"/>
            <a:ext cx="12605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Leelawadee UI" panose="020B0502040204020203" pitchFamily="34" charset="-34"/>
              </a:rPr>
              <a:t>基于大语言模型的代码安全分析系统</a:t>
            </a:r>
            <a:endParaRPr lang="zh-CN" altLang="en-US" sz="6000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Leelawadee UI" panose="020B0502040204020203" pitchFamily="34" charset="-34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92" y="1279446"/>
            <a:ext cx="3190183" cy="27510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913" y="1888112"/>
            <a:ext cx="6265576" cy="1933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4"/>
          <p:cNvSpPr/>
          <p:nvPr/>
        </p:nvSpPr>
        <p:spPr>
          <a:xfrm>
            <a:off x="6350000" y="3373120"/>
            <a:ext cx="5080000" cy="99568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60A5FA">
                <a:alpha val="8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4"/>
          <p:cNvSpPr/>
          <p:nvPr/>
        </p:nvSpPr>
        <p:spPr>
          <a:xfrm>
            <a:off x="762000" y="3352800"/>
            <a:ext cx="5080000" cy="99568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60A5FA">
                <a:alpha val="8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138680"/>
            <a:ext cx="5080000" cy="99568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60A5FA">
                <a:alpha val="8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4"/>
          <p:cNvSpPr/>
          <p:nvPr/>
        </p:nvSpPr>
        <p:spPr>
          <a:xfrm>
            <a:off x="6350000" y="2159000"/>
            <a:ext cx="5080000" cy="99568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60A5FA">
                <a:alpha val="8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889000" y="2463800"/>
            <a:ext cx="406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397000" y="2286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2540000" y="24892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270000" y="3175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985000" y="2286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8128000" y="25146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</a:t>
            </a:r>
            <a:endParaRPr lang="en-US" sz="2800" dirty="0"/>
          </a:p>
        </p:txBody>
      </p:sp>
      <p:sp>
        <p:nvSpPr>
          <p:cNvPr id="13" name="AutoShape 13"/>
          <p:cNvSpPr/>
          <p:nvPr/>
        </p:nvSpPr>
        <p:spPr>
          <a:xfrm>
            <a:off x="6858000" y="3175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 dirty="0" smtClea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894080" y="3632200"/>
            <a:ext cx="406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1397000" y="34544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2540000" y="2504440"/>
            <a:ext cx="3403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2800" dirty="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270000" y="5461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436360" y="3632200"/>
            <a:ext cx="406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6985000" y="34544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8143240" y="368046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项目的价值</a:t>
            </a:r>
            <a:endParaRPr lang="en-US" sz="2800" dirty="0"/>
          </a:p>
        </p:txBody>
      </p:sp>
      <p:sp>
        <p:nvSpPr>
          <p:cNvPr id="23" name="AutoShape 23"/>
          <p:cNvSpPr/>
          <p:nvPr/>
        </p:nvSpPr>
        <p:spPr>
          <a:xfrm>
            <a:off x="6858000" y="5461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 dirty="0"/>
          </a:p>
        </p:txBody>
      </p:sp>
      <p:sp>
        <p:nvSpPr>
          <p:cNvPr id="29" name="AutoShape 4"/>
          <p:cNvSpPr/>
          <p:nvPr/>
        </p:nvSpPr>
        <p:spPr>
          <a:xfrm>
            <a:off x="746760" y="4584700"/>
            <a:ext cx="5080000" cy="99568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60A5FA">
                <a:alpha val="8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altLang="zh-CN" sz="800" dirty="0"/>
          </a:p>
        </p:txBody>
      </p:sp>
      <p:sp>
        <p:nvSpPr>
          <p:cNvPr id="30" name="AutoShape 4"/>
          <p:cNvSpPr/>
          <p:nvPr/>
        </p:nvSpPr>
        <p:spPr>
          <a:xfrm>
            <a:off x="6350000" y="4584700"/>
            <a:ext cx="5080000" cy="99568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60A5FA">
                <a:alpha val="8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17"/>
          <p:cNvSpPr/>
          <p:nvPr/>
        </p:nvSpPr>
        <p:spPr>
          <a:xfrm>
            <a:off x="8128000" y="489331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</a:t>
            </a:r>
            <a:r>
              <a:rPr lang="en-US" sz="2800" b="1" i="0" u="none" strike="noStrike" dirty="0" err="1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</a:t>
            </a:r>
            <a:endParaRPr lang="en-US" sz="2800" dirty="0"/>
          </a:p>
        </p:txBody>
      </p:sp>
      <p:sp>
        <p:nvSpPr>
          <p:cNvPr id="32" name="AutoShape 17"/>
          <p:cNvSpPr/>
          <p:nvPr/>
        </p:nvSpPr>
        <p:spPr>
          <a:xfrm>
            <a:off x="2524760" y="36957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我们的价值</a:t>
            </a:r>
            <a:endParaRPr lang="en-US" sz="2800" dirty="0"/>
          </a:p>
        </p:txBody>
      </p:sp>
      <p:sp>
        <p:nvSpPr>
          <p:cNvPr id="33" name="AutoShape 17"/>
          <p:cNvSpPr/>
          <p:nvPr/>
        </p:nvSpPr>
        <p:spPr>
          <a:xfrm>
            <a:off x="2545080" y="489204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系统演示</a:t>
            </a:r>
            <a:endParaRPr lang="en-US" sz="2800" dirty="0"/>
          </a:p>
        </p:txBody>
      </p:sp>
      <p:sp>
        <p:nvSpPr>
          <p:cNvPr id="34" name="AutoShape 12"/>
          <p:cNvSpPr/>
          <p:nvPr/>
        </p:nvSpPr>
        <p:spPr>
          <a:xfrm>
            <a:off x="2540000" y="247396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</a:t>
            </a:r>
            <a:endParaRPr lang="en-US" sz="2800" dirty="0"/>
          </a:p>
        </p:txBody>
      </p:sp>
      <p:sp>
        <p:nvSpPr>
          <p:cNvPr id="35" name="矩形 34"/>
          <p:cNvSpPr/>
          <p:nvPr/>
        </p:nvSpPr>
        <p:spPr>
          <a:xfrm>
            <a:off x="1305560" y="4651653"/>
            <a:ext cx="955040" cy="790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4000" b="1" dirty="0" smtClean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altLang="zh-CN" sz="4000" dirty="0"/>
          </a:p>
        </p:txBody>
      </p:sp>
      <p:sp>
        <p:nvSpPr>
          <p:cNvPr id="36" name="矩形 35"/>
          <p:cNvSpPr/>
          <p:nvPr/>
        </p:nvSpPr>
        <p:spPr>
          <a:xfrm>
            <a:off x="6883400" y="4686856"/>
            <a:ext cx="1036320" cy="790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4000" b="1" dirty="0" smtClean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altLang="zh-CN" sz="4000" dirty="0"/>
          </a:p>
        </p:txBody>
      </p:sp>
      <p:sp>
        <p:nvSpPr>
          <p:cNvPr id="37" name="文本框 36"/>
          <p:cNvSpPr txBox="1"/>
          <p:nvPr/>
        </p:nvSpPr>
        <p:spPr>
          <a:xfrm>
            <a:off x="469900" y="873125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651000"/>
            <a:ext cx="1219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0" b="1" i="0" u="none" strike="noStrike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60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4572000" y="5715000"/>
            <a:ext cx="3048000" cy="508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22225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软件安全形势严峻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425" y="886498"/>
            <a:ext cx="9926836" cy="5021504"/>
          </a:xfrm>
          <a:prstGeom prst="rect">
            <a:avLst/>
          </a:prstGeom>
        </p:spPr>
      </p:pic>
      <p:sp>
        <p:nvSpPr>
          <p:cNvPr id="23" name="AutoShape 3"/>
          <p:cNvSpPr/>
          <p:nvPr/>
        </p:nvSpPr>
        <p:spPr>
          <a:xfrm>
            <a:off x="877570" y="5981700"/>
            <a:ext cx="10750550" cy="64897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漏洞数量呈指数级增长，传统人工审计已无法满足海量代码的安全需求。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7500" y="333375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842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传统代码安全分析方法的局限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文本框 3"/>
          <p:cNvSpPr txBox="1"/>
          <p:nvPr/>
        </p:nvSpPr>
        <p:spPr>
          <a:xfrm>
            <a:off x="5547139" y="1550437"/>
            <a:ext cx="37055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SAST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CodeQL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SonarQube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等）依赖人工编写的规则库进行模式匹配，在语义理解、复杂逻辑检测和零日漏洞发现等核心维度上能力薄弱。其召回率普遍低于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，误报率超过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，无法有效检测跨函数调用、条件组合等深层逻辑漏洞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114" y="829647"/>
            <a:ext cx="7086599" cy="594126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80400" y="289897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730740"/>
            <a:ext cx="10624820" cy="48895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635000" y="190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大语言模型的崛起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文本框 4"/>
          <p:cNvSpPr txBox="1"/>
          <p:nvPr/>
        </p:nvSpPr>
        <p:spPr>
          <a:xfrm>
            <a:off x="317500" y="5828466"/>
            <a:ext cx="10985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HumanEval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164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道真实编程题）为评测基准，代码大模型能力实现跨越式提升：从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Codex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28.8%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Claude 3.5 Sonnet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94.5%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。模型已掌握代码语法、语义与逻辑推理能力，为将其应用于自动化漏洞检测与修复奠定了坚实的技术基础。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75557" y="301625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941365" y="1524000"/>
            <a:ext cx="27106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SAST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精确率高但召回率极低（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F1≈0.31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），原始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召回率高但误报严重（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F1≈0.40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F1≈0.75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SAST+LLM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混合架构（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F1≈0.71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）在两项指标上取得显著平衡，展现出从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走向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工程实践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的应用潜力。</a:t>
            </a:r>
          </a:p>
        </p:txBody>
      </p:sp>
      <p:sp>
        <p:nvSpPr>
          <p:cNvPr id="3" name="AutoShape 3"/>
          <p:cNvSpPr/>
          <p:nvPr/>
        </p:nvSpPr>
        <p:spPr>
          <a:xfrm>
            <a:off x="635000" y="190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32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</a:t>
            </a:r>
            <a:r>
              <a:rPr lang="zh-CN" altLang="en-US" sz="32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在漏洞检测中的性能优势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94" y="1046480"/>
            <a:ext cx="10435206" cy="564741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58321" y="326390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651000"/>
            <a:ext cx="1219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0" b="1" i="0" u="none" strike="noStrike" dirty="0" smtClean="0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60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4572000" y="5715000"/>
            <a:ext cx="3048000" cy="508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智能驱动的精确漏洞检测和修复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1" name="AutoShape 5"/>
          <p:cNvSpPr/>
          <p:nvPr/>
        </p:nvSpPr>
        <p:spPr>
          <a:xfrm>
            <a:off x="695960" y="3238500"/>
            <a:ext cx="3302000" cy="2794000"/>
          </a:xfrm>
          <a:prstGeom prst="roundRect">
            <a:avLst>
              <a:gd name="adj" fmla="val 0"/>
            </a:avLst>
          </a:prstGeom>
          <a:solidFill>
            <a:srgbClr val="00529B">
              <a:alpha val="8000"/>
            </a:srgbClr>
          </a:solidFill>
          <a:ln w="12700" cap="flat" cmpd="sng">
            <a:solidFill>
              <a:srgbClr val="00529B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lang="en-US" altLang="zh-CN" sz="1000" b="1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algn="ctr">
              <a:defRPr/>
            </a:pPr>
            <a:endParaRPr lang="en-US" altLang="zh-CN" sz="1000" b="1" dirty="0" smtClean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algn="ctr">
              <a:defRPr/>
            </a:pPr>
            <a:r>
              <a:rPr lang="en-US" altLang="zh-CN" dirty="0" smtClean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dirty="0" smtClean="0"/>
          </a:p>
          <a:p>
            <a:pPr algn="ctr">
              <a:defRPr/>
            </a:pPr>
            <a:endParaRPr dirty="0"/>
          </a:p>
        </p:txBody>
      </p:sp>
      <p:sp>
        <p:nvSpPr>
          <p:cNvPr id="13" name="AutoShape 9"/>
          <p:cNvSpPr/>
          <p:nvPr/>
        </p:nvSpPr>
        <p:spPr>
          <a:xfrm>
            <a:off x="4282440" y="3248660"/>
            <a:ext cx="3302000" cy="2794000"/>
          </a:xfrm>
          <a:prstGeom prst="roundRect">
            <a:avLst>
              <a:gd name="adj" fmla="val 0"/>
            </a:avLst>
          </a:prstGeom>
          <a:solidFill>
            <a:srgbClr val="00529B">
              <a:alpha val="8000"/>
            </a:srgbClr>
          </a:solidFill>
          <a:ln w="12700" cap="flat" cmpd="sng">
            <a:solidFill>
              <a:srgbClr val="00529B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3"/>
          <p:cNvSpPr/>
          <p:nvPr/>
        </p:nvSpPr>
        <p:spPr>
          <a:xfrm>
            <a:off x="7891780" y="3260090"/>
            <a:ext cx="3302000" cy="2794000"/>
          </a:xfrm>
          <a:prstGeom prst="roundRect">
            <a:avLst>
              <a:gd name="adj" fmla="val 0"/>
            </a:avLst>
          </a:prstGeom>
          <a:solidFill>
            <a:srgbClr val="00529B">
              <a:alpha val="8000"/>
            </a:srgbClr>
          </a:solidFill>
          <a:ln w="12700" cap="flat" cmpd="sng">
            <a:solidFill>
              <a:srgbClr val="00529B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66800" y="3733800"/>
            <a:ext cx="457200" cy="4572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15670" y="4412932"/>
            <a:ext cx="265938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基于大语言模型的上下文理解能力，精准识别潜在代码缺陷与逻辑漏洞，突破传统规则引擎的识别盲区</a:t>
            </a:r>
            <a:r>
              <a:rPr lang="en-US" altLang="zh-CN" sz="1600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altLang="zh-CN" sz="1600" dirty="0"/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51000" y="3771106"/>
            <a:ext cx="21234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智能化漏洞检测</a:t>
            </a:r>
            <a:endParaRPr lang="en-US" altLang="zh-CN" sz="2000" b="1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endParaRPr lang="zh-CN" altLang="en-US" dirty="0"/>
          </a:p>
        </p:txBody>
      </p:sp>
      <p:pic>
        <p:nvPicPr>
          <p:cNvPr id="18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93920" y="3683000"/>
            <a:ext cx="457200" cy="4572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412740" y="3733800"/>
            <a:ext cx="21640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自动化审计流程</a:t>
            </a:r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503420" y="4400153"/>
            <a:ext cx="2987040" cy="1221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7000"/>
              </a:lnSpc>
              <a:defRPr/>
            </a:pPr>
            <a:r>
              <a:rPr lang="en-US" altLang="zh-CN" sz="1600" dirty="0" err="1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实现从代码扫描、漏洞分析到报告生成的全流程自动化，大幅降低人工介入成本，提升审计效率与覆盖范围</a:t>
            </a:r>
            <a:r>
              <a:rPr lang="en-US" altLang="zh-CN" sz="1600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altLang="zh-CN" sz="1600" dirty="0"/>
          </a:p>
        </p:txBody>
      </p:sp>
      <p:pic>
        <p:nvPicPr>
          <p:cNvPr id="21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341360" y="3683000"/>
            <a:ext cx="457200" cy="4572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9074150" y="3733800"/>
            <a:ext cx="21996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本地化安全部署</a:t>
            </a:r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8092440" y="4412932"/>
            <a:ext cx="2961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支持私有化本地部署模式，确保核心代码资产与审计数据不出域，满足企业级数据合规与隐私保护的严苛要求</a:t>
            </a:r>
            <a:r>
              <a:rPr lang="en-US" altLang="zh-CN" sz="1600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altLang="zh-CN" sz="1600" dirty="0"/>
          </a:p>
          <a:p>
            <a:endParaRPr lang="zh-CN" altLang="en-US" sz="1600" dirty="0"/>
          </a:p>
        </p:txBody>
      </p:sp>
      <p:sp>
        <p:nvSpPr>
          <p:cNvPr id="24" name="文本框 23"/>
          <p:cNvSpPr txBox="1"/>
          <p:nvPr/>
        </p:nvSpPr>
        <p:spPr>
          <a:xfrm>
            <a:off x="635000" y="1480096"/>
            <a:ext cx="105587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构建一个基于大语言模型的智能代码安全分析系统，通过</a:t>
            </a:r>
            <a:r>
              <a:rPr lang="en-US" altLang="zh-CN" sz="2400" dirty="0"/>
              <a:t>"LLM</a:t>
            </a:r>
            <a:r>
              <a:rPr lang="zh-CN" altLang="en-US" sz="2400" dirty="0"/>
              <a:t>语义理解 </a:t>
            </a:r>
            <a:r>
              <a:rPr lang="en-US" altLang="zh-CN" sz="2400" dirty="0"/>
              <a:t>+ </a:t>
            </a:r>
            <a:r>
              <a:rPr lang="zh-CN" altLang="en-US" sz="2400" dirty="0"/>
              <a:t>传统程序分析辅助</a:t>
            </a:r>
            <a:r>
              <a:rPr lang="en-US" altLang="zh-CN" sz="2400" dirty="0"/>
              <a:t>"</a:t>
            </a:r>
            <a:r>
              <a:rPr lang="zh-CN" altLang="en-US" sz="2400" dirty="0"/>
              <a:t>的混合架构，实现高精度、低误报、可解释的自动化漏洞检测与修复建议生成。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17286" y="281305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651000"/>
            <a:ext cx="1219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0" b="1" i="0" u="none" strike="noStrike" dirty="0" smtClean="0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60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我们的价值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4572000" y="5715000"/>
            <a:ext cx="3048000" cy="508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651000"/>
            <a:ext cx="1219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0" b="1" i="0" u="none" strike="noStrike" dirty="0" smtClean="0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60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项目的价值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4572000" y="5715000"/>
            <a:ext cx="3048000" cy="508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3" name="AutoShape 3"/>
          <p:cNvSpPr/>
          <p:nvPr/>
        </p:nvSpPr>
        <p:spPr>
          <a:xfrm>
            <a:off x="687448" y="120542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为什么传统工具不能用？</a:t>
            </a:r>
            <a:endParaRPr lang="en-US" sz="1100" dirty="0"/>
          </a:p>
        </p:txBody>
      </p:sp>
      <p:sp>
        <p:nvSpPr>
          <p:cNvPr id="7" name="文本框 6"/>
          <p:cNvSpPr txBox="1"/>
          <p:nvPr/>
        </p:nvSpPr>
        <p:spPr>
          <a:xfrm>
            <a:off x="317500" y="896312"/>
            <a:ext cx="1170586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传统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SAST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工具：基于规则匹配，无法理解代码语义</a:t>
            </a:r>
          </a:p>
          <a:p>
            <a:pPr fontAlgn="base"/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直接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上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LLM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：全文件扫描太慢、太贵、容易幻觉</a:t>
            </a:r>
          </a:p>
          <a:p>
            <a:pPr fontAlgn="base"/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我们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的思路：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让工具做粗筛，让</a:t>
            </a:r>
            <a:r>
              <a:rPr lang="en-US" altLang="zh-CN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LLM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做精审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图片 7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3" t="24099" r="4478" b="6603"/>
          <a:stretch>
            <a:fillRect/>
          </a:stretch>
        </p:blipFill>
        <p:spPr>
          <a:xfrm>
            <a:off x="762000" y="2055803"/>
            <a:ext cx="10613571" cy="455951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58321" y="230197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38544" y="-7292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研究两阶段架构：工具召回</a:t>
            </a:r>
            <a:r>
              <a:rPr lang="en-US" altLang="zh-CN" sz="32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+LLM</a:t>
            </a:r>
            <a:r>
              <a:rPr lang="zh-CN" altLang="en-US" sz="32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裁决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0" t="9493" r="2045" b="5681"/>
          <a:stretch>
            <a:fillRect/>
          </a:stretch>
        </p:blipFill>
        <p:spPr>
          <a:xfrm>
            <a:off x="731456" y="666750"/>
            <a:ext cx="10475088" cy="55073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7170" y="6174085"/>
            <a:ext cx="1044583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核心收益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LLM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全文件找洞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变为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finding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判真伪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，调用量降低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80%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9571" y="97937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多工具并行召回，不只是“跑一遍规则”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2" t="15252" r="6582" b="4767"/>
          <a:stretch>
            <a:fillRect/>
          </a:stretch>
        </p:blipFill>
        <p:spPr>
          <a:xfrm>
            <a:off x="139538" y="1143000"/>
            <a:ext cx="8750462" cy="524333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007997" y="1161008"/>
            <a:ext cx="299894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单一路径，是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多工具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互补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证据链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source→sink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堂证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供”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密钥泄露等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确定性问题直接输出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，不麻烦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</a:p>
          <a:p>
            <a:pPr fontAlgn="base"/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fontAlgn="base"/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fontAlgn="base"/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8321" y="307340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241563" y="932138"/>
            <a:ext cx="211993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封闭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判别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：只判断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给定候选是否为真漏洞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，不开放生成</a:t>
            </a:r>
          </a:p>
          <a:p>
            <a:pPr fontAlgn="base"/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知识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增强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RAG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检索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CWE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漏洞知识注入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Prompt</a:t>
            </a:r>
          </a:p>
          <a:p>
            <a:pPr fontAlgn="base"/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自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一致率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：多次采样投票，不一致则标记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存疑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人工复核</a:t>
            </a: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</a:t>
            </a:r>
            <a:r>
              <a:rPr lang="zh-CN" altLang="en-US" sz="32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不是“自由发挥”，是“封闭裁决”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" t="8986" r="2784" b="10582"/>
          <a:stretch>
            <a:fillRect/>
          </a:stretch>
        </p:blipFill>
        <p:spPr>
          <a:xfrm>
            <a:off x="512445" y="932180"/>
            <a:ext cx="10901045" cy="57823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94171" y="281305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数据从哪来？模型怎么训？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文本框 3"/>
          <p:cNvSpPr txBox="1"/>
          <p:nvPr/>
        </p:nvSpPr>
        <p:spPr>
          <a:xfrm>
            <a:off x="386443" y="863421"/>
            <a:ext cx="11444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路线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：本地验证方法论 → 云端释放算力</a:t>
            </a:r>
          </a:p>
          <a:p>
            <a:pPr fontAlgn="base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蒸馏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：双教师模型生成长思维链，压缩为短链供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小模型学习</a:t>
            </a:r>
          </a:p>
          <a:p>
            <a:pPr fontAlgn="base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清洗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：三次泄漏排查（文件名含答案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en-US" altLang="zh-CN" sz="2400" dirty="0" err="1">
                <a:latin typeface="楷体" panose="02010609060101010101" pitchFamily="49" charset="-122"/>
                <a:ea typeface="楷体" panose="02010609060101010101" pitchFamily="49" charset="-122"/>
              </a:rPr>
              <a:t>Jaccard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重叠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测试集拟合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" t="18504" r="3214" b="1838"/>
          <a:stretch>
            <a:fillRect/>
          </a:stretch>
        </p:blipFill>
        <p:spPr>
          <a:xfrm>
            <a:off x="317500" y="2115820"/>
            <a:ext cx="10362692" cy="465388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86443" y="281305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保证</a:t>
            </a:r>
            <a:r>
              <a:rPr lang="zh-CN" altLang="en-US" sz="3200" b="1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数据不乱说的“四层保险门”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" t="12489" r="6762" b="8185"/>
          <a:stretch>
            <a:fillRect/>
          </a:stretch>
        </p:blipFill>
        <p:spPr>
          <a:xfrm>
            <a:off x="879837" y="932180"/>
            <a:ext cx="10178325" cy="592582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58321" y="281305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414528" y="34751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5" t="11170" r="4547" b="9176"/>
          <a:stretch>
            <a:fillRect/>
          </a:stretch>
        </p:blipFill>
        <p:spPr>
          <a:xfrm>
            <a:off x="762000" y="2021990"/>
            <a:ext cx="10320528" cy="487476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31721" y="145876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17500" y="675753"/>
            <a:ext cx="11519222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本研究采用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工具召回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+LLM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裁决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两阶段架构，通过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本地试错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云端放大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低成本完成模型训练，在真实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CVE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样本上实现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95%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检出率、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4.3%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误报率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，核心贡献是一套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先问数据可信、再谈指标高低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的方法论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651000"/>
            <a:ext cx="1219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0" b="1" i="0" u="none" strike="noStrike" dirty="0" smtClean="0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60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系统演示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4572000" y="5715000"/>
            <a:ext cx="3048000" cy="508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仪表盘界面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7" t="10705" r="1701" b="3623"/>
          <a:stretch>
            <a:fillRect/>
          </a:stretch>
        </p:blipFill>
        <p:spPr>
          <a:xfrm>
            <a:off x="0" y="835217"/>
            <a:ext cx="9192227" cy="550668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510145" y="1110615"/>
            <a:ext cx="2269924" cy="52622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功能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介绍：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作为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系统的</a:t>
            </a: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总览首页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，用于查看后端引擎与各类工具的运行健康状态，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汇总历史扫描数据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，展示漏洞统计信息与最近发现的漏洞，实现整体安全态势快速查看</a:t>
            </a: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7" name="图片 6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3"/>
          <a:stretch>
            <a:fillRect/>
          </a:stretch>
        </p:blipFill>
        <p:spPr>
          <a:xfrm>
            <a:off x="62214" y="1110343"/>
            <a:ext cx="9519051" cy="52311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89428" y="236951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扫描</a:t>
            </a:r>
            <a:r>
              <a:rPr lang="zh-CN" altLang="en-US" sz="3200" b="1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工作台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17286" y="281305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94132" y="974852"/>
            <a:ext cx="2423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操作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步骤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将等待检测的代码粘贴或以文件形式上传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点击开始分析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得到详细分析结果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0" name="图片 49"/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9" t="7964" r="15271" b="897"/>
          <a:stretch/>
        </p:blipFill>
        <p:spPr>
          <a:xfrm>
            <a:off x="2810256" y="567055"/>
            <a:ext cx="8906256" cy="6098921"/>
          </a:xfrm>
          <a:prstGeom prst="rect">
            <a:avLst/>
          </a:prstGeom>
        </p:spPr>
      </p:pic>
      <p:sp>
        <p:nvSpPr>
          <p:cNvPr id="52" name="椭圆 51"/>
          <p:cNvSpPr/>
          <p:nvPr/>
        </p:nvSpPr>
        <p:spPr>
          <a:xfrm>
            <a:off x="4937760" y="1704340"/>
            <a:ext cx="301752" cy="27432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4937760" y="5705856"/>
            <a:ext cx="301752" cy="301752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9501124" y="1819148"/>
            <a:ext cx="301752" cy="27432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flipH="1">
            <a:off x="9144000" y="2286000"/>
            <a:ext cx="658876" cy="5486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58"/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" t="33044" r="591" b="795"/>
          <a:stretch/>
        </p:blipFill>
        <p:spPr>
          <a:xfrm>
            <a:off x="3001771" y="2871216"/>
            <a:ext cx="8394193" cy="3995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扫描工作台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58321" y="281305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2" name="图片 1"/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98"/>
          <a:stretch/>
        </p:blipFill>
        <p:spPr>
          <a:xfrm>
            <a:off x="358321" y="991327"/>
            <a:ext cx="11483189" cy="544292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24829" y="2036353"/>
            <a:ext cx="1505415" cy="3388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60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32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CWE</a:t>
            </a:r>
            <a:r>
              <a:rPr lang="zh-CN" altLang="en-US" sz="32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样本库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5" name="图片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" t="10223" r="1421" b="29468"/>
          <a:stretch>
            <a:fillRect/>
          </a:stretch>
        </p:blipFill>
        <p:spPr>
          <a:xfrm>
            <a:off x="777916" y="1388979"/>
            <a:ext cx="9778195" cy="535785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35000" y="880512"/>
            <a:ext cx="940427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功能说明：</a:t>
            </a:r>
            <a:r>
              <a:rPr lang="zh-CN" altLang="en-US" sz="2000" dirty="0" smtClean="0">
                <a:solidFill>
                  <a:srgbClr val="C00000"/>
                </a:solidFill>
              </a:rPr>
              <a:t>查阅</a:t>
            </a:r>
            <a:r>
              <a:rPr lang="zh-CN" altLang="en-US" sz="2000" dirty="0"/>
              <a:t>常见安全弱点的风险等级、代码样例，辅助安全审计与漏洞学习</a:t>
            </a:r>
            <a:r>
              <a:rPr lang="zh-CN" altLang="en-US" sz="1800" dirty="0"/>
              <a:t>。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1666754" y="5270500"/>
            <a:ext cx="1354238" cy="1016000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图片 3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"/>
          <a:stretch>
            <a:fillRect/>
          </a:stretch>
        </p:blipFill>
        <p:spPr>
          <a:xfrm>
            <a:off x="3274992" y="0"/>
            <a:ext cx="6021408" cy="697774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0071" y="276679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</a:t>
            </a:r>
            <a:r>
              <a:rPr lang="zh-CN" altLang="en-US" sz="3200" b="1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态势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58321" y="281305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2" name="图片 1"/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3" t="4725" b="40358"/>
          <a:stretch/>
        </p:blipFill>
        <p:spPr>
          <a:xfrm>
            <a:off x="317500" y="821054"/>
            <a:ext cx="11751722" cy="60369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</a:t>
            </a:r>
            <a:r>
              <a:rPr lang="zh-CN" altLang="en-US" sz="3200" b="1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态势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58321" y="281305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" t="60000" r="3971" b="3745"/>
          <a:stretch/>
        </p:blipFill>
        <p:spPr>
          <a:xfrm>
            <a:off x="634999" y="762000"/>
            <a:ext cx="10427011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5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651000"/>
            <a:ext cx="1219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0" b="1" i="0" u="none" strike="noStrike" dirty="0" smtClean="0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60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4572000" y="5715000"/>
            <a:ext cx="3048000" cy="508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7018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200" dirty="0">
                <a:latin typeface="Noto Sans SC" panose="020B0200000000000000" charset="-122"/>
                <a:ea typeface="Noto Sans SC" panose="020B0200000000000000" charset="-122"/>
              </a:rPr>
              <a:t>当前不是终点，下一步收敛方向已经</a:t>
            </a:r>
            <a:r>
              <a:rPr lang="zh-CN" altLang="en-US" sz="3200" dirty="0" smtClean="0">
                <a:latin typeface="Noto Sans SC" panose="020B0200000000000000" charset="-122"/>
                <a:ea typeface="Noto Sans SC" panose="020B0200000000000000" charset="-122"/>
              </a:rPr>
              <a:t>清晰</a:t>
            </a:r>
            <a:endParaRPr lang="en-US" sz="3200" dirty="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549400" y="2095500"/>
            <a:ext cx="441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524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524000" y="5270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44000" y="5270500"/>
            <a:ext cx="241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endParaRPr lang="en-US" sz="14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6"/>
          <p:cNvSpPr/>
          <p:nvPr/>
        </p:nvSpPr>
        <p:spPr>
          <a:xfrm>
            <a:off x="317500" y="762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文本框 3"/>
          <p:cNvSpPr txBox="1"/>
          <p:nvPr/>
        </p:nvSpPr>
        <p:spPr>
          <a:xfrm>
            <a:off x="474980" y="1076534"/>
            <a:ext cx="108280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1.</a:t>
            </a:r>
            <a:r>
              <a:rPr lang="zh-CN" altLang="en-US" sz="2000" dirty="0" smtClean="0"/>
              <a:t>修</a:t>
            </a:r>
            <a:r>
              <a:rPr lang="zh-CN" altLang="en-US" sz="2000" dirty="0"/>
              <a:t>模型侧</a:t>
            </a:r>
            <a:r>
              <a:rPr lang="zh-CN" altLang="en-US" sz="2000" dirty="0" smtClean="0"/>
              <a:t>能力：</a:t>
            </a:r>
            <a:r>
              <a:rPr lang="zh-CN" altLang="en-US" sz="2000" dirty="0"/>
              <a:t>把 </a:t>
            </a:r>
            <a:r>
              <a:rPr lang="en-US" altLang="zh-CN" sz="2000" dirty="0"/>
              <a:t>review </a:t>
            </a:r>
            <a:r>
              <a:rPr lang="zh-CN" altLang="en-US" sz="2000" dirty="0"/>
              <a:t>的 </a:t>
            </a:r>
            <a:r>
              <a:rPr lang="en-US" altLang="zh-CN" sz="2000" dirty="0"/>
              <a:t>8 </a:t>
            </a:r>
            <a:r>
              <a:rPr lang="zh-CN" altLang="en-US" sz="2000" dirty="0"/>
              <a:t>个漏洞样本（逻辑漏洞无专用规则 </a:t>
            </a:r>
            <a:r>
              <a:rPr lang="en-US" altLang="zh-CN" sz="2000" dirty="0"/>
              <a:t>/ </a:t>
            </a:r>
            <a:r>
              <a:rPr lang="zh-CN" altLang="en-US" sz="2000" dirty="0"/>
              <a:t>归因偏置）作为定向优化点，配合防御机制教学 </a:t>
            </a:r>
            <a:r>
              <a:rPr lang="en-US" altLang="zh-CN" sz="2000" dirty="0" err="1"/>
              <a:t>CoT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DSPairs</a:t>
            </a:r>
            <a:r>
              <a:rPr lang="en-US" altLang="zh-CN" sz="2000" dirty="0"/>
              <a:t>/</a:t>
            </a:r>
            <a:r>
              <a:rPr lang="zh-CN" altLang="en-US" sz="2000" dirty="0"/>
              <a:t>偏好优化；提示质量审计 </a:t>
            </a:r>
            <a:r>
              <a:rPr lang="en-US" altLang="zh-CN" sz="2000" dirty="0"/>
              <a:t>B </a:t>
            </a:r>
            <a:r>
              <a:rPr lang="zh-CN" altLang="en-US" sz="2000" dirty="0"/>
              <a:t>到点率 </a:t>
            </a:r>
            <a:r>
              <a:rPr lang="en-US" altLang="zh-CN" sz="2000" dirty="0"/>
              <a:t>86.1% </a:t>
            </a:r>
            <a:r>
              <a:rPr lang="zh-CN" altLang="en-US" sz="2000" dirty="0"/>
              <a:t>的缺口（</a:t>
            </a:r>
            <a:r>
              <a:rPr lang="en-US" altLang="zh-CN" sz="2000" dirty="0"/>
              <a:t>CSRF/JWT/</a:t>
            </a:r>
            <a:r>
              <a:rPr lang="zh-CN" altLang="en-US" sz="2000" dirty="0"/>
              <a:t>竞态</a:t>
            </a:r>
            <a:r>
              <a:rPr lang="en-US" altLang="zh-CN" sz="2000" dirty="0"/>
              <a:t>/</a:t>
            </a:r>
            <a:r>
              <a:rPr lang="zh-CN" altLang="en-US" sz="2000" dirty="0"/>
              <a:t>弱加密无专用规则）同样归模型</a:t>
            </a:r>
            <a:r>
              <a:rPr lang="zh-CN" altLang="en-US" sz="2000" dirty="0" smtClean="0"/>
              <a:t>侧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en-US" altLang="zh-CN" sz="2000" dirty="0" smtClean="0"/>
              <a:t>2.20 </a:t>
            </a:r>
            <a:r>
              <a:rPr lang="zh-CN" altLang="en-US" sz="2000" dirty="0"/>
              <a:t>段 </a:t>
            </a:r>
            <a:r>
              <a:rPr lang="en-US" altLang="zh-CN" sz="2000" dirty="0"/>
              <a:t>CVE-fix </a:t>
            </a:r>
            <a:r>
              <a:rPr lang="zh-CN" altLang="en-US" sz="2000" dirty="0"/>
              <a:t>测试集**：修 </a:t>
            </a:r>
            <a:r>
              <a:rPr lang="en-US" altLang="zh-CN" sz="2000" dirty="0"/>
              <a:t>review </a:t>
            </a:r>
            <a:r>
              <a:rPr lang="zh-CN" altLang="en-US" sz="2000" dirty="0"/>
              <a:t>时同步补强真实 </a:t>
            </a:r>
            <a:r>
              <a:rPr lang="en-US" altLang="zh-CN" sz="2000" dirty="0"/>
              <a:t>CVE </a:t>
            </a:r>
            <a:r>
              <a:rPr lang="zh-CN" altLang="en-US" sz="2000" dirty="0"/>
              <a:t>泛化</a:t>
            </a:r>
            <a:r>
              <a:rPr lang="en-US" altLang="zh-CN" sz="2000" dirty="0"/>
              <a:t>——</a:t>
            </a:r>
            <a:r>
              <a:rPr lang="zh-CN" altLang="en-US" sz="2000" dirty="0"/>
              <a:t>它暴露出的问题留到 </a:t>
            </a:r>
            <a:r>
              <a:rPr lang="en-US" altLang="zh-CN" sz="2000" dirty="0"/>
              <a:t>α1 </a:t>
            </a:r>
            <a:r>
              <a:rPr lang="zh-CN" altLang="en-US" sz="2000" dirty="0"/>
              <a:t>收口，本阶段不是</a:t>
            </a:r>
            <a:r>
              <a:rPr lang="zh-CN" altLang="en-US" sz="2000" dirty="0" smtClean="0"/>
              <a:t>核心</a:t>
            </a:r>
            <a:endParaRPr lang="en-US" altLang="zh-CN" sz="2000" dirty="0" smtClean="0"/>
          </a:p>
          <a:p>
            <a:pPr marL="342900" indent="-342900">
              <a:buFontTx/>
              <a:buChar char="-"/>
            </a:pPr>
            <a:endParaRPr lang="en-US" altLang="zh-CN" sz="2000" dirty="0" smtClean="0"/>
          </a:p>
          <a:p>
            <a:r>
              <a:rPr lang="en-US" altLang="zh-CN" sz="2000" dirty="0" smtClean="0"/>
              <a:t>3.</a:t>
            </a:r>
            <a:r>
              <a:rPr lang="zh-CN" altLang="en-US" sz="2000" dirty="0" smtClean="0"/>
              <a:t>评估</a:t>
            </a:r>
            <a:r>
              <a:rPr lang="zh-CN" altLang="en-US" sz="2000" dirty="0"/>
              <a:t>进一步</a:t>
            </a:r>
            <a:r>
              <a:rPr lang="zh-CN" altLang="en-US" sz="2000" dirty="0" smtClean="0"/>
              <a:t>可靠：</a:t>
            </a:r>
            <a:r>
              <a:rPr lang="zh-CN" altLang="en-US" sz="2000" dirty="0"/>
              <a:t>共形校准改用独立校准集重拟合（消除 </a:t>
            </a:r>
            <a:r>
              <a:rPr lang="en-US" altLang="zh-CN" sz="2000" dirty="0"/>
              <a:t>in-sample </a:t>
            </a:r>
            <a:r>
              <a:rPr lang="zh-CN" altLang="en-US" sz="2000" dirty="0"/>
              <a:t>风险），评估隔离铁律保持</a:t>
            </a:r>
            <a:r>
              <a:rPr lang="en-US" altLang="zh-CN" sz="2000" dirty="0"/>
              <a:t>- DPO</a:t>
            </a:r>
            <a:r>
              <a:rPr lang="zh-CN" altLang="en-US" sz="2000" dirty="0"/>
              <a:t>、</a:t>
            </a:r>
            <a:r>
              <a:rPr lang="en-US" altLang="zh-CN" sz="2000" dirty="0"/>
              <a:t>GRPO </a:t>
            </a:r>
            <a:r>
              <a:rPr lang="zh-CN" altLang="en-US" sz="2000" dirty="0"/>
              <a:t>脚本已写好（</a:t>
            </a:r>
            <a:r>
              <a:rPr lang="en-US" altLang="zh-CN" sz="2000" dirty="0"/>
              <a:t>GRPO </a:t>
            </a:r>
            <a:r>
              <a:rPr lang="zh-CN" altLang="en-US" sz="2000" dirty="0"/>
              <a:t>奖励函数防 </a:t>
            </a:r>
            <a:r>
              <a:rPr lang="en-US" altLang="zh-CN" sz="2000" dirty="0"/>
              <a:t>reward hacking </a:t>
            </a:r>
            <a:r>
              <a:rPr lang="zh-CN" altLang="en-US" sz="2000" dirty="0"/>
              <a:t>三道闸已设计：</a:t>
            </a:r>
            <a:r>
              <a:rPr lang="en-US" altLang="zh-CN" sz="2000" dirty="0"/>
              <a:t>FP </a:t>
            </a:r>
            <a:r>
              <a:rPr lang="zh-CN" altLang="en-US" sz="2000" dirty="0"/>
              <a:t>惩罚≥</a:t>
            </a:r>
            <a:r>
              <a:rPr lang="en-US" altLang="zh-CN" sz="2000" dirty="0"/>
              <a:t>FN</a:t>
            </a:r>
            <a:r>
              <a:rPr lang="zh-CN" altLang="en-US" sz="2000" dirty="0"/>
              <a:t>、格式门前置、证据接地校验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marL="342900" indent="-342900">
              <a:buFontTx/>
              <a:buChar char="-"/>
            </a:pPr>
            <a:endParaRPr lang="en-US" altLang="zh-CN" sz="2000" dirty="0" smtClean="0"/>
          </a:p>
          <a:p>
            <a:r>
              <a:rPr lang="en-US" altLang="zh-CN" sz="2000" dirty="0" smtClean="0"/>
              <a:t>4.</a:t>
            </a:r>
            <a:r>
              <a:rPr lang="zh-CN" altLang="en-US" sz="2000" dirty="0" smtClean="0"/>
              <a:t>数据飞轮：</a:t>
            </a:r>
            <a:r>
              <a:rPr lang="zh-CN" altLang="en-US" sz="2000" dirty="0"/>
              <a:t>冻结集 </a:t>
            </a:r>
            <a:r>
              <a:rPr lang="en-US" altLang="zh-CN" sz="2000" dirty="0"/>
              <a:t>+ </a:t>
            </a:r>
            <a:r>
              <a:rPr lang="zh-CN" altLang="en-US" sz="2000" dirty="0"/>
              <a:t>回填信号 → 去重</a:t>
            </a:r>
            <a:r>
              <a:rPr lang="en-US" altLang="zh-CN" sz="2000" dirty="0"/>
              <a:t>/</a:t>
            </a:r>
            <a:r>
              <a:rPr lang="zh-CN" altLang="en-US" sz="2000" dirty="0"/>
              <a:t>泄漏审计</a:t>
            </a:r>
            <a:r>
              <a:rPr lang="en-US" altLang="zh-CN" sz="2000" dirty="0"/>
              <a:t>/</a:t>
            </a:r>
            <a:r>
              <a:rPr lang="zh-CN" altLang="en-US" sz="2000" dirty="0"/>
              <a:t>格式校验 → 版本化 → 回流（协议与管道已就绪，</a:t>
            </a:r>
            <a:r>
              <a:rPr lang="en-US" altLang="zh-CN" sz="2000" dirty="0"/>
              <a:t>α1 </a:t>
            </a:r>
            <a:r>
              <a:rPr lang="zh-CN" altLang="en-US" sz="2000" dirty="0"/>
              <a:t>跑通数据回流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marL="342900" indent="-342900">
              <a:buFontTx/>
              <a:buChar char="-"/>
            </a:pPr>
            <a:endParaRPr lang="en-US" altLang="zh-CN" sz="2000" dirty="0" smtClean="0"/>
          </a:p>
          <a:p>
            <a:r>
              <a:rPr lang="en-US" altLang="zh-CN" sz="2000" dirty="0" smtClean="0"/>
              <a:t>5.</a:t>
            </a:r>
            <a:r>
              <a:rPr lang="zh-CN" altLang="en-US" sz="2000" dirty="0" smtClean="0"/>
              <a:t>模型</a:t>
            </a:r>
            <a:r>
              <a:rPr lang="zh-CN" altLang="en-US" sz="2000" dirty="0"/>
              <a:t>→工具</a:t>
            </a:r>
            <a:r>
              <a:rPr lang="zh-CN" altLang="en-US" sz="2000" dirty="0" smtClean="0"/>
              <a:t>闭环：</a:t>
            </a:r>
            <a:r>
              <a:rPr lang="en-US" altLang="zh-CN" sz="2000" dirty="0"/>
              <a:t>learn\_pool </a:t>
            </a:r>
            <a:r>
              <a:rPr lang="zh-CN" altLang="en-US" sz="2000" dirty="0"/>
              <a:t>待审核条目接入人工审核通道（独立验证集复验 </a:t>
            </a:r>
            <a:r>
              <a:rPr lang="en-US" altLang="zh-CN" sz="2000" dirty="0"/>
              <a:t>+ </a:t>
            </a:r>
            <a:r>
              <a:rPr lang="zh-CN" altLang="en-US" sz="2000" dirty="0"/>
              <a:t>人工批准）后转正为工具</a:t>
            </a:r>
            <a:r>
              <a:rPr lang="zh-CN" altLang="en-US" sz="2000" dirty="0" smtClean="0"/>
              <a:t>规则</a:t>
            </a:r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en-US" altLang="zh-CN" sz="2000" dirty="0" smtClean="0"/>
              <a:t>6.</a:t>
            </a:r>
            <a:r>
              <a:rPr lang="zh-CN" altLang="en-US" sz="2000" dirty="0" smtClean="0"/>
              <a:t>发布形态：</a:t>
            </a:r>
            <a:r>
              <a:rPr lang="zh-CN" altLang="en-US" sz="2000" dirty="0"/>
              <a:t>收敛量化缺口（</a:t>
            </a:r>
            <a:r>
              <a:rPr lang="en-US" altLang="zh-CN" sz="2000" dirty="0"/>
              <a:t>HF/FP16 vs </a:t>
            </a:r>
            <a:r>
              <a:rPr lang="en-US" altLang="zh-CN" sz="2000" dirty="0" err="1"/>
              <a:t>Ollama</a:t>
            </a:r>
            <a:r>
              <a:rPr lang="en-US" altLang="zh-CN" sz="2000" dirty="0"/>
              <a:t>/Q4 </a:t>
            </a:r>
            <a:r>
              <a:rPr lang="zh-CN" altLang="en-US" sz="2000" dirty="0"/>
              <a:t>两档精度），默认保精度形态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58321" y="281305"/>
            <a:ext cx="117929" cy="53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6000" b="1" i="0" u="none" strike="noStrike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敬请专家批评指正</a:t>
            </a:r>
            <a:endParaRPr lang="en-US" altLang="zh-CN" sz="6000" b="1" i="0" u="none" strike="noStrike" dirty="0" smtClea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6000" b="1" dirty="0" smtClea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谢谢！</a:t>
            </a:r>
            <a:endParaRPr lang="en-US" altLang="zh-CN" sz="6000" b="1" i="0" u="none" strike="noStrike" dirty="0" smtClea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572000" y="4445000"/>
            <a:ext cx="3048000" cy="762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cap="flat" cmpd="sng">
            <a:solidFill>
              <a:srgbClr val="4088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 dirty="0" err="1" smtClea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期待与您携手共创，探索更多可能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1378</Words>
  <Application>Microsoft Office PowerPoint</Application>
  <PresentationFormat>宽屏</PresentationFormat>
  <Paragraphs>192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Noto Sans SC</vt:lpstr>
      <vt:lpstr>黑体</vt:lpstr>
      <vt:lpstr>华文新魏</vt:lpstr>
      <vt:lpstr>楷体</vt:lpstr>
      <vt:lpstr>宋体</vt:lpstr>
      <vt:lpstr>微软雅黑</vt:lpstr>
      <vt:lpstr>Arial</vt:lpstr>
      <vt:lpstr>Leelawadee UI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carys</dc:creator>
  <cp:lastModifiedBy>carys</cp:lastModifiedBy>
  <cp:revision>56</cp:revision>
  <dcterms:created xsi:type="dcterms:W3CDTF">2026-09-02T09:21:05Z</dcterms:created>
  <dcterms:modified xsi:type="dcterms:W3CDTF">2026-09-02T11:42:24Z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{"Label":"1","ContentProducer":"001191110102MACQD9K64010000","ProduceID":"7677643177133624267","ReservedCode1":"","ContentPropagator":"","PropagateID":"","ReservedCode2":""}</vt:lpwstr>
  </property>
  <property fmtid="{D5CDD505-2E9C-101B-9397-08002B2CF9AE}" pid="3" name="KSOProductBuildVer">
    <vt:lpwstr>2052-11.1.0.10009</vt:lpwstr>
  </property>
</Properties>
</file>