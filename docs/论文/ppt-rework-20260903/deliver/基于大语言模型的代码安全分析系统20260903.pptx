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 id="2147483661" r:id="rId3"/>
  </p:sldMasterIdLst>
  <p:notesMasterIdLst>
    <p:notesMasterId r:id="rId3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100" y="1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0"/>
        <c:ser>
          <c:idx val="0"/>
          <c:order val="0"/>
          <c:tx>
            <c:v>历年披露量</c:v>
          </c:tx>
          <c:spPr>
            <a:solidFill>
              <a:srgbClr val="4A7FA5"/>
            </a:solidFill>
            <a:ln>
              <a:noFill/>
            </a:ln>
          </c:spPr>
          <c:invertIfNegative val="0"/>
          <c:dLbls>
            <c:spPr>
              <a:noFill/>
              <a:ln>
                <a:noFill/>
              </a:ln>
              <a:effectLst/>
            </c:spPr>
            <c:txPr>
              <a:bodyPr rot="0" spcFirstLastPara="0" anchorCtr="0"/>
              <a:lstStyle/>
              <a:p>
                <a:pPr>
                  <a:defRPr sz="800" b="0" i="0" strike="noStrike" kern="1200" spc="0" baseline="0">
                    <a:solidFill>
                      <a:srgbClr val="5B6770"/>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1"/>
              <c:pt idx="0">
                <c:v>2015</c:v>
              </c:pt>
              <c:pt idx="1">
                <c:v>2016</c:v>
              </c:pt>
              <c:pt idx="2">
                <c:v>2017</c:v>
              </c:pt>
              <c:pt idx="3">
                <c:v>2018</c:v>
              </c:pt>
              <c:pt idx="4">
                <c:v>2019</c:v>
              </c:pt>
              <c:pt idx="5">
                <c:v>2020</c:v>
              </c:pt>
              <c:pt idx="6">
                <c:v>2021</c:v>
              </c:pt>
              <c:pt idx="7">
                <c:v>2022</c:v>
              </c:pt>
              <c:pt idx="8">
                <c:v>2023</c:v>
              </c:pt>
              <c:pt idx="9">
                <c:v>2024</c:v>
              </c:pt>
              <c:pt idx="10">
                <c:v>2025</c:v>
              </c:pt>
            </c:strLit>
          </c:cat>
          <c:val>
            <c:numLit>
              <c:formatCode>General</c:formatCode>
              <c:ptCount val="11"/>
              <c:pt idx="0">
                <c:v>6500</c:v>
              </c:pt>
              <c:pt idx="1">
                <c:v>9700</c:v>
              </c:pt>
              <c:pt idx="2">
                <c:v>14700</c:v>
              </c:pt>
              <c:pt idx="3">
                <c:v>16500</c:v>
              </c:pt>
              <c:pt idx="4">
                <c:v>17300</c:v>
              </c:pt>
              <c:pt idx="5">
                <c:v>18300</c:v>
              </c:pt>
              <c:pt idx="6">
                <c:v>20100</c:v>
              </c:pt>
              <c:pt idx="7">
                <c:v>25400</c:v>
              </c:pt>
              <c:pt idx="8">
                <c:v>29000</c:v>
              </c:pt>
            </c:numLit>
          </c:val>
          <c:extLst>
            <c:ext xmlns:c16="http://schemas.microsoft.com/office/drawing/2014/chart" uri="{C3380CC4-5D6E-409C-BE32-E72D297353CC}">
              <c16:uniqueId val="{00000000-D72F-4CF7-9A82-426D113C654D}"/>
            </c:ext>
          </c:extLst>
        </c:ser>
        <c:ser>
          <c:idx val="1"/>
          <c:order val="1"/>
          <c:tx>
            <c:v>近两年（高压区间）</c:v>
          </c:tx>
          <c:spPr>
            <a:solidFill>
              <a:srgbClr val="C0504D"/>
            </a:solidFill>
            <a:ln>
              <a:noFill/>
            </a:ln>
          </c:spPr>
          <c:invertIfNegative val="0"/>
          <c:dLbls>
            <c:spPr>
              <a:noFill/>
              <a:ln>
                <a:noFill/>
              </a:ln>
              <a:effectLst/>
            </c:spPr>
            <c:txPr>
              <a:bodyPr rot="0" spcFirstLastPara="0" anchorCtr="0"/>
              <a:lstStyle/>
              <a:p>
                <a:pPr>
                  <a:defRPr sz="800" b="0" i="0" strike="noStrike" kern="1200" spc="0" baseline="0">
                    <a:solidFill>
                      <a:srgbClr val="5B6770"/>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1"/>
              <c:pt idx="0">
                <c:v>2015</c:v>
              </c:pt>
              <c:pt idx="1">
                <c:v>2016</c:v>
              </c:pt>
              <c:pt idx="2">
                <c:v>2017</c:v>
              </c:pt>
              <c:pt idx="3">
                <c:v>2018</c:v>
              </c:pt>
              <c:pt idx="4">
                <c:v>2019</c:v>
              </c:pt>
              <c:pt idx="5">
                <c:v>2020</c:v>
              </c:pt>
              <c:pt idx="6">
                <c:v>2021</c:v>
              </c:pt>
              <c:pt idx="7">
                <c:v>2022</c:v>
              </c:pt>
              <c:pt idx="8">
                <c:v>2023</c:v>
              </c:pt>
              <c:pt idx="9">
                <c:v>2024</c:v>
              </c:pt>
              <c:pt idx="10">
                <c:v>2025</c:v>
              </c:pt>
            </c:strLit>
          </c:cat>
          <c:val>
            <c:numLit>
              <c:formatCode>General</c:formatCode>
              <c:ptCount val="11"/>
              <c:pt idx="9">
                <c:v>40000</c:v>
              </c:pt>
              <c:pt idx="10">
                <c:v>48185</c:v>
              </c:pt>
            </c:numLit>
          </c:val>
          <c:extLst>
            <c:ext xmlns:c16="http://schemas.microsoft.com/office/drawing/2014/chart" uri="{C3380CC4-5D6E-409C-BE32-E72D297353CC}">
              <c16:uniqueId val="{00000001-D72F-4CF7-9A82-426D113C654D}"/>
            </c:ext>
          </c:extLst>
        </c:ser>
        <c:dLbls>
          <c:showLegendKey val="0"/>
          <c:showVal val="0"/>
          <c:showCatName val="0"/>
          <c:showSerName val="0"/>
          <c:showPercent val="0"/>
          <c:showBubbleSize val="0"/>
        </c:dLbls>
        <c:gapWidth val="150"/>
        <c:overlap val="-27"/>
        <c:axId val="754001152"/>
        <c:axId val="753999904"/>
      </c:barChart>
      <c:catAx>
        <c:axId val="754001152"/>
        <c:scaling>
          <c:orientation val="minMax"/>
        </c:scaling>
        <c:delete val="0"/>
        <c:axPos val="b"/>
        <c:numFmt formatCode="General" sourceLinked="0"/>
        <c:majorTickMark val="none"/>
        <c:minorTickMark val="none"/>
        <c:tickLblPos val="nextTo"/>
        <c:spPr>
          <a:ln>
            <a:noFill/>
          </a:ln>
        </c:spPr>
        <c:txPr>
          <a:bodyPr rot="0" spcFirstLastPara="1" vertOverflow="ellipsis" vert="horz" wrap="square" anchor="ctr" anchorCtr="1"/>
          <a:lstStyle/>
          <a:p>
            <a:pPr>
              <a:defRPr sz="900" b="0" i="0" strike="noStrike" kern="1200" spc="0" baseline="0">
                <a:solidFill>
                  <a:schemeClr val="tx1">
                    <a:lumMod val="65000"/>
                    <a:lumOff val="35000"/>
                  </a:schemeClr>
                </a:solidFill>
                <a:latin typeface="+mn-lt"/>
                <a:ea typeface="+mn-ea"/>
                <a:cs typeface="+mn-cs"/>
              </a:defRPr>
            </a:pPr>
            <a:endParaRPr lang="zh-CN"/>
          </a:p>
        </c:txPr>
        <c:crossAx val="753999904"/>
        <c:crosses val="min"/>
        <c:auto val="1"/>
        <c:lblAlgn val="ctr"/>
        <c:lblOffset val="100"/>
        <c:noMultiLvlLbl val="0"/>
      </c:catAx>
      <c:valAx>
        <c:axId val="753999904"/>
        <c:scaling>
          <c:orientation val="minMax"/>
        </c:scaling>
        <c:delete val="0"/>
        <c:axPos val="l"/>
        <c:majorGridlines>
          <c:spPr>
            <a:ln w="9525">
              <a:solidFill>
                <a:srgbClr val="E2E6EA"/>
              </a:solidFill>
            </a:ln>
          </c:spPr>
        </c:majorGridlines>
        <c:numFmt formatCode="#,##0" sourceLinked="0"/>
        <c:majorTickMark val="none"/>
        <c:minorTickMark val="none"/>
        <c:tickLblPos val="nextTo"/>
        <c:spPr>
          <a:ln>
            <a:noFill/>
          </a:ln>
        </c:spPr>
        <c:txPr>
          <a:bodyPr rot="0" spcFirstLastPara="1" vertOverflow="ellipsis" vert="horz" wrap="square" anchor="ctr" anchorCtr="1"/>
          <a:lstStyle/>
          <a:p>
            <a:pPr>
              <a:defRPr sz="900" b="0" i="0" strike="noStrike" kern="1200" spc="0" baseline="0">
                <a:solidFill>
                  <a:schemeClr val="tx1">
                    <a:lumMod val="65000"/>
                    <a:lumOff val="35000"/>
                  </a:schemeClr>
                </a:solidFill>
                <a:latin typeface="+mn-lt"/>
                <a:ea typeface="+mn-ea"/>
                <a:cs typeface="+mn-cs"/>
              </a:defRPr>
            </a:pPr>
            <a:endParaRPr lang="zh-CN"/>
          </a:p>
        </c:txPr>
        <c:crossAx val="754001152"/>
        <c:crosses val="min"/>
        <c:crossBetween val="between"/>
      </c:valAx>
      <c:spPr>
        <a:noFill/>
        <a:ln>
          <a:noFill/>
        </a:ln>
      </c:spPr>
    </c:plotArea>
    <c:legend>
      <c:legendPos val="b"/>
      <c:overlay val="0"/>
      <c:txPr>
        <a:bodyPr rot="0" spcFirstLastPara="0" anchorCtr="0"/>
        <a:lstStyle/>
        <a:p>
          <a:pPr>
            <a:defRPr sz="1000" b="0" i="0" strike="noStrike" kern="1200" spc="0" baseline="0"/>
          </a:pPr>
          <a:endParaRPr lang="zh-CN"/>
        </a:p>
      </c:txPr>
    </c:legend>
    <c:plotVisOnly val="1"/>
    <c:dispBlanksAs val="gap"/>
    <c:showDLblsOverMax val="0"/>
  </c:chart>
  <c:spPr>
    <a:noFill/>
    <a:ln w="9525" cap="flat" cmpd="sng" algn="ctr">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1"/>
        <c:ser>
          <c:idx val="0"/>
          <c:order val="0"/>
          <c:tx>
            <c:strRef>
              <c:f>Sheet1!$B$1</c:f>
              <c:strCache>
                <c:ptCount val="1"/>
                <c:pt idx="0">
                  <c:v>召回率</c:v>
                </c:pt>
              </c:strCache>
            </c:strRef>
          </c:tx>
          <c:spPr>
            <a:solidFill>
              <a:srgbClr val="4A7FA5"/>
            </a:solidFill>
            <a:ln>
              <a:noFill/>
            </a:ln>
          </c:spPr>
          <c:invertIfNegative val="1"/>
          <c:dLbls>
            <c:numFmt formatCode="0.0%" sourceLinked="0"/>
            <c:spPr>
              <a:noFill/>
              <a:ln>
                <a:noFill/>
              </a:ln>
              <a:effectLst/>
            </c:spPr>
            <c:txPr>
              <a:bodyPr/>
              <a:lstStyle/>
              <a:p>
                <a:pPr>
                  <a:defRPr sz="750">
                    <a:solidFill>
                      <a:srgbClr val="5B6770"/>
                    </a:solidFill>
                    <a:latin typeface="思源黑体"/>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Semgrep</c:v>
                </c:pt>
                <c:pt idx="1">
                  <c:v>纯LLM零样本</c:v>
                </c:pt>
                <c:pt idx="2">
                  <c:v>纯LLM SFT</c:v>
                </c:pt>
                <c:pt idx="3">
                  <c:v>两阶段融合</c:v>
                </c:pt>
              </c:strCache>
            </c:strRef>
          </c:cat>
          <c:val>
            <c:numRef>
              <c:f>Sheet1!$B$2:$B$5</c:f>
              <c:numCache>
                <c:formatCode>General</c:formatCode>
                <c:ptCount val="4"/>
                <c:pt idx="0">
                  <c:v>0.57399999999999995</c:v>
                </c:pt>
                <c:pt idx="1">
                  <c:v>0.96699999999999997</c:v>
                </c:pt>
                <c:pt idx="2">
                  <c:v>0.96699999999999997</c:v>
                </c:pt>
                <c:pt idx="3">
                  <c:v>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43F2-46F3-9BC4-73548FE1A82C}"/>
            </c:ext>
          </c:extLst>
        </c:ser>
        <c:ser>
          <c:idx val="1"/>
          <c:order val="1"/>
          <c:tx>
            <c:strRef>
              <c:f>Sheet1!$C$1</c:f>
              <c:strCache>
                <c:ptCount val="1"/>
                <c:pt idx="0">
                  <c:v>误报率</c:v>
                </c:pt>
              </c:strCache>
            </c:strRef>
          </c:tx>
          <c:spPr>
            <a:solidFill>
              <a:srgbClr val="C0504D"/>
            </a:solidFill>
            <a:ln>
              <a:noFill/>
            </a:ln>
          </c:spPr>
          <c:invertIfNegative val="1"/>
          <c:dLbls>
            <c:numFmt formatCode="0.0%" sourceLinked="0"/>
            <c:spPr>
              <a:noFill/>
              <a:ln>
                <a:noFill/>
              </a:ln>
              <a:effectLst/>
            </c:spPr>
            <c:txPr>
              <a:bodyPr/>
              <a:lstStyle/>
              <a:p>
                <a:pPr>
                  <a:defRPr sz="750">
                    <a:solidFill>
                      <a:srgbClr val="5B6770"/>
                    </a:solidFill>
                    <a:latin typeface="思源黑体"/>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Semgrep</c:v>
                </c:pt>
                <c:pt idx="1">
                  <c:v>纯LLM零样本</c:v>
                </c:pt>
                <c:pt idx="2">
                  <c:v>纯LLM SFT</c:v>
                </c:pt>
                <c:pt idx="3">
                  <c:v>两阶段融合</c:v>
                </c:pt>
              </c:strCache>
            </c:strRef>
          </c:cat>
          <c:val>
            <c:numRef>
              <c:f>Sheet1!$C$2:$C$5</c:f>
              <c:numCache>
                <c:formatCode>General</c:formatCode>
                <c:ptCount val="4"/>
                <c:pt idx="0">
                  <c:v>0.42299999999999999</c:v>
                </c:pt>
                <c:pt idx="1">
                  <c:v>0.26900000000000002</c:v>
                </c:pt>
                <c:pt idx="2">
                  <c:v>0.154</c:v>
                </c:pt>
                <c:pt idx="3">
                  <c:v>4.2999999999999997E-2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43F2-46F3-9BC4-73548FE1A82C}"/>
            </c:ext>
          </c:extLst>
        </c:ser>
        <c:ser>
          <c:idx val="2"/>
          <c:order val="2"/>
          <c:tx>
            <c:strRef>
              <c:f>Sheet1!$D$1</c:f>
              <c:strCache>
                <c:ptCount val="1"/>
                <c:pt idx="0">
                  <c:v>准确率</c:v>
                </c:pt>
              </c:strCache>
            </c:strRef>
          </c:tx>
          <c:spPr>
            <a:solidFill>
              <a:srgbClr val="6FA39B"/>
            </a:solidFill>
            <a:ln>
              <a:noFill/>
            </a:ln>
          </c:spPr>
          <c:invertIfNegative val="1"/>
          <c:dLbls>
            <c:numFmt formatCode="0.0%" sourceLinked="0"/>
            <c:spPr>
              <a:noFill/>
              <a:ln>
                <a:noFill/>
              </a:ln>
              <a:effectLst/>
            </c:spPr>
            <c:txPr>
              <a:bodyPr/>
              <a:lstStyle/>
              <a:p>
                <a:pPr>
                  <a:defRPr sz="750">
                    <a:solidFill>
                      <a:srgbClr val="5B6770"/>
                    </a:solidFill>
                    <a:latin typeface="思源黑体"/>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Semgrep</c:v>
                </c:pt>
                <c:pt idx="1">
                  <c:v>纯LLM零样本</c:v>
                </c:pt>
                <c:pt idx="2">
                  <c:v>纯LLM SFT</c:v>
                </c:pt>
                <c:pt idx="3">
                  <c:v>两阶段融合</c:v>
                </c:pt>
              </c:strCache>
            </c:strRef>
          </c:cat>
          <c:val>
            <c:numRef>
              <c:f>Sheet1!$D$2:$D$5</c:f>
              <c:numCache>
                <c:formatCode>General</c:formatCode>
                <c:ptCount val="4"/>
                <c:pt idx="0">
                  <c:v>0.57499999999999996</c:v>
                </c:pt>
                <c:pt idx="1">
                  <c:v>0.89700000000000002</c:v>
                </c:pt>
                <c:pt idx="2">
                  <c:v>0.93100000000000005</c:v>
                </c:pt>
                <c:pt idx="3">
                  <c:v>0.98699999999999999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43F2-46F3-9BC4-73548FE1A82C}"/>
            </c:ext>
          </c:extLst>
        </c:ser>
        <c:dLbls>
          <c:dLblPos val="outEnd"/>
          <c:showLegendKey val="0"/>
          <c:showVal val="1"/>
          <c:showCatName val="0"/>
          <c:showSerName val="0"/>
          <c:showPercent val="0"/>
          <c:showBubbleSize val="0"/>
        </c:dLbls>
        <c:gapWidth val="9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949EA6"/>
            </a:solidFill>
          </a:ln>
        </c:spPr>
        <c:txPr>
          <a:bodyPr/>
          <a:lstStyle/>
          <a:p>
            <a:pPr>
              <a:defRPr sz="800">
                <a:solidFill>
                  <a:srgbClr val="2B2F36"/>
                </a:solidFill>
              </a:defRPr>
            </a:pPr>
            <a:endParaRPr lang="zh-CN"/>
          </a:p>
        </c:txPr>
        <c:crossAx val="-2113994440"/>
        <c:crosses val="autoZero"/>
        <c:auto val="1"/>
        <c:lblAlgn val="ctr"/>
        <c:lblOffset val="100"/>
        <c:noMultiLvlLbl val="0"/>
      </c:catAx>
      <c:valAx>
        <c:axId val="-2113994440"/>
        <c:scaling>
          <c:orientation val="minMax"/>
          <c:max val="1.1200000000000001"/>
          <c:min val="0"/>
        </c:scaling>
        <c:delete val="0"/>
        <c:axPos val="l"/>
        <c:majorGridlines>
          <c:spPr>
            <a:ln w="9525">
              <a:solidFill>
                <a:srgbClr val="E2E6EA"/>
              </a:solidFill>
            </a:ln>
          </c:spPr>
        </c:majorGridlines>
        <c:numFmt formatCode="0%" sourceLinked="0"/>
        <c:majorTickMark val="out"/>
        <c:minorTickMark val="none"/>
        <c:tickLblPos val="nextTo"/>
        <c:spPr>
          <a:ln>
            <a:noFill/>
          </a:ln>
        </c:spPr>
        <c:txPr>
          <a:bodyPr/>
          <a:lstStyle/>
          <a:p>
            <a:pPr>
              <a:defRPr sz="800">
                <a:solidFill>
                  <a:srgbClr val="949EA6"/>
                </a:solidFill>
              </a:defRPr>
            </a:pPr>
            <a:endParaRPr lang="zh-CN"/>
          </a:p>
        </c:txPr>
        <c:crossAx val="-2068027336"/>
        <c:crosses val="autoZero"/>
        <c:crossBetween val="between"/>
        <c:majorUnit val="0.25"/>
      </c:valAx>
    </c:plotArea>
    <c:legend>
      <c:legendPos val="b"/>
      <c:overlay val="0"/>
      <c:txPr>
        <a:bodyPr/>
        <a:lstStyle/>
        <a:p>
          <a:pPr>
            <a:defRPr sz="900">
              <a:solidFill>
                <a:srgbClr val="5B6770"/>
              </a:solidFill>
            </a:defRPr>
          </a:pPr>
          <a:endParaRPr lang="zh-CN"/>
        </a:p>
      </c:txPr>
    </c:legend>
    <c:plotVisOnly val="1"/>
    <c:dispBlanksAs val="gap"/>
    <c:showDLblsOverMax val="1"/>
  </c:chart>
  <c:txPr>
    <a:bodyPr/>
    <a:lstStyle/>
    <a:p>
      <a:pPr>
        <a:defRPr sz="750">
          <a:latin typeface="思源黑体"/>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1"/>
        <c:ser>
          <c:idx val="0"/>
          <c:order val="0"/>
          <c:tx>
            <c:strRef>
              <c:f>Sheet1!$B$1</c:f>
              <c:strCache>
                <c:ptCount val="1"/>
                <c:pt idx="0">
                  <c:v>CVE-20 召回</c:v>
                </c:pt>
              </c:strCache>
            </c:strRef>
          </c:tx>
          <c:invertIfNegative val="1"/>
          <c:dPt>
            <c:idx val="0"/>
            <c:invertIfNegative val="1"/>
            <c:bubble3D val="0"/>
            <c:spPr>
              <a:solidFill>
                <a:srgbClr val="B8C2CA"/>
              </a:solidFill>
              <a:ln>
                <a:noFill/>
              </a:ln>
            </c:spPr>
            <c:extLst>
              <c:ext xmlns:c16="http://schemas.microsoft.com/office/drawing/2014/chart" uri="{C3380CC4-5D6E-409C-BE32-E72D297353CC}">
                <c16:uniqueId val="{00000001-160C-419A-B5CF-1C25D3285A2D}"/>
              </c:ext>
            </c:extLst>
          </c:dPt>
          <c:dPt>
            <c:idx val="1"/>
            <c:invertIfNegative val="1"/>
            <c:bubble3D val="0"/>
            <c:spPr>
              <a:solidFill>
                <a:srgbClr val="B8C2CA"/>
              </a:solidFill>
              <a:ln>
                <a:noFill/>
              </a:ln>
            </c:spPr>
            <c:extLst>
              <c:ext xmlns:c16="http://schemas.microsoft.com/office/drawing/2014/chart" uri="{C3380CC4-5D6E-409C-BE32-E72D297353CC}">
                <c16:uniqueId val="{00000003-160C-419A-B5CF-1C25D3285A2D}"/>
              </c:ext>
            </c:extLst>
          </c:dPt>
          <c:dPt>
            <c:idx val="2"/>
            <c:invertIfNegative val="1"/>
            <c:bubble3D val="0"/>
            <c:spPr>
              <a:solidFill>
                <a:srgbClr val="4A7FA5"/>
              </a:solidFill>
              <a:ln>
                <a:noFill/>
              </a:ln>
            </c:spPr>
            <c:extLst>
              <c:ext xmlns:c16="http://schemas.microsoft.com/office/drawing/2014/chart" uri="{C3380CC4-5D6E-409C-BE32-E72D297353CC}">
                <c16:uniqueId val="{00000005-160C-419A-B5CF-1C25D3285A2D}"/>
              </c:ext>
            </c:extLst>
          </c:dPt>
          <c:dPt>
            <c:idx val="3"/>
            <c:invertIfNegative val="1"/>
            <c:bubble3D val="0"/>
            <c:spPr>
              <a:solidFill>
                <a:srgbClr val="D9962E"/>
              </a:solidFill>
              <a:ln>
                <a:noFill/>
              </a:ln>
            </c:spPr>
            <c:extLst>
              <c:ext xmlns:c16="http://schemas.microsoft.com/office/drawing/2014/chart" uri="{C3380CC4-5D6E-409C-BE32-E72D297353CC}">
                <c16:uniqueId val="{00000007-160C-419A-B5CF-1C25D3285A2D}"/>
              </c:ext>
            </c:extLst>
          </c:dPt>
          <c:dLbls>
            <c:numFmt formatCode="0.0%" sourceLinked="0"/>
            <c:spPr>
              <a:noFill/>
              <a:ln>
                <a:noFill/>
              </a:ln>
              <a:effectLst/>
            </c:spPr>
            <c:txPr>
              <a:bodyPr/>
              <a:lstStyle/>
              <a:p>
                <a:pPr>
                  <a:defRPr sz="800">
                    <a:solidFill>
                      <a:srgbClr val="5B6770"/>
                    </a:solidFill>
                    <a:latin typeface="思源黑体"/>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Semgrep</c:v>
                </c:pt>
                <c:pt idx="1">
                  <c:v>纯LLM零样本</c:v>
                </c:pt>
                <c:pt idx="2">
                  <c:v>纯LLM SFT</c:v>
                </c:pt>
                <c:pt idx="3">
                  <c:v>两阶段融合</c:v>
                </c:pt>
              </c:strCache>
            </c:strRef>
          </c:cat>
          <c:val>
            <c:numRef>
              <c:f>Sheet1!$B$2:$B$5</c:f>
              <c:numCache>
                <c:formatCode>General</c:formatCode>
                <c:ptCount val="4"/>
                <c:pt idx="0">
                  <c:v>0.7</c:v>
                </c:pt>
                <c:pt idx="1">
                  <c:v>0.375</c:v>
                </c:pt>
                <c:pt idx="2">
                  <c:v>0.85</c:v>
                </c:pt>
                <c:pt idx="3">
                  <c:v>0.94099999999999995</c:v>
                </c:pt>
              </c:numCache>
            </c:numRef>
          </c:val>
          <c:extLst>
            <c:ext xmlns:c16="http://schemas.microsoft.com/office/drawing/2014/chart" uri="{C3380CC4-5D6E-409C-BE32-E72D297353CC}">
              <c16:uniqueId val="{00000008-160C-419A-B5CF-1C25D3285A2D}"/>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949EA6"/>
            </a:solidFill>
          </a:ln>
        </c:spPr>
        <c:txPr>
          <a:bodyPr/>
          <a:lstStyle/>
          <a:p>
            <a:pPr>
              <a:defRPr sz="700">
                <a:solidFill>
                  <a:srgbClr val="2B2F36"/>
                </a:solidFill>
              </a:defRPr>
            </a:pPr>
            <a:endParaRPr lang="zh-CN"/>
          </a:p>
        </c:txPr>
        <c:crossAx val="-2113994440"/>
        <c:crosses val="autoZero"/>
        <c:auto val="1"/>
        <c:lblAlgn val="ctr"/>
        <c:lblOffset val="100"/>
        <c:noMultiLvlLbl val="0"/>
      </c:catAx>
      <c:valAx>
        <c:axId val="-2113994440"/>
        <c:scaling>
          <c:orientation val="minMax"/>
          <c:max val="1.1200000000000001"/>
          <c:min val="0"/>
        </c:scaling>
        <c:delete val="0"/>
        <c:axPos val="l"/>
        <c:majorGridlines>
          <c:spPr>
            <a:ln w="9525">
              <a:solidFill>
                <a:srgbClr val="E2E6EA"/>
              </a:solidFill>
            </a:ln>
          </c:spPr>
        </c:majorGridlines>
        <c:numFmt formatCode="0%" sourceLinked="0"/>
        <c:majorTickMark val="out"/>
        <c:minorTickMark val="none"/>
        <c:tickLblPos val="nextTo"/>
        <c:spPr>
          <a:ln>
            <a:noFill/>
          </a:ln>
        </c:spPr>
        <c:txPr>
          <a:bodyPr/>
          <a:lstStyle/>
          <a:p>
            <a:pPr>
              <a:defRPr sz="800">
                <a:solidFill>
                  <a:srgbClr val="949EA6"/>
                </a:solidFill>
              </a:defRPr>
            </a:pPr>
            <a:endParaRPr lang="zh-CN"/>
          </a:p>
        </c:txPr>
        <c:crossAx val="-2068027336"/>
        <c:crosses val="autoZero"/>
        <c:crossBetween val="between"/>
        <c:majorUnit val="0.25"/>
      </c:valAx>
    </c:plotArea>
    <c:plotVisOnly val="1"/>
    <c:dispBlanksAs val="gap"/>
    <c:showDLblsOverMax val="1"/>
  </c:chart>
  <c:txPr>
    <a:bodyPr/>
    <a:lstStyle/>
    <a:p>
      <a:pPr>
        <a:defRPr sz="800">
          <a:latin typeface="思源黑体"/>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lineChart>
        <c:grouping val="standard"/>
        <c:varyColors val="0"/>
        <c:ser>
          <c:idx val="0"/>
          <c:order val="0"/>
          <c:tx>
            <c:v>HumanEval Pass@1</c:v>
          </c:tx>
          <c:spPr>
            <a:ln w="19050">
              <a:solidFill>
                <a:srgbClr val="6FA39B"/>
              </a:solidFill>
            </a:ln>
          </c:spPr>
          <c:marker>
            <c:symbol val="none"/>
          </c:marker>
          <c:dLbls>
            <c:spPr>
              <a:noFill/>
              <a:ln>
                <a:noFill/>
              </a:ln>
              <a:effectLst/>
            </c:spPr>
            <c:txPr>
              <a:bodyPr rot="0" spcFirstLastPara="0" anchorCtr="0"/>
              <a:lstStyle/>
              <a:p>
                <a:pPr>
                  <a:defRPr sz="800" b="0" i="0" strike="noStrike" kern="1200" spc="0" baseline="0">
                    <a:solidFill>
                      <a:srgbClr val="5B6770"/>
                    </a:solidFill>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21 Codex</c:v>
              </c:pt>
              <c:pt idx="1">
                <c:v>22 GPT-3.5</c:v>
              </c:pt>
              <c:pt idx="2">
                <c:v>23 GPT-4</c:v>
              </c:pt>
              <c:pt idx="3">
                <c:v>24 GPT-4o</c:v>
              </c:pt>
              <c:pt idx="4">
                <c:v>24 Qwen2.5-Coder</c:v>
              </c:pt>
            </c:strLit>
          </c:cat>
          <c:val>
            <c:numLit>
              <c:formatCode>0.0%</c:formatCode>
              <c:ptCount val="5"/>
              <c:pt idx="0">
                <c:v>0.28799999999999998</c:v>
              </c:pt>
              <c:pt idx="1">
                <c:v>0.48099999999999998</c:v>
              </c:pt>
              <c:pt idx="2">
                <c:v>0.67</c:v>
              </c:pt>
              <c:pt idx="3">
                <c:v>0.90200000000000002</c:v>
              </c:pt>
              <c:pt idx="4">
                <c:v>0.92700000000000005</c:v>
              </c:pt>
            </c:numLit>
          </c:val>
          <c:smooth val="0"/>
          <c:extLst>
            <c:ext xmlns:c16="http://schemas.microsoft.com/office/drawing/2014/chart" uri="{C3380CC4-5D6E-409C-BE32-E72D297353CC}">
              <c16:uniqueId val="{00000000-3AB0-458A-A544-EEFFEF0F2F8C}"/>
            </c:ext>
          </c:extLst>
        </c:ser>
        <c:dLbls>
          <c:showLegendKey val="0"/>
          <c:showVal val="0"/>
          <c:showCatName val="0"/>
          <c:showSerName val="0"/>
          <c:showPercent val="0"/>
          <c:showBubbleSize val="0"/>
        </c:dLbls>
        <c:smooth val="0"/>
        <c:axId val="754001152"/>
        <c:axId val="753999904"/>
      </c:lineChart>
      <c:catAx>
        <c:axId val="754001152"/>
        <c:scaling>
          <c:orientation val="minMax"/>
        </c:scaling>
        <c:delete val="0"/>
        <c:axPos val="b"/>
        <c:numFmt formatCode="General" sourceLinked="0"/>
        <c:majorTickMark val="none"/>
        <c:minorTickMark val="none"/>
        <c:tickLblPos val="nextTo"/>
        <c:spPr>
          <a:ln>
            <a:noFill/>
          </a:ln>
        </c:spPr>
        <c:txPr>
          <a:bodyPr rot="0" spcFirstLastPara="1" vertOverflow="ellipsis" vert="horz" wrap="square" anchor="ctr" anchorCtr="1"/>
          <a:lstStyle/>
          <a:p>
            <a:pPr>
              <a:defRPr sz="700" b="0" i="0" strike="noStrike" kern="1200" spc="0" baseline="0">
                <a:solidFill>
                  <a:schemeClr val="tx1">
                    <a:lumMod val="65000"/>
                    <a:lumOff val="35000"/>
                  </a:schemeClr>
                </a:solidFill>
                <a:latin typeface="+mn-lt"/>
                <a:ea typeface="+mn-ea"/>
                <a:cs typeface="+mn-cs"/>
              </a:defRPr>
            </a:pPr>
            <a:endParaRPr lang="zh-CN"/>
          </a:p>
        </c:txPr>
        <c:crossAx val="753999904"/>
        <c:crosses val="min"/>
        <c:auto val="1"/>
        <c:lblAlgn val="ctr"/>
        <c:lblOffset val="100"/>
        <c:tickLblSkip val="1"/>
        <c:noMultiLvlLbl val="0"/>
      </c:catAx>
      <c:valAx>
        <c:axId val="753999904"/>
        <c:scaling>
          <c:orientation val="minMax"/>
        </c:scaling>
        <c:delete val="0"/>
        <c:axPos val="l"/>
        <c:majorGridlines>
          <c:spPr>
            <a:ln w="9525">
              <a:solidFill>
                <a:srgbClr val="E2E6EA"/>
              </a:solidFill>
            </a:ln>
          </c:spPr>
        </c:majorGridlines>
        <c:numFmt formatCode="0%" sourceLinked="0"/>
        <c:majorTickMark val="none"/>
        <c:minorTickMark val="none"/>
        <c:tickLblPos val="nextTo"/>
        <c:spPr>
          <a:ln>
            <a:noFill/>
          </a:ln>
        </c:spPr>
        <c:txPr>
          <a:bodyPr rot="0" spcFirstLastPara="1" vertOverflow="ellipsis" vert="horz" wrap="square" anchor="ctr" anchorCtr="1"/>
          <a:lstStyle/>
          <a:p>
            <a:pPr>
              <a:defRPr sz="800" b="0" i="0" strike="noStrike" kern="1200" spc="0" baseline="0">
                <a:solidFill>
                  <a:schemeClr val="tx1">
                    <a:lumMod val="65000"/>
                    <a:lumOff val="35000"/>
                  </a:schemeClr>
                </a:solidFill>
                <a:latin typeface="+mn-lt"/>
                <a:ea typeface="+mn-ea"/>
                <a:cs typeface="+mn-cs"/>
              </a:defRPr>
            </a:pPr>
            <a:endParaRPr lang="zh-CN"/>
          </a:p>
        </c:txPr>
        <c:crossAx val="754001152"/>
        <c:crosses val="min"/>
        <c:crossBetween val="between"/>
      </c:valAx>
      <c:spPr>
        <a:noFill/>
        <a:ln>
          <a:noFill/>
        </a:ln>
      </c:spPr>
    </c:plotArea>
    <c:plotVisOnly val="1"/>
    <c:dispBlanksAs val="gap"/>
    <c:showDLblsOverMax val="0"/>
  </c:chart>
  <c:spPr>
    <a:noFill/>
    <a:ln w="9525" cap="flat" cmpd="sng" algn="ctr">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03.09.2026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各位老师好，我们是白明耀、易卓玥，毕业设计题目是《基于大语言模型的代码安全分析系统》，项目代号 Nivis，指导教师是陈纪友老师。这套系统没有走“让大模型直接找漏洞”的常见路线，而是设计了工具召回、大模型裁决的两阶段架构，并在两个多月里做了六轮数据与评估审计。下面从研究背景、研究目标、我们的价值、项目的价值、系统演示和未来规划六个部分汇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汇报分为六个部分。前两章交代问题与目标；第三章是我们最想讲的部分——不是展示最终数字，而是展示团队在数据、工程、训练、实验四个层面沉淀的可迁移能力；第四章给出架构、工程与双口径结果证据；第五章是真实系统界面与演示视频；第六章是 α0.6、α1 的后续路线。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首先是研究背景。我们从三个事实出发：全球漏洞披露量十年涨了七倍多；传统规则工具和纯大模型在我们自己的测试面上都暴露出结构性短板；而代码大模型近五年的能力跃迁，让“让模型做裁决”成为可能。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先看问题规模。NVD 的年新增 CVE 从 2015 年的 6500 条增长到 2025 年的 48185 条，十年 7.4 倍，平均每天新增超过 130 条。更关键的是结构变化：越来越多漏洞是业务逻辑和组合缺陷，靠正则匹配的传统工具越来越难覆盖，人工审计的产能也不可能线性扩张。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这张图全部来自我们自建测试面的同题对打，口径是 2026 年 9 月冻结的最新版本。在 14 段典型样本上，Bandit 召回 83.3% 但误报率高达 50%，Semgrep 零误报但召回只有 75%，纯大模型看似满分。但把测试面放大到 87 段合成集，纯 LLM 误报率 15.4%；换到 20 段真实 CVE-fix，召回只有 0.375，合成集虚高 59.2 个百分点。任何单一路线都不达标，分工架构是被数据逼出来的选择。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这页把视野放到整个行业，用两个权威基准回答“为什么是现在”。HumanEval 考函数级编码，从 2021 年 Codex 的 28.8% 升到 2024 年 90% 以上，已经饱和；SWE-bench Verified 考真实 GitHub 仓库修复，左图按时间画出 GPT、Claude、Gemini、Grok 与 DeepSeek、Kimi、GLM、Qwen、MiniMax、豆包十家的代表点：海外蓝、国产金，2026 年 2 月统一测试框架的一批 11 个模型挤在 70 到 77 分，国产四家全部在列。模型能力是可替换的底座，这让我们敢于把模型放在裁决者位置，也让系统不绑定任何单一厂商，未来模型继续进步，系统直接受益。星号点是 Grok 和豆包的厂商自报框架，不与统一批次直接比较。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章研究目标。先交代立项判断：漏洞检测走过规则、深度学习两代，大模型时代给了语义理解的新底座，我们最初的目标是做一个本地可跑的安全专用模型。三条硬目标始终没变：检测精准、流程自动化、本地可部署。下面这页展示路线如何被一个个真实问题逼成今天的样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立项时我们判断：规则工具不懂语义，深度学习方案跨项目泛化差，而大模型第一次同时具备语义理解和风险推理能力，所以起点是做一个 16G 显存可跑的安全专用 8B 模型。但路线不是规划出来的。问题一，让模型开放式找漏洞，误报 0.154、不可复现，应对是改成工具召回加封闭裁决的两阶段；问题二，SFT 只学会输出格式、继续预训练知识注入两次失败，应对是按任务分层，知识走 RAG、判别靠证据；问题三，云端又贵又有隐私风险，应对是双教师蒸馏到 8B 本地；问题四，模型记忆会被误报污染、无候选文件会漏检，应对是 2.5 代信任层，并把它做成全栈产品。元方法是：先定位问题属于哪一层，再动手。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章讲我们的价值，主角不是指标，而是人：团队在这个项目里沉淀了四层可迁移能力。接下来五页：先给四层能力总览，再逐层展开——数据层让每条数据经得起追问，工程层把不确定性关进机制，训练层分得清什么能训什么不能硬训，实验层设计能证伪自己的测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页是第三章总览。我们把自己在项目里沉淀的能力归成四层。数据层：给标签找官方权威、先摸失败模式再补数据、用不同家族的模型互相审查；工程层：把模型的注意力当预算做两级调度，分清提示和机制的边界，确定性问题不花 LLM 的钱；训练层：先分析任务需要基座的什么能力，分得清什么能训练、什么硬训反而有害；实验层：主动设计能证伪自己的实验，双口径测量、归因分流，把每次失败固化成下一轮的检查项。贯穿四层的元能力是寻找方法论本身——这比任何单一模型都更可迁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第一层是数据能力。第一，标签找最高权威：68 个真实 CVE 全部对齐 MITRE、NVD、GHSA 的官方描述，修了 11 处映射。第二，先归纳出 12 种失败模式再定向补数据，不堆量。第三，用 AI 审 AI，但生产模型和审计模型必须不同家族防止合谋，配套六步协议和 26 类错误分级。第四，15 个审计版本设质量闸门。右边是这些方法解决过的真实问题：合成集虚高 59.2 个点促成双测试集，万条蒸馏语料清洗收敛，泄漏审计制度化。铁律是先问数据对不对。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第二层是工程能力。我们把模型的注意力当成预算来管理：先文件级预筛、再函数级精审，单次送审从 5575 字符压到 285，模型调用从 216 次降到 65 次，省了大约 70%。更重要的是边界感：提示词只能约束格式，判不了真伪，所以真伪由三次采样投票、四重门控、证据接地这些机制保证。每个自写机制都配守卫用例，确定性问题绝不调模型。右边是三个落地案例：切片解决 token 爆炸，门控解决输出不稳定，兼容矩阵解决跨平台碎片化。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第三层是训练能力。动手前先做任务-能力匹配：格式遵循可以 SFT，知识用 RAG 注入而不是继续预训练，判别靠证据约束，偏好用 DPO、GRPO。我们两次尝试 CPT 知识注入，训练指标好看、评估直接爆炸，判断是负迁移后果断放弃。数据为泛化而造，同一弱点做多变体；每轮只动一个变量。右边是真实曲线：零样本 0.375，SFT 后 0.850，证明格式和判别可训；但严格归因不涨，我们没有继续堆训练，而是判断这是架构问题交给两阶段解决。α0.6 的 10167 条语料已经冻结，等待开训。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层是实验能力。第一，双口径：宽松和严格两个严格度，micro、macro、风险加权分三套分数，未决率必须和准确率成对出现，防止单一指标报喜。第二，测量和训练物理隔离，干净评估默认关闭信号反馈，共形校准必须用独立数据集。第三，归因分流，工具没召回和模型误否决分开记账。第四，一切可复现，score_batch 一键复算。右边三个案例：fixed3 到 fixed5 证明问题出在测量本身；五维审计把模糊的提示不好拆成可修项；26 类错误清单让每次失败都变成制度。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第四章进入项目本体。我会按总体架构、两个阶段、信任层、数据工程、核心结果、自研工具链和全栈工程的顺序展开，每一页的数字都来自我们自己的实验与代码仓库，可以现场复现。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这是系统总体架构。Stage 1 四路并行召回，自研工具和开源工具一起上，每个候选都带证据链和行号；Stage 2 不开放找洞，只对候选做封闭裁决，RAG 注入 CWE 知识、代码切片、三次采样多数投票；2.5 代信任层负责分级回填和复核兜底。一个直接收益：模型调用次数从 216 次降到 65 次，大约省了 70%。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Stage 1 有四条并行召回线路。两个是我们自研的：TaintTracker 做 AST 级污点追踪，给出 source 到 sink 的数据流证据；Prefilter 用正则毫秒级抓硬编码密钥这类确定性问题。另外两条集成开源能力：Semgrep 补跨函数规则，ExternalScanner 把 Bandit、Gitleaks、Trivy 封在一起，覆盖 SAST、密钥、供应链和 IaC。四路结果合并去重、CWE 归一后，带着统一证据格式进入第二阶段。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Stage 2 的关键是封闭：输入只有 Stage 1 的候选，先 RAG 注入 CWE 判据，再用 CodeSlicer 切最小上下文，然后三次独立采样多数投票，输出只有确认漏洞、确认安全、存疑三选一。右边是兜底设计：工具没候选的文件绝不直接放行，默认抽样 10%，生产和评估环境用全量复核。开放生成有幻觉、不可复现、成本高，封闭裁决三个问题一起解决。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信任层是架构的 2.5 代升级。裁决结果先分 A 到 E 五级；只有 A、B 类且通过四重门控才允许回填记忆库；已知误报进抑制池，无候选分支还有抽样和全量复核兜底。实测效果：在 87 段合成集上，纯 LLM 误报率 0.154，信任层压到 0.0435，降幅 72%，而且这一切都有门控记录、可以回滚。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数据从哪来？起点是逐段手写的 914 条样本；用 DeepSeek V4-Flash 和 GLM-5.2 双教师蒸馏扩到 10700 条，长思维链压缩成短链供 8B 小模型学；三次清洗和泄漏排查后保留 7692 条，α0.5 冻结时 7972 条并已完成训练；α0.6 的 10167 条语料经过 15 个审计版本冻结，但训练尚未启动，属于下一步规划。全过程 15 个数据版本、12 个模型版本、6 轮泄漏审计，云端总成本约 100 元，每一步扩张都先过审计关。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这是全篇最核心的结果表，口径在 2026 年 9 月冻结，脚本可复现。四列分别是纯 LLM 对照、两阶段干净评估、完整信任层和 20 段真实 CVE-fix。看三行：误报率从 0.154 压到 0.0435，召回反而升到 1.000，说明不是靠漏报换误报；严格归因 strict 从 0.898 升到 0.923，实例级 micro 召回从 0.675 升到 0.778；真实 CVE-fix 上 strict 达到 1.000。需要说明 fixed5 列刻意关闭信号反馈做压力测试，部分指标暂时偏低，这是为了排除自我证明，打开信任层后全面反超。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八个自研组件串成一条完整流水线。前三个负责召回：TaintTracker 污点追踪、Prefilter 正则预筛、ExternalScanner 封装外部工具；CodeSlicer 切片后交给 LLM Judge 封闭裁决；之后 CWE Normalizer 归一编号、LineNormalizer 对齐行号、FixVerifier 验证修复。最终统一输出 SARIF 标准报告，IDE 和 CI 可以直接消费。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工程上，这套系统不是 demo。左边是 git 实测的手写代码量：核心引擎 18915 行 Python，加上 Web、两个 IDE 插件和命令行，合计手写 39298 行、52 个核心文件。右边是后端兼容矩阵：Ollama、Transformers、llama.cpp、vLLM 四套后端，覆盖 CUDA、AMD、苹果芯片和纯 CPU。67 天、246 次提交，从算法到产品全部自主完成。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第五章系统演示。我会展示仪表盘、扫描工作台、CWE 样本库和仓库级安全态势四个真实界面。请大家注意，界面上每一个数字和裁决都来自实时运行的后端，不是预先准备的截图脚本。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先看两个核心界面。仪表盘汇总后端健康状态、文件与待修数量、风险分和安全评分；扫描工作台是主流程：粘贴或上传代码，点开始分析，结果逐条展开，每条都有 CWE 编号、行号、证据链、三次采样的裁决和修复建议。注意每条结论都显示置信度和投票一致性，抑制、回填、转人工都可以一键操作，模型决策对用户完全透明。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再看两个全局界面。CWE 样本库收录 19 类弱点卡片，每类都有风险等级、正反样例和修复模式，它同时是裁决阶段 RAG 的知识来源。右边是仓库级安全态势：整体安全评分、漏洞类型与等级分布、高危文件清单，以及按 P1 到 P4 排好的修复优先级，让开发者知道先修什么。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这一页预留给系统演示视频，之后我会把录制好的演示视频插入到这个位置。视频计划按这条动线走：粘贴待检代码，四路工具并行召回，模型三次采样封闭裁决，给出带证据链的修复建议，最后导出 SARIF 并在 IDE 中联动。建议时长两到三分钟。下面先看四个真实产品界面。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最后是未来规划。先明确状态：α0.6 和 α1 都还没有开始训练，方案、脚本和语料已经就绪。路线分四步：α0.6 开训验证闭环、α1 偏好对齐、评估飞轮固化、两档发布。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路线分四步。第一步 α0.6：10167 条语料已经过 15 个审计版本冻结、覆盖缺口清零，开训后首次完整验证蒸馏、训练、双口径评估闭环。第二步 α1：DPO 起步、GRPO 进阶，奖励函数三道闸。第三步评估飞轮：20 段真实 CVE-fix 独立集已建好，回流必须人工批准。第四步按 FP16 和 Q4 两档发布。特别声明：α0.6 和 α1 都未开训，这里不预支任何结果。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汇报到此结束。最后用四个数字收束：合成集召回 100%、误报率 4.3%、20 段真实 CVE 严格归因 1.000、39298 行手写代码；67 天 246 次提交。这套系统证明了一件事：工具召回加大模型裁决的路线，在严谨的方法论约束下，可以同时做到准、全、可复现、可落地。恳请各位老师批评指正，谢谢。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1143000" y="841772"/>
            <a:ext cx="6858000" cy="1790700"/>
          </a:xfrm>
          <a:prstGeom prst="rect">
            <a:avLst/>
          </a:prstGeom>
          <a:noFill/>
          <a:ln w="12700">
            <a:noFill/>
            <a:prstDash val="solid"/>
          </a:ln>
        </p:spPr>
        <p:txBody>
          <a:bodyPr wrap="square" lIns="68575" tIns="34275" rIns="68575" bIns="34275" anchor="b">
            <a:normAutofit/>
          </a:bodyPr>
          <a:lstStyle>
            <a:lvl1pPr algn="ctr">
              <a:lnSpc>
                <a:spcPct val="91666"/>
              </a:lnSpc>
              <a:defRPr sz="4500" b="1" i="0" u="none" strike="noStrike" spc="0">
                <a:solidFill>
                  <a:srgbClr val="1F2329">
                    <a:alpha val="100000"/>
                  </a:srgbClr>
                </a:solidFill>
                <a:latin typeface="Noto Sans SC"/>
              </a:defRPr>
            </a:lvl1pPr>
          </a:lstStyle>
          <a:p>
            <a:pPr marL="0" indent="0" algn="ctr">
              <a:lnSpc>
                <a:spcPct val="91666"/>
              </a:lnSpc>
            </a:pPr>
            <a:r>
              <a:rPr lang="en-US" sz="45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7" hasCustomPrompt="1"/>
          </p:nvPr>
        </p:nvSpPr>
        <p:spPr>
          <a:xfrm>
            <a:off x="1143000" y="2701528"/>
            <a:ext cx="6858000" cy="1241821"/>
          </a:xfrm>
          <a:prstGeom prst="rect">
            <a:avLst/>
          </a:prstGeom>
          <a:noFill/>
          <a:ln w="12700">
            <a:noFill/>
            <a:prstDash val="solid"/>
          </a:ln>
        </p:spPr>
        <p:txBody>
          <a:bodyPr wrap="square" lIns="68575" tIns="34275" rIns="68575" bIns="34275" anchor="t">
            <a:normAutofit/>
          </a:bodyPr>
          <a:lstStyle>
            <a:lvl1pPr algn="ctr">
              <a:lnSpc>
                <a:spcPct val="91666"/>
              </a:lnSpc>
              <a:defRPr sz="1800" b="1" i="0" u="none" strike="noStrike" spc="0">
                <a:solidFill>
                  <a:srgbClr val="1F2329">
                    <a:alpha val="100000"/>
                  </a:srgbClr>
                </a:solidFill>
                <a:latin typeface="Noto Sans SC"/>
              </a:defRPr>
            </a:lvl1pPr>
          </a:lstStyle>
          <a:p>
            <a:pPr marL="457200" indent="-361950" algn="ctr">
              <a:lnSpc>
                <a:spcPct val="91666"/>
              </a:lnSpc>
              <a:spcBef>
                <a:spcPts val="800"/>
              </a:spcBef>
            </a:pPr>
            <a:r>
              <a:rPr lang="en-US" sz="1800" b="0" i="0" u="none" strike="noStrike">
                <a:solidFill>
                  <a:srgbClr val="000000"/>
                </a:solidFill>
                <a:latin typeface="Arial"/>
                <a:ea typeface="Arial"/>
                <a:cs typeface="Arial"/>
                <a:sym typeface="Arial"/>
              </a:rPr>
              <a:t>Click to add subtitle</a:t>
            </a:r>
          </a:p>
        </p:txBody>
      </p:sp>
      <p:sp>
        <p:nvSpPr>
          <p:cNvPr id="4" name="AutoShape 4"/>
          <p:cNvSpPr>
            <a:spLocks noGrp="1"/>
          </p:cNvSpPr>
          <p:nvPr>
            <p:ph type="body" sz="quarter" idx="8"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9"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10"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C8902A17-7209-4A15-BA1A-4FEA8AE57726}"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OBJECT">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12" hasCustomPrompt="1"/>
          </p:nvPr>
        </p:nvSpPr>
        <p:spPr>
          <a:xfrm>
            <a:off x="628650" y="1369219"/>
            <a:ext cx="7886700" cy="3263504"/>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13"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14"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15"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A4B41343-6EF6-4407-B17D-F78F058925C3}"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SECTION_HEADER">
    <p:spTree>
      <p:nvGrpSpPr>
        <p:cNvPr id="1" name=""/>
        <p:cNvGrpSpPr/>
        <p:nvPr/>
      </p:nvGrpSpPr>
      <p:grpSpPr>
        <a:xfrm>
          <a:off x="0" y="0"/>
          <a:ext cx="0" cy="0"/>
          <a:chOff x="0" y="0"/>
          <a:chExt cx="0" cy="0"/>
        </a:xfrm>
      </p:grpSpPr>
      <p:sp>
        <p:nvSpPr>
          <p:cNvPr id="2" name="AutoShape 2"/>
          <p:cNvSpPr>
            <a:spLocks noGrp="1"/>
          </p:cNvSpPr>
          <p:nvPr>
            <p:ph type="body" sz="quarter" idx="16" hasCustomPrompt="1"/>
          </p:nvPr>
        </p:nvSpPr>
        <p:spPr>
          <a:xfrm>
            <a:off x="623888" y="1282304"/>
            <a:ext cx="7886700" cy="2139553"/>
          </a:xfrm>
          <a:prstGeom prst="rect">
            <a:avLst/>
          </a:prstGeom>
          <a:noFill/>
          <a:ln w="12700">
            <a:noFill/>
            <a:prstDash val="solid"/>
          </a:ln>
        </p:spPr>
        <p:txBody>
          <a:bodyPr wrap="square" lIns="68575" tIns="34275" rIns="68575" bIns="34275" anchor="b">
            <a:normAutofit/>
          </a:bodyPr>
          <a:lstStyle>
            <a:lvl1pPr algn="l">
              <a:lnSpc>
                <a:spcPct val="91666"/>
              </a:lnSpc>
              <a:defRPr sz="4500" b="1" i="0" u="none" strike="noStrike" spc="0">
                <a:solidFill>
                  <a:srgbClr val="1F2329">
                    <a:alpha val="100000"/>
                  </a:srgbClr>
                </a:solidFill>
                <a:latin typeface="Noto Sans SC"/>
              </a:defRPr>
            </a:lvl1pPr>
          </a:lstStyle>
          <a:p>
            <a:pPr marL="0" indent="0" algn="l">
              <a:lnSpc>
                <a:spcPct val="91666"/>
              </a:lnSpc>
            </a:pPr>
            <a:r>
              <a:rPr lang="en-US" sz="45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17" hasCustomPrompt="1"/>
          </p:nvPr>
        </p:nvSpPr>
        <p:spPr>
          <a:xfrm>
            <a:off x="623888" y="3442097"/>
            <a:ext cx="7886700" cy="1125140"/>
          </a:xfrm>
          <a:prstGeom prst="rect">
            <a:avLst/>
          </a:prstGeom>
          <a:noFill/>
          <a:ln w="12700">
            <a:noFill/>
            <a:prstDash val="solid"/>
          </a:ln>
        </p:spPr>
        <p:txBody>
          <a:bodyPr wrap="square" lIns="68575" tIns="34275" rIns="68575" bIns="34275" anchor="t">
            <a:normAutofit/>
          </a:bodyPr>
          <a:lstStyle>
            <a:lvl1pPr algn="l">
              <a:lnSpc>
                <a:spcPct val="91666"/>
              </a:lnSpc>
              <a:defRPr sz="18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800" b="0" i="0" u="none" strike="noStrike">
                <a:solidFill>
                  <a:srgbClr val="888888"/>
                </a:solidFill>
                <a:latin typeface="Arial"/>
                <a:ea typeface="Arial"/>
                <a:cs typeface="Arial"/>
                <a:sym typeface="Arial"/>
              </a:rPr>
              <a:t>Click to add text</a:t>
            </a:r>
          </a:p>
        </p:txBody>
      </p:sp>
      <p:sp>
        <p:nvSpPr>
          <p:cNvPr id="4" name="AutoShape 4"/>
          <p:cNvSpPr>
            <a:spLocks noGrp="1"/>
          </p:cNvSpPr>
          <p:nvPr>
            <p:ph type="body" sz="quarter" idx="18"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19"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20"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29C7DE80-5047-41A4-9A14-74EE7AE27ECD}"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WO_OBJECTS">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22" hasCustomPrompt="1"/>
          </p:nvPr>
        </p:nvSpPr>
        <p:spPr>
          <a:xfrm>
            <a:off x="628650" y="1369219"/>
            <a:ext cx="3886200" cy="3263504"/>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23" hasCustomPrompt="1"/>
          </p:nvPr>
        </p:nvSpPr>
        <p:spPr>
          <a:xfrm>
            <a:off x="4629150" y="1369219"/>
            <a:ext cx="3886200" cy="3263504"/>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24"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6" name="AutoShape 6"/>
          <p:cNvSpPr>
            <a:spLocks noGrp="1"/>
          </p:cNvSpPr>
          <p:nvPr>
            <p:ph type="body" sz="quarter" idx="25"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7" name="AutoShape 7"/>
          <p:cNvSpPr>
            <a:spLocks noGrp="1"/>
          </p:cNvSpPr>
          <p:nvPr>
            <p:ph type="body" sz="quarter" idx="26"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E9F3BD2C-9E0B-410D-98F9-3B856FB1F8C5}"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WO_OBJECTS_WITH_TEXT">
    <p:spTree>
      <p:nvGrpSpPr>
        <p:cNvPr id="1" name=""/>
        <p:cNvGrpSpPr/>
        <p:nvPr/>
      </p:nvGrpSpPr>
      <p:grpSpPr>
        <a:xfrm>
          <a:off x="0" y="0"/>
          <a:ext cx="0" cy="0"/>
          <a:chOff x="0" y="0"/>
          <a:chExt cx="0" cy="0"/>
        </a:xfrm>
      </p:grpSpPr>
      <p:sp>
        <p:nvSpPr>
          <p:cNvPr id="2" name="AutoShape 2"/>
          <p:cNvSpPr>
            <a:spLocks noGrp="1"/>
          </p:cNvSpPr>
          <p:nvPr>
            <p:ph type="body" sz="quarter" idx="27" hasCustomPrompt="1"/>
          </p:nvPr>
        </p:nvSpPr>
        <p:spPr>
          <a:xfrm>
            <a:off x="629841"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28" hasCustomPrompt="1"/>
          </p:nvPr>
        </p:nvSpPr>
        <p:spPr>
          <a:xfrm>
            <a:off x="629841" y="1260872"/>
            <a:ext cx="3868340" cy="617934"/>
          </a:xfrm>
          <a:prstGeom prst="rect">
            <a:avLst/>
          </a:prstGeom>
          <a:noFill/>
          <a:ln w="12700">
            <a:noFill/>
            <a:prstDash val="solid"/>
          </a:ln>
        </p:spPr>
        <p:txBody>
          <a:bodyPr wrap="square" lIns="68575" tIns="34275" rIns="68575" bIns="34275" anchor="b">
            <a:normAutofit/>
          </a:bodyPr>
          <a:lstStyle>
            <a:lvl1pPr algn="l">
              <a:lnSpc>
                <a:spcPct val="91666"/>
              </a:lnSpc>
              <a:defRPr sz="18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800" b="1"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29" hasCustomPrompt="1"/>
          </p:nvPr>
        </p:nvSpPr>
        <p:spPr>
          <a:xfrm>
            <a:off x="629841" y="1878806"/>
            <a:ext cx="3868340" cy="2763441"/>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30" hasCustomPrompt="1"/>
          </p:nvPr>
        </p:nvSpPr>
        <p:spPr>
          <a:xfrm>
            <a:off x="4629150" y="1260872"/>
            <a:ext cx="3887391" cy="617934"/>
          </a:xfrm>
          <a:prstGeom prst="rect">
            <a:avLst/>
          </a:prstGeom>
          <a:noFill/>
          <a:ln w="12700">
            <a:noFill/>
            <a:prstDash val="solid"/>
          </a:ln>
        </p:spPr>
        <p:txBody>
          <a:bodyPr wrap="square" lIns="68575" tIns="34275" rIns="68575" bIns="34275" anchor="b">
            <a:normAutofit/>
          </a:bodyPr>
          <a:lstStyle>
            <a:lvl1pPr algn="l">
              <a:lnSpc>
                <a:spcPct val="91666"/>
              </a:lnSpc>
              <a:defRPr sz="18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800" b="1" i="0" u="none" strike="noStrike">
                <a:solidFill>
                  <a:srgbClr val="000000"/>
                </a:solidFill>
                <a:latin typeface="Arial"/>
                <a:ea typeface="Arial"/>
                <a:cs typeface="Arial"/>
                <a:sym typeface="Arial"/>
              </a:rPr>
              <a:t>Click to add text</a:t>
            </a:r>
          </a:p>
        </p:txBody>
      </p:sp>
      <p:sp>
        <p:nvSpPr>
          <p:cNvPr id="6" name="AutoShape 6"/>
          <p:cNvSpPr>
            <a:spLocks noGrp="1"/>
          </p:cNvSpPr>
          <p:nvPr>
            <p:ph type="body" sz="quarter" idx="31" hasCustomPrompt="1"/>
          </p:nvPr>
        </p:nvSpPr>
        <p:spPr>
          <a:xfrm>
            <a:off x="4629150" y="1878806"/>
            <a:ext cx="3887391" cy="2763441"/>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7" name="AutoShape 7"/>
          <p:cNvSpPr>
            <a:spLocks noGrp="1"/>
          </p:cNvSpPr>
          <p:nvPr>
            <p:ph type="body" sz="quarter" idx="32"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8" name="AutoShape 8"/>
          <p:cNvSpPr>
            <a:spLocks noGrp="1"/>
          </p:cNvSpPr>
          <p:nvPr>
            <p:ph type="body" sz="quarter" idx="33"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9" name="AutoShape 9"/>
          <p:cNvSpPr>
            <a:spLocks noGrp="1"/>
          </p:cNvSpPr>
          <p:nvPr>
            <p:ph type="body" sz="quarter" idx="34"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1682CADE-9BC9-4DC8-B654-E62AEBBC0CE6}"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_ONLY">
    <p:spTree>
      <p:nvGrpSpPr>
        <p:cNvPr id="1" name=""/>
        <p:cNvGrpSpPr/>
        <p:nvPr/>
      </p:nvGrpSpPr>
      <p:grpSpPr>
        <a:xfrm>
          <a:off x="0" y="0"/>
          <a:ext cx="0" cy="0"/>
          <a:chOff x="0" y="0"/>
          <a:chExt cx="0" cy="0"/>
        </a:xfrm>
      </p:grpSpPr>
      <p:sp>
        <p:nvSpPr>
          <p:cNvPr id="2" name="AutoShape 2"/>
          <p:cNvSpPr>
            <a:spLocks noGrp="1"/>
          </p:cNvSpPr>
          <p:nvPr>
            <p:ph type="body" sz="quarter" idx="35"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36"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4" name="AutoShape 4"/>
          <p:cNvSpPr>
            <a:spLocks noGrp="1"/>
          </p:cNvSpPr>
          <p:nvPr>
            <p:ph type="body" sz="quarter" idx="37"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5" name="AutoShape 5"/>
          <p:cNvSpPr>
            <a:spLocks noGrp="1"/>
          </p:cNvSpPr>
          <p:nvPr>
            <p:ph type="body" sz="quarter" idx="38"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6C7C034A-D3E9-4784-95A9-5F99BC4E4EA6}"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BLANK">
    <p:spTree>
      <p:nvGrpSpPr>
        <p:cNvPr id="1" name=""/>
        <p:cNvGrpSpPr/>
        <p:nvPr/>
      </p:nvGrpSpPr>
      <p:grpSpPr>
        <a:xfrm>
          <a:off x="0" y="0"/>
          <a:ext cx="0" cy="0"/>
          <a:chOff x="0" y="0"/>
          <a:chExt cx="0" cy="0"/>
        </a:xfrm>
      </p:grpSpPr>
      <p:sp>
        <p:nvSpPr>
          <p:cNvPr id="2" name="AutoShape 2"/>
          <p:cNvSpPr>
            <a:spLocks noGrp="1"/>
          </p:cNvSpPr>
          <p:nvPr>
            <p:ph type="body" sz="quarter" idx="39"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3" name="AutoShape 3"/>
          <p:cNvSpPr>
            <a:spLocks noGrp="1"/>
          </p:cNvSpPr>
          <p:nvPr>
            <p:ph type="body" sz="quarter" idx="40"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4" name="AutoShape 4"/>
          <p:cNvSpPr>
            <a:spLocks noGrp="1"/>
          </p:cNvSpPr>
          <p:nvPr>
            <p:ph type="body" sz="quarter" idx="41"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5446AE82-1908-453E-A386-F6EBDF07448D}"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OBJECT_WITH_CAPTION_TEXT">
    <p:spTree>
      <p:nvGrpSpPr>
        <p:cNvPr id="1" name=""/>
        <p:cNvGrpSpPr/>
        <p:nvPr/>
      </p:nvGrpSpPr>
      <p:grpSpPr>
        <a:xfrm>
          <a:off x="0" y="0"/>
          <a:ext cx="0" cy="0"/>
          <a:chOff x="0" y="0"/>
          <a:chExt cx="0" cy="0"/>
        </a:xfrm>
      </p:grpSpPr>
      <p:sp>
        <p:nvSpPr>
          <p:cNvPr id="2" name="AutoShape 2"/>
          <p:cNvSpPr>
            <a:spLocks noGrp="1"/>
          </p:cNvSpPr>
          <p:nvPr>
            <p:ph type="body" sz="quarter" idx="42" hasCustomPrompt="1"/>
          </p:nvPr>
        </p:nvSpPr>
        <p:spPr>
          <a:xfrm>
            <a:off x="629841" y="342900"/>
            <a:ext cx="2949178" cy="1200150"/>
          </a:xfrm>
          <a:prstGeom prst="rect">
            <a:avLst/>
          </a:prstGeom>
          <a:noFill/>
          <a:ln w="12700">
            <a:noFill/>
            <a:prstDash val="solid"/>
          </a:ln>
        </p:spPr>
        <p:txBody>
          <a:bodyPr wrap="square" lIns="68575" tIns="34275" rIns="68575" bIns="34275" anchor="b">
            <a:normAutofit/>
          </a:bodyPr>
          <a:lstStyle>
            <a:lvl1pPr algn="l">
              <a:lnSpc>
                <a:spcPct val="91666"/>
              </a:lnSpc>
              <a:defRPr sz="2400" b="1" i="0" u="none" strike="noStrike" spc="0">
                <a:solidFill>
                  <a:srgbClr val="1F2329">
                    <a:alpha val="100000"/>
                  </a:srgbClr>
                </a:solidFill>
                <a:latin typeface="Noto Sans SC"/>
              </a:defRPr>
            </a:lvl1pPr>
          </a:lstStyle>
          <a:p>
            <a:pPr marL="0" indent="0" algn="l">
              <a:lnSpc>
                <a:spcPct val="91666"/>
              </a:lnSpc>
            </a:pPr>
            <a:r>
              <a:rPr lang="en-US" sz="24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43" hasCustomPrompt="1"/>
          </p:nvPr>
        </p:nvSpPr>
        <p:spPr>
          <a:xfrm>
            <a:off x="3887391" y="740569"/>
            <a:ext cx="4629150" cy="3655219"/>
          </a:xfrm>
          <a:prstGeom prst="rect">
            <a:avLst/>
          </a:prstGeom>
          <a:noFill/>
          <a:ln w="12700">
            <a:noFill/>
            <a:prstDash val="solid"/>
          </a:ln>
        </p:spPr>
        <p:txBody>
          <a:bodyPr wrap="square" lIns="68575" tIns="34275" rIns="68575" bIns="34275" anchor="t">
            <a:normAutofit/>
          </a:bodyPr>
          <a:lstStyle>
            <a:lvl1pPr algn="l">
              <a:lnSpc>
                <a:spcPct val="91666"/>
              </a:lnSpc>
              <a:defRPr sz="2400" b="0" i="0" u="none" strike="noStrike" spc="0">
                <a:solidFill>
                  <a:srgbClr val="1F2329">
                    <a:alpha val="100000"/>
                  </a:srgbClr>
                </a:solidFill>
                <a:latin typeface="Noto Sans SC"/>
              </a:defRPr>
            </a:lvl1pPr>
          </a:lstStyle>
          <a:p>
            <a:pPr marL="457200" indent="-381000" algn="l">
              <a:lnSpc>
                <a:spcPct val="91666"/>
              </a:lnSpc>
              <a:spcBef>
                <a:spcPts val="800"/>
              </a:spcBef>
            </a:pPr>
            <a:r>
              <a:rPr lang="en-US" sz="24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44" hasCustomPrompt="1"/>
          </p:nvPr>
        </p:nvSpPr>
        <p:spPr>
          <a:xfrm>
            <a:off x="629841" y="1543050"/>
            <a:ext cx="2949178" cy="2858691"/>
          </a:xfrm>
          <a:prstGeom prst="rect">
            <a:avLst/>
          </a:prstGeom>
          <a:noFill/>
          <a:ln w="12700">
            <a:noFill/>
            <a:prstDash val="solid"/>
          </a:ln>
        </p:spPr>
        <p:txBody>
          <a:bodyPr wrap="square" lIns="68575" tIns="34275" rIns="68575" bIns="34275" anchor="t">
            <a:normAutofit/>
          </a:bodyPr>
          <a:lstStyle>
            <a:lvl1pPr algn="l">
              <a:lnSpc>
                <a:spcPct val="91666"/>
              </a:lnSpc>
              <a:defRPr sz="12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2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45"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6" name="AutoShape 6"/>
          <p:cNvSpPr>
            <a:spLocks noGrp="1"/>
          </p:cNvSpPr>
          <p:nvPr>
            <p:ph type="body" sz="quarter" idx="46"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7" name="AutoShape 7"/>
          <p:cNvSpPr>
            <a:spLocks noGrp="1"/>
          </p:cNvSpPr>
          <p:nvPr>
            <p:ph type="body" sz="quarter" idx="47"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CDAABF67-4DE7-4847-851B-3C621F5DAD61}"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PICTURE_WITH_CAPTION_TEXT">
    <p:spTree>
      <p:nvGrpSpPr>
        <p:cNvPr id="1" name=""/>
        <p:cNvGrpSpPr/>
        <p:nvPr/>
      </p:nvGrpSpPr>
      <p:grpSpPr>
        <a:xfrm>
          <a:off x="0" y="0"/>
          <a:ext cx="0" cy="0"/>
          <a:chOff x="0" y="0"/>
          <a:chExt cx="0" cy="0"/>
        </a:xfrm>
      </p:grpSpPr>
      <p:sp>
        <p:nvSpPr>
          <p:cNvPr id="2" name="AutoShape 2"/>
          <p:cNvSpPr>
            <a:spLocks noGrp="1"/>
          </p:cNvSpPr>
          <p:nvPr>
            <p:ph type="body" sz="quarter" idx="48" hasCustomPrompt="1"/>
          </p:nvPr>
        </p:nvSpPr>
        <p:spPr>
          <a:xfrm>
            <a:off x="629841" y="342900"/>
            <a:ext cx="2949178" cy="1200150"/>
          </a:xfrm>
          <a:prstGeom prst="rect">
            <a:avLst/>
          </a:prstGeom>
          <a:noFill/>
          <a:ln w="12700">
            <a:noFill/>
            <a:prstDash val="solid"/>
          </a:ln>
        </p:spPr>
        <p:txBody>
          <a:bodyPr wrap="square" lIns="68575" tIns="34275" rIns="68575" bIns="34275" anchor="b">
            <a:normAutofit/>
          </a:bodyPr>
          <a:lstStyle>
            <a:lvl1pPr algn="l">
              <a:lnSpc>
                <a:spcPct val="91666"/>
              </a:lnSpc>
              <a:defRPr sz="2400" b="1" i="0" u="none" strike="noStrike" spc="0">
                <a:solidFill>
                  <a:srgbClr val="1F2329">
                    <a:alpha val="100000"/>
                  </a:srgbClr>
                </a:solidFill>
                <a:latin typeface="Noto Sans SC"/>
              </a:defRPr>
            </a:lvl1pPr>
          </a:lstStyle>
          <a:p>
            <a:pPr marL="0" indent="0" algn="l">
              <a:lnSpc>
                <a:spcPct val="91666"/>
              </a:lnSpc>
            </a:pPr>
            <a:r>
              <a:rPr lang="en-US" sz="24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pic" sz="quarter" idx="49"/>
          </p:nvPr>
        </p:nvSpPr>
        <p:spPr>
          <a:xfrm>
            <a:off x="3887391" y="740569"/>
            <a:ext cx="4629150" cy="3655219"/>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a:defRPr>
            </a:lvl1pPr>
          </a:lstStyle>
          <a:p>
            <a:pPr algn="ctr"/>
            <a:endParaRPr/>
          </a:p>
        </p:txBody>
      </p:sp>
      <p:sp>
        <p:nvSpPr>
          <p:cNvPr id="4" name="AutoShape 4"/>
          <p:cNvSpPr>
            <a:spLocks noGrp="1"/>
          </p:cNvSpPr>
          <p:nvPr>
            <p:ph type="body" sz="quarter" idx="50" hasCustomPrompt="1"/>
          </p:nvPr>
        </p:nvSpPr>
        <p:spPr>
          <a:xfrm>
            <a:off x="629841" y="1543050"/>
            <a:ext cx="2949178" cy="2858691"/>
          </a:xfrm>
          <a:prstGeom prst="rect">
            <a:avLst/>
          </a:prstGeom>
          <a:noFill/>
          <a:ln w="12700">
            <a:noFill/>
            <a:prstDash val="solid"/>
          </a:ln>
        </p:spPr>
        <p:txBody>
          <a:bodyPr wrap="square" lIns="68575" tIns="34275" rIns="68575" bIns="34275" anchor="t">
            <a:normAutofit/>
          </a:bodyPr>
          <a:lstStyle>
            <a:lvl1pPr algn="l">
              <a:lnSpc>
                <a:spcPct val="91666"/>
              </a:lnSpc>
              <a:defRPr sz="12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2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51"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6" name="AutoShape 6"/>
          <p:cNvSpPr>
            <a:spLocks noGrp="1"/>
          </p:cNvSpPr>
          <p:nvPr>
            <p:ph type="body" sz="quarter" idx="52"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7" name="AutoShape 7"/>
          <p:cNvSpPr>
            <a:spLocks noGrp="1"/>
          </p:cNvSpPr>
          <p:nvPr>
            <p:ph type="body" sz="quarter" idx="53"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D7E92871-0D9F-4D8D-B3D1-85A894FC1C83}"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VERTICAL_TEXT">
    <p:spTree>
      <p:nvGrpSpPr>
        <p:cNvPr id="1" name=""/>
        <p:cNvGrpSpPr/>
        <p:nvPr/>
      </p:nvGrpSpPr>
      <p:grpSpPr>
        <a:xfrm>
          <a:off x="0" y="0"/>
          <a:ext cx="0" cy="0"/>
          <a:chOff x="0" y="0"/>
          <a:chExt cx="0" cy="0"/>
        </a:xfrm>
      </p:grpSpPr>
      <p:sp>
        <p:nvSpPr>
          <p:cNvPr id="2" name="AutoShape 2"/>
          <p:cNvSpPr>
            <a:spLocks noGrp="1"/>
          </p:cNvSpPr>
          <p:nvPr>
            <p:ph type="body" sz="quarter" idx="54"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55" hasCustomPrompt="1"/>
          </p:nvPr>
        </p:nvSpPr>
        <p:spPr>
          <a:xfrm rot="5400000">
            <a:off x="2940248" y="-942379"/>
            <a:ext cx="3263504" cy="7886700"/>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56"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57"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58"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5A82EA58-E161-41AA-9F0C-B851FAF01D28}"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VERTICAL_TITLE_AND_VERTICAL_TEXT">
    <p:spTree>
      <p:nvGrpSpPr>
        <p:cNvPr id="1" name=""/>
        <p:cNvGrpSpPr/>
        <p:nvPr/>
      </p:nvGrpSpPr>
      <p:grpSpPr>
        <a:xfrm>
          <a:off x="0" y="0"/>
          <a:ext cx="0" cy="0"/>
          <a:chOff x="0" y="0"/>
          <a:chExt cx="0" cy="0"/>
        </a:xfrm>
      </p:grpSpPr>
      <p:sp>
        <p:nvSpPr>
          <p:cNvPr id="2" name="AutoShape 2"/>
          <p:cNvSpPr>
            <a:spLocks noGrp="1"/>
          </p:cNvSpPr>
          <p:nvPr>
            <p:ph type="body" sz="quarter" idx="59" hasCustomPrompt="1"/>
          </p:nvPr>
        </p:nvSpPr>
        <p:spPr>
          <a:xfrm rot="5400000">
            <a:off x="5350073" y="1467445"/>
            <a:ext cx="4358879" cy="1971675"/>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60" hasCustomPrompt="1"/>
          </p:nvPr>
        </p:nvSpPr>
        <p:spPr>
          <a:xfrm rot="5400000">
            <a:off x="1349573" y="-447080"/>
            <a:ext cx="4358879" cy="5800725"/>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61"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62"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63"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7A5D16BD-82D5-4AB0-AC7D-423ECD431643}"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Office 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700" r:id="rId1"/>
    <p:sldLayoutId id="2157483701" r:id="rId2"/>
    <p:sldLayoutId id="2157483702" r:id="rId3"/>
    <p:sldLayoutId id="2157483703" r:id="rId4"/>
    <p:sldLayoutId id="2157483704" r:id="rId5"/>
    <p:sldLayoutId id="2157483705" r:id="rId6"/>
    <p:sldLayoutId id="2157483706" r:id="rId7"/>
    <p:sldLayoutId id="2157483707" r:id="rId8"/>
    <p:sldLayoutId id="2157483708" r:id="rId9"/>
    <p:sldLayoutId id="2157483709" r:id="rId10"/>
    <p:sldLayoutId id="215748371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5.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F2E38">
                <a:alpha val="100000"/>
              </a:srgbClr>
            </a:gs>
            <a:gs pos="100000">
              <a:srgbClr val="142029">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3"/>
          <a:srcRect/>
          <a:stretch>
            <a:fillRect/>
          </a:stretch>
        </p:blipFill>
        <p:spPr>
          <a:xfrm>
            <a:off x="685800" y="508000"/>
            <a:ext cx="558800" cy="558800"/>
          </a:xfrm>
          <a:prstGeom prst="rect">
            <a:avLst/>
          </a:prstGeom>
          <a:noFill/>
          <a:ln w="25400" cap="flat" cmpd="sng">
            <a:noFill/>
            <a:prstDash val="solid"/>
            <a:round/>
          </a:ln>
        </p:spPr>
      </p:pic>
      <p:sp>
        <p:nvSpPr>
          <p:cNvPr id="4" name="AutoShape 4"/>
          <p:cNvSpPr/>
          <p:nvPr/>
        </p:nvSpPr>
        <p:spPr>
          <a:xfrm>
            <a:off x="1371600" y="533400"/>
            <a:ext cx="2540000" cy="355600"/>
          </a:xfrm>
          <a:prstGeom prst="rect">
            <a:avLst/>
          </a:prstGeom>
          <a:noFill/>
          <a:ln w="12700" cap="flat" cmpd="sng">
            <a:noFill/>
            <a:prstDash val="solid"/>
            <a:round/>
          </a:ln>
        </p:spPr>
        <p:txBody>
          <a:bodyPr vert="horz" wrap="none" lIns="0" tIns="0" rIns="0" bIns="0" rtlCol="0" anchor="ctr" anchorCtr="0"/>
          <a:lstStyle/>
          <a:p>
            <a:pPr marL="0" indent="0" algn="l">
              <a:lnSpc>
                <a:spcPct val="112500"/>
              </a:lnSpc>
              <a:defRPr/>
            </a:pPr>
            <a:r>
              <a:rPr lang="en-US" sz="2400" b="1" i="0" u="none" strike="noStrike">
                <a:solidFill>
                  <a:srgbClr val="FFFFFF"/>
                </a:solidFill>
                <a:latin typeface="Roboto Mono"/>
                <a:ea typeface="Roboto Mono"/>
                <a:cs typeface="Roboto Mono"/>
                <a:sym typeface="Roboto Mono"/>
              </a:rPr>
              <a:t>Nivis</a:t>
            </a:r>
            <a:endParaRPr lang="en-US" sz="1100"/>
          </a:p>
        </p:txBody>
      </p:sp>
      <p:sp>
        <p:nvSpPr>
          <p:cNvPr id="5" name="AutoShape 5"/>
          <p:cNvSpPr/>
          <p:nvPr/>
        </p:nvSpPr>
        <p:spPr>
          <a:xfrm>
            <a:off x="1384300" y="965200"/>
            <a:ext cx="3810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8296A2"/>
                </a:solidFill>
                <a:latin typeface="Roboto Mono"/>
                <a:ea typeface="Roboto Mono"/>
                <a:cs typeface="Roboto Mono"/>
                <a:sym typeface="Roboto Mono"/>
              </a:rPr>
              <a:t>Code Security Analysis, Augmented by LLM</a:t>
            </a:r>
            <a:endParaRPr lang="en-US" sz="1100"/>
          </a:p>
        </p:txBody>
      </p:sp>
      <p:sp>
        <p:nvSpPr>
          <p:cNvPr id="6" name="AutoShape 6"/>
          <p:cNvSpPr/>
          <p:nvPr/>
        </p:nvSpPr>
        <p:spPr>
          <a:xfrm>
            <a:off x="8890000" y="1905000"/>
            <a:ext cx="3048000" cy="3048000"/>
          </a:xfrm>
          <a:prstGeom prst="ellipse">
            <a:avLst/>
          </a:prstGeom>
          <a:solidFill>
            <a:srgbClr val="4A7FA5">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3"/>
          <a:srcRect/>
          <a:stretch>
            <a:fillRect/>
          </a:stretch>
        </p:blipFill>
        <p:spPr>
          <a:xfrm>
            <a:off x="9194800" y="2209800"/>
            <a:ext cx="2438400" cy="2438400"/>
          </a:xfrm>
          <a:prstGeom prst="rect">
            <a:avLst/>
          </a:prstGeom>
          <a:noFill/>
          <a:ln w="25400" cap="flat" cmpd="sng">
            <a:noFill/>
            <a:prstDash val="solid"/>
            <a:round/>
          </a:ln>
        </p:spPr>
      </p:pic>
      <p:sp>
        <p:nvSpPr>
          <p:cNvPr id="8" name="AutoShape 8"/>
          <p:cNvSpPr/>
          <p:nvPr/>
        </p:nvSpPr>
        <p:spPr>
          <a:xfrm>
            <a:off x="685800" y="2489200"/>
            <a:ext cx="81280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endParaRPr lang="en-US" sz="1100" dirty="0"/>
          </a:p>
        </p:txBody>
      </p:sp>
      <p:sp>
        <p:nvSpPr>
          <p:cNvPr id="9" name="AutoShape 9"/>
          <p:cNvSpPr/>
          <p:nvPr/>
        </p:nvSpPr>
        <p:spPr>
          <a:xfrm>
            <a:off x="685800" y="2451101"/>
            <a:ext cx="8001000" cy="1270000"/>
          </a:xfrm>
          <a:prstGeom prst="rect">
            <a:avLst/>
          </a:prstGeom>
          <a:noFill/>
          <a:ln w="12700" cap="flat" cmpd="sng">
            <a:noFill/>
            <a:prstDash val="solid"/>
            <a:round/>
          </a:ln>
        </p:spPr>
        <p:txBody>
          <a:bodyPr vert="horz" wrap="none" lIns="0" tIns="0" rIns="0" bIns="0" rtlCol="0" anchor="t" anchorCtr="0"/>
          <a:lstStyle/>
          <a:p>
            <a:pPr marL="0" indent="0" algn="l">
              <a:lnSpc>
                <a:spcPct val="104166"/>
              </a:lnSpc>
              <a:defRPr/>
            </a:pPr>
            <a:r>
              <a:rPr lang="en-US" sz="3700" b="1" i="0" u="none" strike="noStrike" dirty="0" err="1">
                <a:solidFill>
                  <a:srgbClr val="FFFFFF"/>
                </a:solidFill>
                <a:latin typeface="Noto Sans SC"/>
                <a:ea typeface="Noto Sans SC"/>
                <a:cs typeface="Noto Sans SC"/>
                <a:sym typeface="Noto Sans SC"/>
              </a:rPr>
              <a:t>基于大语言模型的</a:t>
            </a:r>
            <a:endParaRPr lang="en-US" sz="1100" dirty="0"/>
          </a:p>
          <a:p>
            <a:pPr marL="0" indent="0" algn="l">
              <a:lnSpc>
                <a:spcPct val="104166"/>
              </a:lnSpc>
            </a:pPr>
            <a:r>
              <a:rPr lang="en-US" sz="3700" b="1" i="0" u="none" strike="noStrike" dirty="0">
                <a:solidFill>
                  <a:srgbClr val="FFFFFF"/>
                </a:solidFill>
                <a:latin typeface="Noto Sans SC"/>
                <a:ea typeface="Noto Sans SC"/>
                <a:cs typeface="Noto Sans SC"/>
                <a:sym typeface="Noto Sans SC"/>
              </a:rPr>
              <a:t>   </a:t>
            </a:r>
            <a:r>
              <a:rPr lang="en-US" sz="3700" b="1" i="0" u="none" strike="noStrike" dirty="0" err="1">
                <a:solidFill>
                  <a:srgbClr val="FFFFFF"/>
                </a:solidFill>
                <a:latin typeface="Noto Sans SC"/>
                <a:ea typeface="Noto Sans SC"/>
                <a:cs typeface="Noto Sans SC"/>
                <a:sym typeface="Noto Sans SC"/>
              </a:rPr>
              <a:t>代码安全分析系统</a:t>
            </a:r>
            <a:endParaRPr lang="en-US" sz="3700" b="1" i="0" u="none" strike="noStrike" dirty="0">
              <a:solidFill>
                <a:srgbClr val="FFFFFF"/>
              </a:solidFill>
              <a:latin typeface="Noto Sans SC"/>
              <a:ea typeface="Noto Sans SC"/>
              <a:cs typeface="Noto Sans SC"/>
              <a:sym typeface="Noto Sans SC"/>
            </a:endParaRPr>
          </a:p>
        </p:txBody>
      </p:sp>
      <p:sp>
        <p:nvSpPr>
          <p:cNvPr id="10" name="AutoShape 10"/>
          <p:cNvSpPr/>
          <p:nvPr/>
        </p:nvSpPr>
        <p:spPr>
          <a:xfrm>
            <a:off x="685800" y="4211028"/>
            <a:ext cx="711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75054" y="4354879"/>
            <a:ext cx="7874000" cy="5588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dirty="0" err="1">
                <a:solidFill>
                  <a:srgbClr val="C6D2DA"/>
                </a:solidFill>
                <a:latin typeface="Noto Sans SC"/>
                <a:ea typeface="Noto Sans SC"/>
                <a:cs typeface="Noto Sans SC"/>
                <a:sym typeface="Noto Sans SC"/>
              </a:rPr>
              <a:t>工具召回</a:t>
            </a:r>
            <a:r>
              <a:rPr lang="en-US" sz="1500" b="0" i="0" u="none" strike="noStrike" dirty="0">
                <a:solidFill>
                  <a:srgbClr val="C6D2DA"/>
                </a:solidFill>
                <a:latin typeface="Noto Sans SC"/>
                <a:ea typeface="Noto Sans SC"/>
                <a:cs typeface="Noto Sans SC"/>
                <a:sym typeface="Noto Sans SC"/>
              </a:rPr>
              <a:t> × LLM </a:t>
            </a:r>
            <a:r>
              <a:rPr lang="en-US" sz="1500" b="0" i="0" u="none" strike="noStrike" dirty="0" err="1">
                <a:solidFill>
                  <a:srgbClr val="C6D2DA"/>
                </a:solidFill>
                <a:latin typeface="Noto Sans SC"/>
                <a:ea typeface="Noto Sans SC"/>
                <a:cs typeface="Noto Sans SC"/>
                <a:sym typeface="Noto Sans SC"/>
              </a:rPr>
              <a:t>裁决的两阶段架构</a:t>
            </a:r>
            <a:r>
              <a:rPr lang="en-US" sz="1500" b="0" i="0" u="none" strike="noStrike" dirty="0">
                <a:solidFill>
                  <a:srgbClr val="C6D2DA"/>
                </a:solidFill>
                <a:latin typeface="Noto Sans SC"/>
                <a:ea typeface="Noto Sans SC"/>
                <a:cs typeface="Noto Sans SC"/>
                <a:sym typeface="Noto Sans SC"/>
              </a:rPr>
              <a:t>，</a:t>
            </a:r>
            <a:endParaRPr lang="en-US" sz="1100" dirty="0"/>
          </a:p>
          <a:p>
            <a:pPr marL="0" indent="0" algn="l">
              <a:lnSpc>
                <a:spcPct val="125000"/>
              </a:lnSpc>
            </a:pPr>
            <a:r>
              <a:rPr lang="en-US" sz="1500" b="0" i="0" u="none" strike="noStrike" dirty="0" err="1">
                <a:solidFill>
                  <a:srgbClr val="C6D2DA"/>
                </a:solidFill>
                <a:latin typeface="Noto Sans SC"/>
                <a:ea typeface="Noto Sans SC"/>
                <a:cs typeface="Noto Sans SC"/>
                <a:sym typeface="Noto Sans SC"/>
              </a:rPr>
              <a:t>与一套被六轮审计反复验证过的评估方法论</a:t>
            </a:r>
            <a:endParaRPr lang="en-US" sz="1500" b="0" i="0" u="none" strike="noStrike" dirty="0">
              <a:solidFill>
                <a:srgbClr val="C6D2DA"/>
              </a:solidFill>
              <a:latin typeface="Noto Sans SC"/>
              <a:ea typeface="Noto Sans SC"/>
              <a:cs typeface="Noto Sans SC"/>
              <a:sym typeface="Noto Sans SC"/>
            </a:endParaRPr>
          </a:p>
        </p:txBody>
      </p:sp>
      <p:cxnSp>
        <p:nvCxnSpPr>
          <p:cNvPr id="12" name="Connector 12"/>
          <p:cNvCxnSpPr/>
          <p:nvPr/>
        </p:nvCxnSpPr>
        <p:spPr>
          <a:xfrm rot="-4034">
            <a:off x="685804" y="5911850"/>
            <a:ext cx="10820400" cy="12700"/>
          </a:xfrm>
          <a:prstGeom prst="straightConnector1">
            <a:avLst/>
          </a:prstGeom>
          <a:solidFill>
            <a:srgbClr val="DEE0E3">
              <a:alpha val="100000"/>
            </a:srgbClr>
          </a:solidFill>
          <a:ln w="12700" cap="flat" cmpd="sng">
            <a:solidFill>
              <a:srgbClr val="4A5C6A">
                <a:alpha val="100000"/>
              </a:srgbClr>
            </a:solidFill>
            <a:prstDash val="solid"/>
            <a:round/>
            <a:headEnd type="none" w="med" len="med"/>
            <a:tailEnd type="none" w="med" len="med"/>
          </a:ln>
        </p:spPr>
      </p:cxnSp>
      <p:sp>
        <p:nvSpPr>
          <p:cNvPr id="13" name="AutoShape 13"/>
          <p:cNvSpPr/>
          <p:nvPr/>
        </p:nvSpPr>
        <p:spPr>
          <a:xfrm>
            <a:off x="685800" y="6070600"/>
            <a:ext cx="2540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zh-CN" altLang="en-US" sz="1000" dirty="0">
                <a:solidFill>
                  <a:srgbClr val="8296A2"/>
                </a:solidFill>
                <a:latin typeface="Noto Sans SC"/>
                <a:ea typeface="Noto Sans SC"/>
                <a:cs typeface="Noto Sans SC"/>
                <a:sym typeface="Noto Sans SC"/>
              </a:rPr>
              <a:t>报告</a:t>
            </a:r>
            <a:r>
              <a:rPr lang="en-US" sz="1000" b="0" i="0" u="none" strike="noStrike" dirty="0">
                <a:solidFill>
                  <a:srgbClr val="8296A2"/>
                </a:solidFill>
                <a:latin typeface="Noto Sans SC"/>
                <a:ea typeface="Noto Sans SC"/>
                <a:cs typeface="Noto Sans SC"/>
                <a:sym typeface="Noto Sans SC"/>
              </a:rPr>
              <a:t>人</a:t>
            </a:r>
            <a:endParaRPr lang="en-US" sz="1100" dirty="0"/>
          </a:p>
        </p:txBody>
      </p:sp>
      <p:sp>
        <p:nvSpPr>
          <p:cNvPr id="14" name="AutoShape 14"/>
          <p:cNvSpPr/>
          <p:nvPr/>
        </p:nvSpPr>
        <p:spPr>
          <a:xfrm>
            <a:off x="685800" y="6299200"/>
            <a:ext cx="26670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300" b="1" i="0" u="none" strike="noStrike">
                <a:solidFill>
                  <a:srgbClr val="FFFFFF"/>
                </a:solidFill>
                <a:latin typeface="Noto Sans SC"/>
                <a:ea typeface="Noto Sans SC"/>
                <a:cs typeface="Noto Sans SC"/>
                <a:sym typeface="Noto Sans SC"/>
              </a:rPr>
              <a:t>白明耀、易卓玥</a:t>
            </a:r>
            <a:endParaRPr lang="en-US" sz="1100"/>
          </a:p>
        </p:txBody>
      </p:sp>
      <p:sp>
        <p:nvSpPr>
          <p:cNvPr id="15" name="AutoShape 15"/>
          <p:cNvSpPr/>
          <p:nvPr/>
        </p:nvSpPr>
        <p:spPr>
          <a:xfrm>
            <a:off x="3416300" y="6070600"/>
            <a:ext cx="2540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8296A2"/>
                </a:solidFill>
                <a:latin typeface="Noto Sans SC"/>
                <a:ea typeface="Noto Sans SC"/>
                <a:cs typeface="Noto Sans SC"/>
                <a:sym typeface="Noto Sans SC"/>
              </a:rPr>
              <a:t>指导教师</a:t>
            </a:r>
            <a:endParaRPr lang="en-US" sz="1100"/>
          </a:p>
        </p:txBody>
      </p:sp>
      <p:sp>
        <p:nvSpPr>
          <p:cNvPr id="16" name="AutoShape 16"/>
          <p:cNvSpPr/>
          <p:nvPr/>
        </p:nvSpPr>
        <p:spPr>
          <a:xfrm>
            <a:off x="3416300" y="6299200"/>
            <a:ext cx="26670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300" b="1" i="0" u="none" strike="noStrike">
                <a:solidFill>
                  <a:srgbClr val="FFFFFF"/>
                </a:solidFill>
                <a:latin typeface="Noto Sans SC"/>
                <a:ea typeface="Noto Sans SC"/>
                <a:cs typeface="Noto Sans SC"/>
                <a:sym typeface="Noto Sans SC"/>
              </a:rPr>
              <a:t>陈纪友</a:t>
            </a:r>
            <a:endParaRPr lang="en-US" sz="1100"/>
          </a:p>
        </p:txBody>
      </p:sp>
      <p:sp>
        <p:nvSpPr>
          <p:cNvPr id="17" name="AutoShape 17"/>
          <p:cNvSpPr/>
          <p:nvPr/>
        </p:nvSpPr>
        <p:spPr>
          <a:xfrm>
            <a:off x="6146800" y="6070600"/>
            <a:ext cx="2540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8296A2"/>
                </a:solidFill>
                <a:latin typeface="Noto Sans SC"/>
                <a:ea typeface="Noto Sans SC"/>
                <a:cs typeface="Noto Sans SC"/>
                <a:sym typeface="Noto Sans SC"/>
              </a:rPr>
              <a:t>所在学院</a:t>
            </a:r>
            <a:endParaRPr lang="en-US" sz="1100"/>
          </a:p>
        </p:txBody>
      </p:sp>
      <p:sp>
        <p:nvSpPr>
          <p:cNvPr id="18" name="AutoShape 18"/>
          <p:cNvSpPr/>
          <p:nvPr/>
        </p:nvSpPr>
        <p:spPr>
          <a:xfrm>
            <a:off x="6146800" y="6299200"/>
            <a:ext cx="26670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300" b="1" i="0" u="none" strike="noStrike">
                <a:solidFill>
                  <a:srgbClr val="FFFFFF"/>
                </a:solidFill>
                <a:latin typeface="Noto Sans SC"/>
                <a:ea typeface="Noto Sans SC"/>
                <a:cs typeface="Noto Sans SC"/>
                <a:sym typeface="Noto Sans SC"/>
              </a:rPr>
              <a:t>衡阳师范学院</a:t>
            </a:r>
            <a:endParaRPr lang="en-US" sz="1100"/>
          </a:p>
        </p:txBody>
      </p:sp>
      <p:sp>
        <p:nvSpPr>
          <p:cNvPr id="19" name="AutoShape 19"/>
          <p:cNvSpPr/>
          <p:nvPr/>
        </p:nvSpPr>
        <p:spPr>
          <a:xfrm>
            <a:off x="8877300" y="6070600"/>
            <a:ext cx="2540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zh-CN" altLang="en-US" sz="1000" dirty="0">
                <a:solidFill>
                  <a:srgbClr val="8296A2"/>
                </a:solidFill>
                <a:latin typeface="Noto Sans SC"/>
                <a:ea typeface="Noto Sans SC"/>
                <a:cs typeface="Noto Sans SC"/>
                <a:sym typeface="Noto Sans SC"/>
              </a:rPr>
              <a:t>报告</a:t>
            </a:r>
            <a:r>
              <a:rPr lang="en-US" sz="1000" b="0" i="0" u="none" strike="noStrike" dirty="0" err="1">
                <a:solidFill>
                  <a:srgbClr val="8296A2"/>
                </a:solidFill>
                <a:latin typeface="Noto Sans SC"/>
                <a:ea typeface="Noto Sans SC"/>
                <a:cs typeface="Noto Sans SC"/>
                <a:sym typeface="Noto Sans SC"/>
              </a:rPr>
              <a:t>日期</a:t>
            </a:r>
            <a:endParaRPr lang="en-US" sz="1100" dirty="0"/>
          </a:p>
        </p:txBody>
      </p:sp>
      <p:sp>
        <p:nvSpPr>
          <p:cNvPr id="20" name="AutoShape 20"/>
          <p:cNvSpPr/>
          <p:nvPr/>
        </p:nvSpPr>
        <p:spPr>
          <a:xfrm>
            <a:off x="8877300" y="6299200"/>
            <a:ext cx="26670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300" b="1" i="0" u="none" strike="noStrike">
                <a:solidFill>
                  <a:srgbClr val="FFFFFF"/>
                </a:solidFill>
                <a:latin typeface="Noto Sans SC"/>
                <a:ea typeface="Noto Sans SC"/>
                <a:cs typeface="Noto Sans SC"/>
                <a:sym typeface="Noto Sans SC"/>
              </a:rPr>
              <a:t>2026 年 9 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5080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Roboto Mono"/>
                <a:ea typeface="Roboto Mono"/>
                <a:cs typeface="Roboto Mono"/>
                <a:sym typeface="Roboto Mono"/>
              </a:rPr>
              <a:t>CONTENTS</a:t>
            </a:r>
            <a:endParaRPr lang="en-US" sz="1100"/>
          </a:p>
        </p:txBody>
      </p:sp>
      <p:sp>
        <p:nvSpPr>
          <p:cNvPr id="3" name="AutoShape 3"/>
          <p:cNvSpPr/>
          <p:nvPr/>
        </p:nvSpPr>
        <p:spPr>
          <a:xfrm>
            <a:off x="685800" y="762000"/>
            <a:ext cx="5080000" cy="508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3000" b="1" i="0" u="none" strike="noStrike">
                <a:solidFill>
                  <a:srgbClr val="2B2F36"/>
                </a:solidFill>
                <a:latin typeface="Noto Sans SC"/>
                <a:ea typeface="Noto Sans SC"/>
                <a:cs typeface="Noto Sans SC"/>
                <a:sym typeface="Noto Sans SC"/>
              </a:rPr>
              <a:t>目录</a:t>
            </a:r>
            <a:endParaRPr lang="en-US" sz="1100"/>
          </a:p>
        </p:txBody>
      </p:sp>
      <p:sp>
        <p:nvSpPr>
          <p:cNvPr id="4" name="AutoShape 4"/>
          <p:cNvSpPr/>
          <p:nvPr/>
        </p:nvSpPr>
        <p:spPr>
          <a:xfrm>
            <a:off x="685800" y="13716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85800" y="1778000"/>
            <a:ext cx="889000" cy="508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3000" b="1" i="0" u="none" strike="noStrike">
                <a:solidFill>
                  <a:srgbClr val="4A7FA5"/>
                </a:solidFill>
                <a:latin typeface="Roboto Mono"/>
                <a:ea typeface="Roboto Mono"/>
                <a:cs typeface="Roboto Mono"/>
                <a:sym typeface="Roboto Mono"/>
              </a:rPr>
              <a:t>01</a:t>
            </a:r>
            <a:endParaRPr lang="en-US" sz="1100"/>
          </a:p>
        </p:txBody>
      </p:sp>
      <p:sp>
        <p:nvSpPr>
          <p:cNvPr id="6" name="AutoShape 6"/>
          <p:cNvSpPr/>
          <p:nvPr/>
        </p:nvSpPr>
        <p:spPr>
          <a:xfrm>
            <a:off x="1600200" y="1803400"/>
            <a:ext cx="4318000" cy="330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800" b="1" i="0" u="none" strike="noStrike">
                <a:solidFill>
                  <a:srgbClr val="2B2F36"/>
                </a:solidFill>
                <a:latin typeface="Noto Sans SC"/>
                <a:ea typeface="Noto Sans SC"/>
                <a:cs typeface="Noto Sans SC"/>
                <a:sym typeface="Noto Sans SC"/>
              </a:rPr>
              <a:t>研究背景</a:t>
            </a:r>
            <a:endParaRPr lang="en-US" sz="1100"/>
          </a:p>
        </p:txBody>
      </p:sp>
      <p:sp>
        <p:nvSpPr>
          <p:cNvPr id="7" name="AutoShape 7"/>
          <p:cNvSpPr/>
          <p:nvPr/>
        </p:nvSpPr>
        <p:spPr>
          <a:xfrm>
            <a:off x="1600200" y="2209800"/>
            <a:ext cx="4572000" cy="431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50" b="0" i="0" u="none" strike="noStrike">
                <a:solidFill>
                  <a:srgbClr val="5B6770"/>
                </a:solidFill>
                <a:latin typeface="Noto Sans SC"/>
                <a:ea typeface="Noto Sans SC"/>
                <a:cs typeface="Noto Sans SC"/>
                <a:sym typeface="Noto Sans SC"/>
              </a:rPr>
              <a:t>漏洞规模激增，规则工具与纯 LLM 各有盲区</a:t>
            </a:r>
            <a:endParaRPr lang="en-US" sz="1100"/>
          </a:p>
        </p:txBody>
      </p:sp>
      <p:cxnSp>
        <p:nvCxnSpPr>
          <p:cNvPr id="8" name="Connector 8"/>
          <p:cNvCxnSpPr/>
          <p:nvPr/>
        </p:nvCxnSpPr>
        <p:spPr>
          <a:xfrm rot="-8384">
            <a:off x="685808" y="2736850"/>
            <a:ext cx="5207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9" name="AutoShape 9"/>
          <p:cNvSpPr/>
          <p:nvPr/>
        </p:nvSpPr>
        <p:spPr>
          <a:xfrm>
            <a:off x="6350000" y="1778000"/>
            <a:ext cx="889000" cy="508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3000" b="1" i="0" u="none" strike="noStrike">
                <a:solidFill>
                  <a:srgbClr val="4A7FA5"/>
                </a:solidFill>
                <a:latin typeface="Roboto Mono"/>
                <a:ea typeface="Roboto Mono"/>
                <a:cs typeface="Roboto Mono"/>
                <a:sym typeface="Roboto Mono"/>
              </a:rPr>
              <a:t>02</a:t>
            </a:r>
            <a:endParaRPr lang="en-US" sz="1100"/>
          </a:p>
        </p:txBody>
      </p:sp>
      <p:sp>
        <p:nvSpPr>
          <p:cNvPr id="10" name="AutoShape 10"/>
          <p:cNvSpPr/>
          <p:nvPr/>
        </p:nvSpPr>
        <p:spPr>
          <a:xfrm>
            <a:off x="7264400" y="1803400"/>
            <a:ext cx="4318000" cy="330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800" b="1" i="0" u="none" strike="noStrike">
                <a:solidFill>
                  <a:srgbClr val="2B2F36"/>
                </a:solidFill>
                <a:latin typeface="Noto Sans SC"/>
                <a:ea typeface="Noto Sans SC"/>
                <a:cs typeface="Noto Sans SC"/>
                <a:sym typeface="Noto Sans SC"/>
              </a:rPr>
              <a:t>研究目标</a:t>
            </a:r>
            <a:endParaRPr lang="en-US" sz="1100"/>
          </a:p>
        </p:txBody>
      </p:sp>
      <p:sp>
        <p:nvSpPr>
          <p:cNvPr id="11" name="AutoShape 11"/>
          <p:cNvSpPr/>
          <p:nvPr/>
        </p:nvSpPr>
        <p:spPr>
          <a:xfrm>
            <a:off x="7264400" y="2209800"/>
            <a:ext cx="4572000" cy="431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50" b="0" i="0" u="none" strike="noStrike">
                <a:solidFill>
                  <a:srgbClr val="5B6770"/>
                </a:solidFill>
                <a:latin typeface="Noto Sans SC"/>
                <a:ea typeface="Noto Sans SC"/>
                <a:cs typeface="Noto Sans SC"/>
                <a:sym typeface="Noto Sans SC"/>
              </a:rPr>
              <a:t>从安全专用模型出发，被问题逼出的演进路线</a:t>
            </a:r>
            <a:endParaRPr lang="en-US" sz="1100"/>
          </a:p>
        </p:txBody>
      </p:sp>
      <p:cxnSp>
        <p:nvCxnSpPr>
          <p:cNvPr id="12" name="Connector 12"/>
          <p:cNvCxnSpPr/>
          <p:nvPr/>
        </p:nvCxnSpPr>
        <p:spPr>
          <a:xfrm rot="-8384">
            <a:off x="6350008" y="2736850"/>
            <a:ext cx="5207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13" name="AutoShape 13"/>
          <p:cNvSpPr/>
          <p:nvPr/>
        </p:nvSpPr>
        <p:spPr>
          <a:xfrm>
            <a:off x="685800" y="3327400"/>
            <a:ext cx="889000" cy="508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3000" b="1" i="0" u="none" strike="noStrike">
                <a:solidFill>
                  <a:srgbClr val="4A7FA5"/>
                </a:solidFill>
                <a:latin typeface="Roboto Mono"/>
                <a:ea typeface="Roboto Mono"/>
                <a:cs typeface="Roboto Mono"/>
                <a:sym typeface="Roboto Mono"/>
              </a:rPr>
              <a:t>03</a:t>
            </a:r>
            <a:endParaRPr lang="en-US" sz="1100"/>
          </a:p>
        </p:txBody>
      </p:sp>
      <p:sp>
        <p:nvSpPr>
          <p:cNvPr id="14" name="AutoShape 14"/>
          <p:cNvSpPr/>
          <p:nvPr/>
        </p:nvSpPr>
        <p:spPr>
          <a:xfrm>
            <a:off x="1600200" y="3352800"/>
            <a:ext cx="4318000" cy="330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800" b="1" i="0" u="none" strike="noStrike">
                <a:solidFill>
                  <a:srgbClr val="2B2F36"/>
                </a:solidFill>
                <a:latin typeface="Noto Sans SC"/>
                <a:ea typeface="Noto Sans SC"/>
                <a:cs typeface="Noto Sans SC"/>
                <a:sym typeface="Noto Sans SC"/>
              </a:rPr>
              <a:t>我们的价值</a:t>
            </a:r>
            <a:endParaRPr lang="en-US" sz="1100"/>
          </a:p>
        </p:txBody>
      </p:sp>
      <p:sp>
        <p:nvSpPr>
          <p:cNvPr id="15" name="AutoShape 15"/>
          <p:cNvSpPr/>
          <p:nvPr/>
        </p:nvSpPr>
        <p:spPr>
          <a:xfrm>
            <a:off x="1600200" y="3759200"/>
            <a:ext cx="4572000" cy="431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50" b="0" i="0" u="none" strike="noStrike">
                <a:solidFill>
                  <a:srgbClr val="5B6770"/>
                </a:solidFill>
                <a:latin typeface="Noto Sans SC"/>
                <a:ea typeface="Noto Sans SC"/>
                <a:cs typeface="Noto Sans SC"/>
                <a:sym typeface="Noto Sans SC"/>
              </a:rPr>
              <a:t>数据 · 工程 · 训练 · 实验：四层可迁移能力</a:t>
            </a:r>
            <a:endParaRPr lang="en-US" sz="1100"/>
          </a:p>
        </p:txBody>
      </p:sp>
      <p:cxnSp>
        <p:nvCxnSpPr>
          <p:cNvPr id="16" name="Connector 16"/>
          <p:cNvCxnSpPr/>
          <p:nvPr/>
        </p:nvCxnSpPr>
        <p:spPr>
          <a:xfrm rot="-8384">
            <a:off x="685808" y="4286250"/>
            <a:ext cx="5207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17" name="AutoShape 17"/>
          <p:cNvSpPr/>
          <p:nvPr/>
        </p:nvSpPr>
        <p:spPr>
          <a:xfrm>
            <a:off x="6350000" y="3327400"/>
            <a:ext cx="889000" cy="508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3000" b="1" i="0" u="none" strike="noStrike">
                <a:solidFill>
                  <a:srgbClr val="4A7FA5"/>
                </a:solidFill>
                <a:latin typeface="Roboto Mono"/>
                <a:ea typeface="Roboto Mono"/>
                <a:cs typeface="Roboto Mono"/>
                <a:sym typeface="Roboto Mono"/>
              </a:rPr>
              <a:t>04</a:t>
            </a:r>
            <a:endParaRPr lang="en-US" sz="1100"/>
          </a:p>
        </p:txBody>
      </p:sp>
      <p:sp>
        <p:nvSpPr>
          <p:cNvPr id="18" name="AutoShape 18"/>
          <p:cNvSpPr/>
          <p:nvPr/>
        </p:nvSpPr>
        <p:spPr>
          <a:xfrm>
            <a:off x="7264400" y="3352800"/>
            <a:ext cx="4318000" cy="330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800" b="1" i="0" u="none" strike="noStrike">
                <a:solidFill>
                  <a:srgbClr val="2B2F36"/>
                </a:solidFill>
                <a:latin typeface="Noto Sans SC"/>
                <a:ea typeface="Noto Sans SC"/>
                <a:cs typeface="Noto Sans SC"/>
                <a:sym typeface="Noto Sans SC"/>
              </a:rPr>
              <a:t>项目的价值</a:t>
            </a:r>
            <a:endParaRPr lang="en-US" sz="1100"/>
          </a:p>
        </p:txBody>
      </p:sp>
      <p:sp>
        <p:nvSpPr>
          <p:cNvPr id="19" name="AutoShape 19"/>
          <p:cNvSpPr/>
          <p:nvPr/>
        </p:nvSpPr>
        <p:spPr>
          <a:xfrm>
            <a:off x="7264400" y="3759200"/>
            <a:ext cx="4572000" cy="431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50" b="0" i="0" u="none" strike="noStrike">
                <a:solidFill>
                  <a:srgbClr val="5B6770"/>
                </a:solidFill>
                <a:latin typeface="Noto Sans SC"/>
                <a:ea typeface="Noto Sans SC"/>
                <a:cs typeface="Noto Sans SC"/>
                <a:sym typeface="Noto Sans SC"/>
              </a:rPr>
              <a:t>两阶段架构、信任层、全栈工程与双口径硬指标</a:t>
            </a:r>
            <a:endParaRPr lang="en-US" sz="1100"/>
          </a:p>
        </p:txBody>
      </p:sp>
      <p:cxnSp>
        <p:nvCxnSpPr>
          <p:cNvPr id="20" name="Connector 20"/>
          <p:cNvCxnSpPr/>
          <p:nvPr/>
        </p:nvCxnSpPr>
        <p:spPr>
          <a:xfrm rot="-8384">
            <a:off x="6350008" y="4286250"/>
            <a:ext cx="5207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21" name="AutoShape 21"/>
          <p:cNvSpPr/>
          <p:nvPr/>
        </p:nvSpPr>
        <p:spPr>
          <a:xfrm>
            <a:off x="685800" y="4876800"/>
            <a:ext cx="889000" cy="508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3000" b="1" i="0" u="none" strike="noStrike">
                <a:solidFill>
                  <a:srgbClr val="4A7FA5"/>
                </a:solidFill>
                <a:latin typeface="Roboto Mono"/>
                <a:ea typeface="Roboto Mono"/>
                <a:cs typeface="Roboto Mono"/>
                <a:sym typeface="Roboto Mono"/>
              </a:rPr>
              <a:t>05</a:t>
            </a:r>
            <a:endParaRPr lang="en-US" sz="1100"/>
          </a:p>
        </p:txBody>
      </p:sp>
      <p:sp>
        <p:nvSpPr>
          <p:cNvPr id="22" name="AutoShape 22"/>
          <p:cNvSpPr/>
          <p:nvPr/>
        </p:nvSpPr>
        <p:spPr>
          <a:xfrm>
            <a:off x="1600200" y="4902200"/>
            <a:ext cx="4318000" cy="330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800" b="1" i="0" u="none" strike="noStrike">
                <a:solidFill>
                  <a:srgbClr val="2B2F36"/>
                </a:solidFill>
                <a:latin typeface="Noto Sans SC"/>
                <a:ea typeface="Noto Sans SC"/>
                <a:cs typeface="Noto Sans SC"/>
                <a:sym typeface="Noto Sans SC"/>
              </a:rPr>
              <a:t>系统演示</a:t>
            </a:r>
            <a:endParaRPr lang="en-US" sz="1100"/>
          </a:p>
        </p:txBody>
      </p:sp>
      <p:sp>
        <p:nvSpPr>
          <p:cNvPr id="23" name="AutoShape 23"/>
          <p:cNvSpPr/>
          <p:nvPr/>
        </p:nvSpPr>
        <p:spPr>
          <a:xfrm>
            <a:off x="1600200" y="5308600"/>
            <a:ext cx="4572000" cy="431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50" b="0" i="0" u="none" strike="noStrike">
                <a:solidFill>
                  <a:srgbClr val="5B6770"/>
                </a:solidFill>
                <a:latin typeface="Noto Sans SC"/>
                <a:ea typeface="Noto Sans SC"/>
                <a:cs typeface="Noto Sans SC"/>
                <a:sym typeface="Noto Sans SC"/>
              </a:rPr>
              <a:t>产品界面实拍与系统演示视频</a:t>
            </a:r>
            <a:endParaRPr lang="en-US" sz="1100"/>
          </a:p>
        </p:txBody>
      </p:sp>
      <p:cxnSp>
        <p:nvCxnSpPr>
          <p:cNvPr id="24" name="Connector 24"/>
          <p:cNvCxnSpPr/>
          <p:nvPr/>
        </p:nvCxnSpPr>
        <p:spPr>
          <a:xfrm rot="-8384">
            <a:off x="685808" y="5835650"/>
            <a:ext cx="5207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25" name="AutoShape 25"/>
          <p:cNvSpPr/>
          <p:nvPr/>
        </p:nvSpPr>
        <p:spPr>
          <a:xfrm>
            <a:off x="6350000" y="4876800"/>
            <a:ext cx="889000" cy="508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3000" b="1" i="0" u="none" strike="noStrike">
                <a:solidFill>
                  <a:srgbClr val="4A7FA5"/>
                </a:solidFill>
                <a:latin typeface="Roboto Mono"/>
                <a:ea typeface="Roboto Mono"/>
                <a:cs typeface="Roboto Mono"/>
                <a:sym typeface="Roboto Mono"/>
              </a:rPr>
              <a:t>06</a:t>
            </a:r>
            <a:endParaRPr lang="en-US" sz="1100"/>
          </a:p>
        </p:txBody>
      </p:sp>
      <p:sp>
        <p:nvSpPr>
          <p:cNvPr id="26" name="AutoShape 26"/>
          <p:cNvSpPr/>
          <p:nvPr/>
        </p:nvSpPr>
        <p:spPr>
          <a:xfrm>
            <a:off x="7264400" y="4902200"/>
            <a:ext cx="4318000" cy="330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800" b="1" i="0" u="none" strike="noStrike">
                <a:solidFill>
                  <a:srgbClr val="2B2F36"/>
                </a:solidFill>
                <a:latin typeface="Noto Sans SC"/>
                <a:ea typeface="Noto Sans SC"/>
                <a:cs typeface="Noto Sans SC"/>
                <a:sym typeface="Noto Sans SC"/>
              </a:rPr>
              <a:t>未来规划</a:t>
            </a:r>
            <a:endParaRPr lang="en-US" sz="1100"/>
          </a:p>
        </p:txBody>
      </p:sp>
      <p:sp>
        <p:nvSpPr>
          <p:cNvPr id="27" name="AutoShape 27"/>
          <p:cNvSpPr/>
          <p:nvPr/>
        </p:nvSpPr>
        <p:spPr>
          <a:xfrm>
            <a:off x="7264400" y="5308600"/>
            <a:ext cx="4572000" cy="431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50" b="0" i="0" u="none" strike="noStrike">
                <a:solidFill>
                  <a:srgbClr val="5B6770"/>
                </a:solidFill>
                <a:latin typeface="Noto Sans SC"/>
                <a:ea typeface="Noto Sans SC"/>
                <a:cs typeface="Noto Sans SC"/>
                <a:sym typeface="Noto Sans SC"/>
              </a:rPr>
              <a:t>α0.6 开训、α1 偏好对齐、数据飞轮与发布</a:t>
            </a:r>
            <a:endParaRPr lang="en-US" sz="1100"/>
          </a:p>
        </p:txBody>
      </p:sp>
      <p:cxnSp>
        <p:nvCxnSpPr>
          <p:cNvPr id="28" name="Connector 28"/>
          <p:cNvCxnSpPr/>
          <p:nvPr/>
        </p:nvCxnSpPr>
        <p:spPr>
          <a:xfrm rot="-8384">
            <a:off x="6350008" y="5835650"/>
            <a:ext cx="5207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29" name="AutoShape 29"/>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30" name="AutoShape 30"/>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02 / 30</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F2E38">
                <a:alpha val="100000"/>
              </a:srgbClr>
            </a:gs>
            <a:gs pos="100000">
              <a:srgbClr val="16222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85800" y="5080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8C9CA8"/>
                </a:solidFill>
                <a:latin typeface="Roboto Mono"/>
                <a:ea typeface="Roboto Mono"/>
                <a:cs typeface="Roboto Mono"/>
                <a:sym typeface="Roboto Mono"/>
              </a:rPr>
              <a:t>NIVIS · GRADUATION DEFENSE</a:t>
            </a:r>
            <a:endParaRPr lang="en-US" sz="1100"/>
          </a:p>
        </p:txBody>
      </p:sp>
      <p:sp>
        <p:nvSpPr>
          <p:cNvPr id="4" name="AutoShape 4"/>
          <p:cNvSpPr/>
          <p:nvPr/>
        </p:nvSpPr>
        <p:spPr>
          <a:xfrm>
            <a:off x="635000" y="1905000"/>
            <a:ext cx="3302000" cy="2540000"/>
          </a:xfrm>
          <a:prstGeom prst="rect">
            <a:avLst/>
          </a:prstGeom>
          <a:noFill/>
          <a:ln w="12700" cap="flat" cmpd="sng">
            <a:noFill/>
            <a:prstDash val="solid"/>
            <a:round/>
          </a:ln>
        </p:spPr>
        <p:txBody>
          <a:bodyPr vert="horz" wrap="none" lIns="0" tIns="0" rIns="0" bIns="0" rtlCol="0" anchor="ctr" anchorCtr="0"/>
          <a:lstStyle/>
          <a:p>
            <a:pPr marL="0" indent="0" algn="l">
              <a:lnSpc>
                <a:spcPct val="112500"/>
              </a:lnSpc>
              <a:defRPr/>
            </a:pPr>
            <a:r>
              <a:rPr lang="en-US" sz="15000" b="1" i="0" u="none" strike="noStrike">
                <a:solidFill>
                  <a:srgbClr val="4A7FA5">
                    <a:alpha val="54902"/>
                  </a:srgbClr>
                </a:solidFill>
                <a:latin typeface="Roboto Mono"/>
                <a:ea typeface="Roboto Mono"/>
                <a:cs typeface="Roboto Mono"/>
                <a:sym typeface="Roboto Mono"/>
              </a:rPr>
              <a:t>01</a:t>
            </a:r>
            <a:endParaRPr lang="en-US" sz="1100"/>
          </a:p>
        </p:txBody>
      </p:sp>
      <p:sp>
        <p:nvSpPr>
          <p:cNvPr id="5" name="AutoShape 5"/>
          <p:cNvSpPr/>
          <p:nvPr/>
        </p:nvSpPr>
        <p:spPr>
          <a:xfrm>
            <a:off x="3810000" y="2768600"/>
            <a:ext cx="50800" cy="812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4114800" y="2641600"/>
            <a:ext cx="7112000" cy="635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4000" b="1" i="0" u="none" strike="noStrike">
                <a:solidFill>
                  <a:srgbClr val="FFFFFF"/>
                </a:solidFill>
                <a:latin typeface="Noto Sans SC"/>
                <a:ea typeface="Noto Sans SC"/>
                <a:cs typeface="Noto Sans SC"/>
                <a:sym typeface="Noto Sans SC"/>
              </a:rPr>
              <a:t>研究背景</a:t>
            </a:r>
            <a:endParaRPr lang="en-US" sz="1100"/>
          </a:p>
        </p:txBody>
      </p:sp>
      <p:sp>
        <p:nvSpPr>
          <p:cNvPr id="7" name="AutoShape 7"/>
          <p:cNvSpPr/>
          <p:nvPr/>
        </p:nvSpPr>
        <p:spPr>
          <a:xfrm>
            <a:off x="4140200" y="3276600"/>
            <a:ext cx="7112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0" i="0" u="none" strike="noStrike">
                <a:solidFill>
                  <a:srgbClr val="8296A2"/>
                </a:solidFill>
                <a:latin typeface="Roboto Mono"/>
                <a:ea typeface="Roboto Mono"/>
                <a:cs typeface="Roboto Mono"/>
                <a:sym typeface="Roboto Mono"/>
              </a:rPr>
              <a:t>BACKGROUND · WHY THIS PROJECT MATTERS</a:t>
            </a:r>
            <a:endParaRPr lang="en-US" sz="1100"/>
          </a:p>
        </p:txBody>
      </p:sp>
      <p:sp>
        <p:nvSpPr>
          <p:cNvPr id="8" name="AutoShape 8"/>
          <p:cNvSpPr/>
          <p:nvPr/>
        </p:nvSpPr>
        <p:spPr>
          <a:xfrm>
            <a:off x="4140200" y="3708400"/>
            <a:ext cx="7112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C6D2DA"/>
                </a:solidFill>
                <a:latin typeface="Noto Sans SC"/>
                <a:ea typeface="Noto Sans SC"/>
                <a:cs typeface="Noto Sans SC"/>
                <a:sym typeface="Noto Sans SC"/>
              </a:rPr>
              <a:t>年披露漏洞逼近 5 万，人工审计追不上增长速度，单一工具也追不上漏洞的语义复杂度。</a:t>
            </a:r>
            <a:endParaRPr lang="en-US" sz="1100"/>
          </a:p>
        </p:txBody>
      </p:sp>
      <p:sp>
        <p:nvSpPr>
          <p:cNvPr id="9" name="AutoShape 9"/>
          <p:cNvSpPr/>
          <p:nvPr/>
        </p:nvSpPr>
        <p:spPr>
          <a:xfrm>
            <a:off x="4140200" y="4902200"/>
            <a:ext cx="508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140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E8DEC8"/>
                </a:solidFill>
                <a:latin typeface="Noto Sans SC"/>
                <a:ea typeface="Noto Sans SC"/>
                <a:cs typeface="Noto Sans SC"/>
                <a:sym typeface="Noto Sans SC"/>
              </a:rPr>
              <a:t>01 研究背景</a:t>
            </a:r>
            <a:endParaRPr lang="en-US" sz="1100"/>
          </a:p>
        </p:txBody>
      </p:sp>
      <p:sp>
        <p:nvSpPr>
          <p:cNvPr id="11" name="AutoShape 11"/>
          <p:cNvSpPr/>
          <p:nvPr/>
        </p:nvSpPr>
        <p:spPr>
          <a:xfrm>
            <a:off x="52578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2578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02 研究目标</a:t>
            </a:r>
            <a:endParaRPr lang="en-US" sz="1100"/>
          </a:p>
        </p:txBody>
      </p:sp>
      <p:sp>
        <p:nvSpPr>
          <p:cNvPr id="13" name="AutoShape 13"/>
          <p:cNvSpPr/>
          <p:nvPr/>
        </p:nvSpPr>
        <p:spPr>
          <a:xfrm>
            <a:off x="63754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3754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03 我们的价值</a:t>
            </a:r>
            <a:endParaRPr lang="en-US" sz="1100"/>
          </a:p>
        </p:txBody>
      </p:sp>
      <p:sp>
        <p:nvSpPr>
          <p:cNvPr id="15" name="AutoShape 15"/>
          <p:cNvSpPr/>
          <p:nvPr/>
        </p:nvSpPr>
        <p:spPr>
          <a:xfrm>
            <a:off x="74930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74930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04 项目的价值</a:t>
            </a:r>
            <a:endParaRPr lang="en-US" sz="1100"/>
          </a:p>
        </p:txBody>
      </p:sp>
      <p:sp>
        <p:nvSpPr>
          <p:cNvPr id="17" name="AutoShape 17"/>
          <p:cNvSpPr/>
          <p:nvPr/>
        </p:nvSpPr>
        <p:spPr>
          <a:xfrm>
            <a:off x="86106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6106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05 系统演示</a:t>
            </a:r>
            <a:endParaRPr lang="en-US" sz="1100"/>
          </a:p>
        </p:txBody>
      </p:sp>
      <p:sp>
        <p:nvSpPr>
          <p:cNvPr id="19" name="AutoShape 19"/>
          <p:cNvSpPr/>
          <p:nvPr/>
        </p:nvSpPr>
        <p:spPr>
          <a:xfrm>
            <a:off x="9728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728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06 未来规划</a:t>
            </a:r>
            <a:endParaRPr lang="en-US" sz="1100"/>
          </a:p>
        </p:txBody>
      </p:sp>
      <p:sp>
        <p:nvSpPr>
          <p:cNvPr id="21" name="AutoShape 21"/>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6E7E8A"/>
                </a:solidFill>
                <a:latin typeface="Noto Sans SC"/>
                <a:ea typeface="Noto Sans SC"/>
                <a:cs typeface="Noto Sans SC"/>
                <a:sym typeface="Noto Sans SC"/>
              </a:rPr>
              <a:t>Nivis · 基于大语言模型的代码安全分析系统</a:t>
            </a:r>
            <a:endParaRPr lang="en-US" sz="1100"/>
          </a:p>
        </p:txBody>
      </p:sp>
      <p:sp>
        <p:nvSpPr>
          <p:cNvPr id="22" name="AutoShape 22"/>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6E7E8A"/>
                </a:solidFill>
                <a:latin typeface="Roboto Mono"/>
                <a:ea typeface="Roboto Mono"/>
                <a:cs typeface="Roboto Mono"/>
                <a:sym typeface="Roboto Mono"/>
              </a:rPr>
              <a:t>03 / 30</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01 研究背景</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十年 7.4 倍：漏洞披露量进入高速增长区间</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04 / 30</a:t>
            </a:r>
            <a:endParaRPr lang="en-US" sz="1100"/>
          </a:p>
        </p:txBody>
      </p:sp>
      <p:graphicFrame>
        <p:nvGraphicFramePr>
          <p:cNvPr id="8" name="Chart 8"/>
          <p:cNvGraphicFramePr>
            <a:graphicFrameLocks noGrp="1"/>
          </p:cNvGraphicFramePr>
          <p:nvPr/>
        </p:nvGraphicFramePr>
        <p:xfrm>
          <a:off x="685800" y="1498600"/>
          <a:ext cx="7061200" cy="4445000"/>
        </p:xfrm>
        <a:graphic>
          <a:graphicData uri="http://schemas.openxmlformats.org/drawingml/2006/chart">
            <c:chart xmlns:c="http://schemas.openxmlformats.org/drawingml/2006/chart" xmlns:r="http://schemas.openxmlformats.org/officeDocument/2006/relationships" r:id="rId3"/>
          </a:graphicData>
        </a:graphic>
      </p:graphicFrame>
      <p:sp>
        <p:nvSpPr>
          <p:cNvPr id="22" name="AutoShape 8"/>
          <p:cNvSpPr/>
          <p:nvPr/>
        </p:nvSpPr>
        <p:spPr>
          <a:xfrm>
            <a:off x="8128000" y="1574800"/>
            <a:ext cx="3302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D9962E"/>
                </a:solidFill>
                <a:latin typeface="Roboto Mono"/>
                <a:ea typeface="Roboto Mono"/>
                <a:cs typeface="Roboto Mono"/>
                <a:sym typeface="Roboto Mono"/>
              </a:rPr>
              <a:t>KEY FINDING · 关键判断</a:t>
            </a:r>
            <a:endParaRPr lang="en-US" sz="1100"/>
          </a:p>
        </p:txBody>
      </p:sp>
      <p:sp>
        <p:nvSpPr>
          <p:cNvPr id="9" name="AutoShape 9"/>
          <p:cNvSpPr/>
          <p:nvPr/>
        </p:nvSpPr>
        <p:spPr>
          <a:xfrm>
            <a:off x="8128000" y="1828800"/>
            <a:ext cx="3302000" cy="762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5200" b="1" i="0" u="none" strike="noStrike">
                <a:solidFill>
                  <a:srgbClr val="2B2F36"/>
                </a:solidFill>
                <a:latin typeface="Roboto Mono"/>
                <a:ea typeface="Roboto Mono"/>
                <a:cs typeface="Roboto Mono"/>
                <a:sym typeface="Roboto Mono"/>
              </a:rPr>
              <a:t>7.4×</a:t>
            </a:r>
            <a:endParaRPr lang="en-US" sz="1100"/>
          </a:p>
        </p:txBody>
      </p:sp>
      <p:sp>
        <p:nvSpPr>
          <p:cNvPr id="10" name="AutoShape 10"/>
          <p:cNvSpPr/>
          <p:nvPr/>
        </p:nvSpPr>
        <p:spPr>
          <a:xfrm>
            <a:off x="8128000" y="2641600"/>
            <a:ext cx="3378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5B6770"/>
                </a:solidFill>
                <a:latin typeface="Noto Sans SC"/>
                <a:ea typeface="Noto Sans SC"/>
                <a:cs typeface="Noto Sans SC"/>
                <a:sym typeface="Noto Sans SC"/>
              </a:rPr>
              <a:t>2015 → 2025，年新增 CVE 增长 7.4 倍</a:t>
            </a:r>
            <a:endParaRPr lang="en-US" sz="1100"/>
          </a:p>
        </p:txBody>
      </p:sp>
      <p:cxnSp>
        <p:nvCxnSpPr>
          <p:cNvPr id="11" name="Connector 11"/>
          <p:cNvCxnSpPr/>
          <p:nvPr/>
        </p:nvCxnSpPr>
        <p:spPr>
          <a:xfrm rot="-13222">
            <a:off x="8128012" y="3016250"/>
            <a:ext cx="3302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12" name="AutoShape 12"/>
          <p:cNvSpPr/>
          <p:nvPr/>
        </p:nvSpPr>
        <p:spPr>
          <a:xfrm>
            <a:off x="8128000" y="3225800"/>
            <a:ext cx="76200" cy="762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8331200" y="3175000"/>
            <a:ext cx="32512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345E80"/>
                </a:solidFill>
                <a:latin typeface="Roboto Mono"/>
                <a:ea typeface="Roboto Mono"/>
                <a:cs typeface="Roboto Mono"/>
                <a:sym typeface="Roboto Mono"/>
              </a:rPr>
              <a:t>48,185 条</a:t>
            </a:r>
            <a:endParaRPr lang="en-US" sz="1100"/>
          </a:p>
        </p:txBody>
      </p:sp>
      <p:sp>
        <p:nvSpPr>
          <p:cNvPr id="14" name="AutoShape 14"/>
          <p:cNvSpPr/>
          <p:nvPr/>
        </p:nvSpPr>
        <p:spPr>
          <a:xfrm>
            <a:off x="8331200" y="3429000"/>
            <a:ext cx="3251200" cy="381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5B6770"/>
                </a:solidFill>
                <a:latin typeface="Noto Sans SC"/>
                <a:ea typeface="Noto Sans SC"/>
                <a:cs typeface="Noto Sans SC"/>
                <a:sym typeface="Noto Sans SC"/>
              </a:rPr>
              <a:t>2025 年新增 CVE，连续两年站上 4 万量级</a:t>
            </a:r>
            <a:endParaRPr lang="en-US" sz="1100"/>
          </a:p>
        </p:txBody>
      </p:sp>
      <p:sp>
        <p:nvSpPr>
          <p:cNvPr id="15" name="AutoShape 15"/>
          <p:cNvSpPr/>
          <p:nvPr/>
        </p:nvSpPr>
        <p:spPr>
          <a:xfrm>
            <a:off x="8128000" y="4089400"/>
            <a:ext cx="76200" cy="762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331200" y="4038600"/>
            <a:ext cx="32512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345E80"/>
                </a:solidFill>
                <a:latin typeface="Roboto Mono"/>
                <a:ea typeface="Roboto Mono"/>
                <a:cs typeface="Roboto Mono"/>
                <a:sym typeface="Roboto Mono"/>
              </a:rPr>
              <a:t>≈132 条/天</a:t>
            </a:r>
            <a:endParaRPr lang="en-US" sz="1100"/>
          </a:p>
        </p:txBody>
      </p:sp>
      <p:sp>
        <p:nvSpPr>
          <p:cNvPr id="17" name="AutoShape 17"/>
          <p:cNvSpPr/>
          <p:nvPr/>
        </p:nvSpPr>
        <p:spPr>
          <a:xfrm>
            <a:off x="8331200" y="4292600"/>
            <a:ext cx="3251200" cy="381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5B6770"/>
                </a:solidFill>
                <a:latin typeface="Noto Sans SC"/>
                <a:ea typeface="Noto Sans SC"/>
                <a:cs typeface="Noto Sans SC"/>
                <a:sym typeface="Noto Sans SC"/>
              </a:rPr>
              <a:t>平均每自然日新增逾百条，人工审计产能无法同步扩张</a:t>
            </a:r>
            <a:endParaRPr lang="en-US" sz="1100"/>
          </a:p>
        </p:txBody>
      </p:sp>
      <p:sp>
        <p:nvSpPr>
          <p:cNvPr id="18" name="AutoShape 18"/>
          <p:cNvSpPr/>
          <p:nvPr/>
        </p:nvSpPr>
        <p:spPr>
          <a:xfrm>
            <a:off x="8128000" y="4953000"/>
            <a:ext cx="76200" cy="762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8331200" y="4902200"/>
            <a:ext cx="32512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345E80"/>
                </a:solidFill>
                <a:latin typeface="Roboto Mono"/>
                <a:ea typeface="Roboto Mono"/>
                <a:cs typeface="Roboto Mono"/>
                <a:sym typeface="Roboto Mono"/>
              </a:rPr>
              <a:t>语义化趋势</a:t>
            </a:r>
            <a:endParaRPr lang="en-US" sz="1100"/>
          </a:p>
        </p:txBody>
      </p:sp>
      <p:sp>
        <p:nvSpPr>
          <p:cNvPr id="20" name="AutoShape 20"/>
          <p:cNvSpPr/>
          <p:nvPr/>
        </p:nvSpPr>
        <p:spPr>
          <a:xfrm>
            <a:off x="8331200" y="5156200"/>
            <a:ext cx="3251200" cy="381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5B6770"/>
                </a:solidFill>
                <a:latin typeface="Noto Sans SC"/>
                <a:ea typeface="Noto Sans SC"/>
                <a:cs typeface="Noto Sans SC"/>
                <a:sym typeface="Noto Sans SC"/>
              </a:rPr>
              <a:t>业务逻辑与组合缺陷占比上升，正则规则越来越难覆盖</a:t>
            </a:r>
            <a:endParaRPr lang="en-US" sz="1100"/>
          </a:p>
        </p:txBody>
      </p:sp>
      <p:sp>
        <p:nvSpPr>
          <p:cNvPr id="21" name="AutoShape 21"/>
          <p:cNvSpPr/>
          <p:nvPr/>
        </p:nvSpPr>
        <p:spPr>
          <a:xfrm>
            <a:off x="685800" y="6248400"/>
            <a:ext cx="762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49EA6"/>
                </a:solidFill>
                <a:latin typeface="Noto Sans SC"/>
                <a:ea typeface="Noto Sans SC"/>
                <a:cs typeface="Noto Sans SC"/>
                <a:sym typeface="Noto Sans SC"/>
              </a:rPr>
              <a:t>数据来源：NIST National Vulnerability Database（2026-01 检索），仅统计 Published 条目，不含预留/拒绝记录</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01 研究背景</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自建测试面实测：规则工具看不全，纯 LLM 在真实代码上现形</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05 / 30</a:t>
            </a:r>
            <a:endParaRPr lang="en-US" sz="1100"/>
          </a:p>
        </p:txBody>
      </p:sp>
      <p:sp>
        <p:nvSpPr>
          <p:cNvPr id="8" name="AutoShape 8"/>
          <p:cNvSpPr/>
          <p:nvPr/>
        </p:nvSpPr>
        <p:spPr>
          <a:xfrm>
            <a:off x="7823200" y="1524000"/>
            <a:ext cx="355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latin typeface="Roboto Mono"/>
                <a:ea typeface="Roboto Mono"/>
                <a:cs typeface="Roboto Mono"/>
                <a:sym typeface="Roboto Mono"/>
              </a:rPr>
              <a:t>方法解读（统一口径）</a:t>
            </a:r>
          </a:p>
        </p:txBody>
      </p:sp>
      <p:sp>
        <p:nvSpPr>
          <p:cNvPr id="9" name="AutoShape 9"/>
          <p:cNvSpPr/>
          <p:nvPr/>
        </p:nvSpPr>
        <p:spPr>
          <a:xfrm>
            <a:off x="7823200" y="1803400"/>
            <a:ext cx="50800" cy="609600"/>
          </a:xfrm>
          <a:prstGeom prst="roundRect">
            <a:avLst>
              <a:gd name="adj" fmla="val 0"/>
            </a:avLst>
          </a:prstGeom>
          <a:solidFill>
            <a:srgbClr val="C0504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001000" y="1778000"/>
            <a:ext cx="34544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latin typeface="Roboto Mono"/>
                <a:ea typeface="Roboto Mono"/>
                <a:cs typeface="Roboto Mono"/>
                <a:sym typeface="Roboto Mono"/>
              </a:rPr>
              <a:t>Semgrep</a:t>
            </a:r>
          </a:p>
        </p:txBody>
      </p:sp>
      <p:sp>
        <p:nvSpPr>
          <p:cNvPr id="11" name="AutoShape 11"/>
          <p:cNvSpPr/>
          <p:nvPr/>
        </p:nvSpPr>
        <p:spPr>
          <a:xfrm>
            <a:off x="8001000" y="2032000"/>
            <a:ext cx="3454400" cy="431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50" b="0" i="0" u="none" strike="noStrike">
                <a:latin typeface="Noto Sans SC"/>
                <a:ea typeface="Noto Sans SC"/>
                <a:cs typeface="Noto Sans SC"/>
                <a:sym typeface="Noto Sans SC"/>
              </a:rPr>
              <a:t>召回 57.4% 但误报 42.3%：安全样本误杀近半，只能当粗筛</a:t>
            </a:r>
          </a:p>
        </p:txBody>
      </p:sp>
      <p:sp>
        <p:nvSpPr>
          <p:cNvPr id="12" name="AutoShape 12"/>
          <p:cNvSpPr/>
          <p:nvPr/>
        </p:nvSpPr>
        <p:spPr>
          <a:xfrm>
            <a:off x="7823200" y="2590800"/>
            <a:ext cx="50800" cy="6096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8001000" y="2565400"/>
            <a:ext cx="34544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latin typeface="Roboto Mono"/>
                <a:ea typeface="Roboto Mono"/>
                <a:cs typeface="Roboto Mono"/>
                <a:sym typeface="Roboto Mono"/>
              </a:rPr>
              <a:t>纯 LLM（SFT 后）</a:t>
            </a:r>
          </a:p>
        </p:txBody>
      </p:sp>
      <p:sp>
        <p:nvSpPr>
          <p:cNvPr id="14" name="AutoShape 14"/>
          <p:cNvSpPr/>
          <p:nvPr/>
        </p:nvSpPr>
        <p:spPr>
          <a:xfrm>
            <a:off x="8001000" y="2819400"/>
            <a:ext cx="3454400" cy="431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50" b="0" i="0" u="none" strike="noStrike">
                <a:latin typeface="Noto Sans SC"/>
                <a:ea typeface="Noto Sans SC"/>
                <a:cs typeface="Noto Sans SC"/>
                <a:sym typeface="Noto Sans SC"/>
              </a:rPr>
              <a:t>零样本误报 26.9%，SFT 后降到 15.4%；但真实 CVE 召回不稳</a:t>
            </a:r>
          </a:p>
        </p:txBody>
      </p:sp>
      <p:sp>
        <p:nvSpPr>
          <p:cNvPr id="15" name="AutoShape 15"/>
          <p:cNvSpPr/>
          <p:nvPr/>
        </p:nvSpPr>
        <p:spPr>
          <a:xfrm>
            <a:off x="7823200" y="3378200"/>
            <a:ext cx="50800" cy="6096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001000" y="3352800"/>
            <a:ext cx="34544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latin typeface="Roboto Mono"/>
                <a:ea typeface="Roboto Mono"/>
                <a:cs typeface="Roboto Mono"/>
                <a:sym typeface="Roboto Mono"/>
              </a:rPr>
              <a:t>两阶段融合（本工作）</a:t>
            </a:r>
          </a:p>
        </p:txBody>
      </p:sp>
      <p:sp>
        <p:nvSpPr>
          <p:cNvPr id="17" name="AutoShape 17"/>
          <p:cNvSpPr/>
          <p:nvPr/>
        </p:nvSpPr>
        <p:spPr>
          <a:xfrm>
            <a:off x="8001000" y="3606800"/>
            <a:ext cx="3454400" cy="431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50" b="0" i="0" u="none" strike="noStrike">
                <a:latin typeface="Noto Sans SC"/>
                <a:ea typeface="Noto Sans SC"/>
                <a:cs typeface="Noto Sans SC"/>
                <a:sym typeface="Noto Sans SC"/>
              </a:rPr>
              <a:t>误报 4.3% + strict 92.3% + 真实召回 94.1%，未决 13.8% 转人工</a:t>
            </a:r>
          </a:p>
        </p:txBody>
      </p:sp>
      <p:cxnSp>
        <p:nvCxnSpPr>
          <p:cNvPr id="18" name="Connector 18"/>
          <p:cNvCxnSpPr/>
          <p:nvPr/>
        </p:nvCxnSpPr>
        <p:spPr>
          <a:xfrm rot="-12277">
            <a:off x="7823211" y="4159250"/>
            <a:ext cx="3556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19" name="AutoShape 19"/>
          <p:cNvSpPr/>
          <p:nvPr/>
        </p:nvSpPr>
        <p:spPr>
          <a:xfrm>
            <a:off x="7823200" y="4292600"/>
            <a:ext cx="355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latin typeface="Noto Sans SC"/>
                <a:ea typeface="Noto Sans SC"/>
                <a:cs typeface="Noto Sans SC"/>
                <a:sym typeface="Noto Sans SC"/>
              </a:rPr>
              <a:t>真实度阶梯（layer 6）</a:t>
            </a:r>
          </a:p>
        </p:txBody>
      </p:sp>
      <p:sp>
        <p:nvSpPr>
          <p:cNvPr id="20" name="AutoShape 20"/>
          <p:cNvSpPr/>
          <p:nvPr/>
        </p:nvSpPr>
        <p:spPr>
          <a:xfrm>
            <a:off x="7823200" y="4572000"/>
            <a:ext cx="3581400" cy="939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1" i="0" u="none" strike="noStrike" dirty="0" err="1">
                <a:latin typeface="Noto Sans SC"/>
                <a:ea typeface="Noto Sans SC"/>
                <a:cs typeface="Noto Sans SC"/>
                <a:sym typeface="Noto Sans SC"/>
              </a:rPr>
              <a:t>合成集</a:t>
            </a:r>
            <a:r>
              <a:rPr lang="en-US" sz="1050" b="1" i="0" u="none" strike="noStrike" dirty="0">
                <a:latin typeface="Noto Sans SC"/>
                <a:ea typeface="Noto Sans SC"/>
                <a:cs typeface="Noto Sans SC"/>
                <a:sym typeface="Noto Sans SC"/>
              </a:rPr>
              <a:t> 87 → </a:t>
            </a:r>
            <a:r>
              <a:rPr lang="en-US" sz="1050" b="1" i="0" u="none" strike="noStrike" dirty="0" err="1">
                <a:latin typeface="Noto Sans SC"/>
                <a:ea typeface="Noto Sans SC"/>
                <a:cs typeface="Noto Sans SC"/>
                <a:sym typeface="Noto Sans SC"/>
              </a:rPr>
              <a:t>真实</a:t>
            </a:r>
            <a:r>
              <a:rPr lang="en-US" sz="1050" b="1" i="0" u="none" strike="noStrike" dirty="0">
                <a:latin typeface="Noto Sans SC"/>
                <a:ea typeface="Noto Sans SC"/>
                <a:cs typeface="Noto Sans SC"/>
                <a:sym typeface="Noto Sans SC"/>
              </a:rPr>
              <a:t> CVE 20 → </a:t>
            </a:r>
            <a:r>
              <a:rPr lang="en-US" sz="1050" b="1" i="0" u="none" strike="noStrike" dirty="0" err="1">
                <a:latin typeface="Noto Sans SC"/>
                <a:ea typeface="Noto Sans SC"/>
                <a:cs typeface="Noto Sans SC"/>
                <a:sym typeface="Noto Sans SC"/>
              </a:rPr>
              <a:t>rolling_dev</a:t>
            </a:r>
            <a:r>
              <a:rPr lang="en-US" sz="1050" b="1" i="0" u="none" strike="noStrike" dirty="0">
                <a:latin typeface="Noto Sans SC"/>
                <a:ea typeface="Noto Sans SC"/>
                <a:cs typeface="Noto Sans SC"/>
                <a:sym typeface="Noto Sans SC"/>
              </a:rPr>
              <a:t> 50</a:t>
            </a:r>
            <a:r>
              <a:rPr lang="zh-CN" altLang="en-US" sz="1050" b="1" i="0" u="none" strike="noStrike" dirty="0">
                <a:latin typeface="Noto Sans SC"/>
                <a:ea typeface="Noto Sans SC"/>
                <a:cs typeface="Noto Sans SC"/>
                <a:sym typeface="Noto Sans SC"/>
              </a:rPr>
              <a:t>（</a:t>
            </a:r>
            <a:r>
              <a:rPr lang="en-US" altLang="zh-CN" sz="1050" b="1" i="0" u="none" strike="noStrike" dirty="0">
                <a:latin typeface="Noto Sans SC"/>
                <a:ea typeface="Noto Sans SC"/>
                <a:cs typeface="Noto Sans SC"/>
                <a:sym typeface="Noto Sans SC"/>
              </a:rPr>
              <a:t>alpha0.6</a:t>
            </a:r>
            <a:r>
              <a:rPr lang="zh-CN" altLang="en-US" sz="1050" b="1" i="0" u="none" strike="noStrike" dirty="0">
                <a:latin typeface="Noto Sans SC"/>
                <a:ea typeface="Noto Sans SC"/>
                <a:cs typeface="Noto Sans SC"/>
                <a:sym typeface="Noto Sans SC"/>
              </a:rPr>
              <a:t>正在针对性训练中，但能保证不泄题训练，敬请期待）</a:t>
            </a:r>
            <a:r>
              <a:rPr lang="en-US" sz="1050" b="1" i="0" u="none" strike="noStrike" dirty="0">
                <a:latin typeface="Noto Sans SC"/>
                <a:ea typeface="Noto Sans SC"/>
                <a:cs typeface="Noto Sans SC"/>
                <a:sym typeface="Noto Sans SC"/>
              </a:rPr>
              <a:t>：</a:t>
            </a:r>
          </a:p>
          <a:p>
            <a:pPr marL="0" indent="0" algn="l">
              <a:lnSpc>
                <a:spcPct val="112500"/>
              </a:lnSpc>
              <a:defRPr/>
            </a:pPr>
            <a:r>
              <a:rPr lang="en-US" sz="1050" b="1" i="0" u="none" strike="noStrike" dirty="0">
                <a:latin typeface="Noto Sans SC"/>
                <a:ea typeface="Noto Sans SC"/>
                <a:cs typeface="Noto Sans SC"/>
                <a:sym typeface="Noto Sans SC"/>
              </a:rPr>
              <a:t>真实度上升、成绩下降（94.1% → </a:t>
            </a:r>
            <a:r>
              <a:rPr lang="en-US" sz="1050" b="1" i="0" u="none" strike="noStrike" dirty="0" err="1">
                <a:latin typeface="Noto Sans SC"/>
                <a:ea typeface="Noto Sans SC"/>
                <a:cs typeface="Noto Sans SC"/>
                <a:sym typeface="Noto Sans SC"/>
              </a:rPr>
              <a:t>未正式跑</a:t>
            </a:r>
            <a:r>
              <a:rPr lang="en-US" sz="1050" b="1" i="0" u="none" strike="noStrike" dirty="0">
                <a:latin typeface="Noto Sans SC"/>
                <a:ea typeface="Noto Sans SC"/>
                <a:cs typeface="Noto Sans SC"/>
                <a:sym typeface="Noto Sans SC"/>
              </a:rPr>
              <a:t>），</a:t>
            </a:r>
            <a:r>
              <a:rPr lang="en-US" sz="1050" b="1" i="0" u="none" strike="noStrike" dirty="0" err="1">
                <a:latin typeface="Noto Sans SC"/>
                <a:ea typeface="Noto Sans SC"/>
                <a:cs typeface="Noto Sans SC"/>
                <a:sym typeface="Noto Sans SC"/>
              </a:rPr>
              <a:t>合成高召回不可外推</a:t>
            </a:r>
            <a:endParaRPr lang="en-US" sz="1050" b="1" i="0" u="none" strike="noStrike" dirty="0">
              <a:latin typeface="Noto Sans SC"/>
              <a:ea typeface="Noto Sans SC"/>
              <a:cs typeface="Noto Sans SC"/>
              <a:sym typeface="Noto Sans SC"/>
            </a:endParaRPr>
          </a:p>
        </p:txBody>
      </p:sp>
      <p:sp>
        <p:nvSpPr>
          <p:cNvPr id="21" name="AutoShape 21"/>
          <p:cNvSpPr/>
          <p:nvPr/>
        </p:nvSpPr>
        <p:spPr>
          <a:xfrm>
            <a:off x="685800" y="5283200"/>
            <a:ext cx="10820400" cy="508000"/>
          </a:xfrm>
          <a:prstGeom prst="roundRect">
            <a:avLst>
              <a:gd name="adj" fmla="val 15000"/>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12800" y="5413717"/>
            <a:ext cx="10414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1200" b="1" i="0" u="none" strike="noStrike" dirty="0" err="1">
                <a:latin typeface="Noto Sans SC"/>
                <a:ea typeface="Noto Sans SC"/>
                <a:cs typeface="Noto Sans SC"/>
                <a:sym typeface="Noto Sans SC"/>
              </a:rPr>
              <a:t>结论：误报</a:t>
            </a:r>
            <a:r>
              <a:rPr lang="en-US" sz="1200" b="1" i="0" u="none" strike="noStrike" dirty="0">
                <a:latin typeface="Noto Sans SC"/>
                <a:ea typeface="Noto Sans SC"/>
                <a:cs typeface="Noto Sans SC"/>
                <a:sym typeface="Noto Sans SC"/>
              </a:rPr>
              <a:t> 42%→15%→4.3%，</a:t>
            </a:r>
            <a:r>
              <a:rPr lang="en-US" sz="1200" b="1" i="0" u="none" strike="noStrike" dirty="0" err="1">
                <a:latin typeface="Noto Sans SC"/>
                <a:ea typeface="Noto Sans SC"/>
                <a:cs typeface="Noto Sans SC"/>
                <a:sym typeface="Noto Sans SC"/>
              </a:rPr>
              <a:t>真实召回</a:t>
            </a:r>
            <a:r>
              <a:rPr lang="en-US" sz="1200" b="1" i="0" u="none" strike="noStrike" dirty="0">
                <a:latin typeface="Noto Sans SC"/>
                <a:ea typeface="Noto Sans SC"/>
                <a:cs typeface="Noto Sans SC"/>
                <a:sym typeface="Noto Sans SC"/>
              </a:rPr>
              <a:t> 70%→85%→94%——</a:t>
            </a:r>
            <a:r>
              <a:rPr lang="en-US" sz="1200" b="1" i="0" u="none" strike="noStrike" dirty="0" err="1">
                <a:latin typeface="Noto Sans SC"/>
                <a:ea typeface="Noto Sans SC"/>
                <a:cs typeface="Noto Sans SC"/>
                <a:sym typeface="Noto Sans SC"/>
              </a:rPr>
              <a:t>分工架构被统一口径数据验证</a:t>
            </a:r>
            <a:endParaRPr lang="en-US" sz="1200" b="1" i="0" u="none" strike="noStrike" dirty="0">
              <a:latin typeface="Noto Sans SC"/>
              <a:ea typeface="Noto Sans SC"/>
              <a:cs typeface="Noto Sans SC"/>
              <a:sym typeface="Noto Sans SC"/>
            </a:endParaRPr>
          </a:p>
        </p:txBody>
      </p:sp>
      <p:sp>
        <p:nvSpPr>
          <p:cNvPr id="23" name="AutoShape 23"/>
          <p:cNvSpPr/>
          <p:nvPr/>
        </p:nvSpPr>
        <p:spPr>
          <a:xfrm>
            <a:off x="659813" y="5905500"/>
            <a:ext cx="108204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00" b="0" i="0" u="none" strike="noStrike" dirty="0" err="1">
                <a:latin typeface="Noto Sans SC"/>
                <a:ea typeface="Noto Sans SC"/>
                <a:cs typeface="Noto Sans SC"/>
                <a:sym typeface="Noto Sans SC"/>
              </a:rPr>
              <a:t>口径：acc</a:t>
            </a:r>
            <a:r>
              <a:rPr lang="en-US" sz="800" b="0" i="0" u="none" strike="noStrike" dirty="0">
                <a:latin typeface="Noto Sans SC"/>
                <a:ea typeface="Noto Sans SC"/>
                <a:cs typeface="Noto Sans SC"/>
                <a:sym typeface="Noto Sans SC"/>
              </a:rPr>
              <a:t>=(TP+TN)/</a:t>
            </a:r>
            <a:r>
              <a:rPr lang="en-US" sz="800" b="0" i="0" u="none" strike="noStrike" dirty="0" err="1">
                <a:latin typeface="Noto Sans SC"/>
                <a:ea typeface="Noto Sans SC"/>
                <a:cs typeface="Noto Sans SC"/>
                <a:sym typeface="Noto Sans SC"/>
              </a:rPr>
              <a:t>已裁决样本；strict</a:t>
            </a:r>
            <a:r>
              <a:rPr lang="en-US" sz="800" b="0" i="0" u="none" strike="noStrike" dirty="0">
                <a:latin typeface="Noto Sans SC"/>
                <a:ea typeface="Noto Sans SC"/>
                <a:cs typeface="Noto Sans SC"/>
                <a:sym typeface="Noto Sans SC"/>
              </a:rPr>
              <a:t>=</a:t>
            </a:r>
            <a:r>
              <a:rPr lang="en-US" sz="800" b="0" i="0" u="none" strike="noStrike" dirty="0" err="1">
                <a:latin typeface="Noto Sans SC"/>
                <a:ea typeface="Noto Sans SC"/>
                <a:cs typeface="Noto Sans SC"/>
                <a:sym typeface="Noto Sans SC"/>
              </a:rPr>
              <a:t>判真且</a:t>
            </a:r>
            <a:r>
              <a:rPr lang="en-US" sz="800" b="0" i="0" u="none" strike="noStrike" dirty="0">
                <a:latin typeface="Noto Sans SC"/>
                <a:ea typeface="Noto Sans SC"/>
                <a:cs typeface="Noto Sans SC"/>
                <a:sym typeface="Noto Sans SC"/>
              </a:rPr>
              <a:t> CWE 归因正确（2026-09-02 </a:t>
            </a:r>
            <a:r>
              <a:rPr lang="en-US" sz="800" b="0" i="0" u="none" strike="noStrike" dirty="0" err="1">
                <a:latin typeface="Noto Sans SC"/>
                <a:ea typeface="Noto Sans SC"/>
                <a:cs typeface="Noto Sans SC"/>
                <a:sym typeface="Noto Sans SC"/>
              </a:rPr>
              <a:t>官方修正答案，score_batch</a:t>
            </a:r>
            <a:r>
              <a:rPr lang="en-US" sz="800" b="0" i="0" u="none" strike="noStrike" dirty="0">
                <a:latin typeface="Noto Sans SC"/>
                <a:ea typeface="Noto Sans SC"/>
                <a:cs typeface="Noto Sans SC"/>
                <a:sym typeface="Noto Sans SC"/>
              </a:rPr>
              <a:t> 可复现，48 </a:t>
            </a:r>
            <a:r>
              <a:rPr lang="en-US" sz="800" b="0" i="0" u="none" strike="noStrike" dirty="0" err="1">
                <a:latin typeface="Noto Sans SC"/>
                <a:ea typeface="Noto Sans SC"/>
                <a:cs typeface="Noto Sans SC"/>
                <a:sym typeface="Noto Sans SC"/>
              </a:rPr>
              <a:t>次运行全表见</a:t>
            </a:r>
            <a:r>
              <a:rPr lang="en-US" sz="800" b="0" i="0" u="none" strike="noStrike" dirty="0">
                <a:latin typeface="Noto Sans SC"/>
                <a:ea typeface="Noto Sans SC"/>
                <a:cs typeface="Noto Sans SC"/>
                <a:sym typeface="Noto Sans SC"/>
              </a:rPr>
              <a:t> unified_score_table_20260903）</a:t>
            </a:r>
          </a:p>
          <a:p>
            <a:pPr marL="0" indent="0" algn="l">
              <a:lnSpc>
                <a:spcPct val="112500"/>
              </a:lnSpc>
              <a:defRPr/>
            </a:pPr>
            <a:r>
              <a:rPr lang="en-US" sz="800" b="0" i="0" u="none" strike="noStrike" dirty="0" err="1">
                <a:latin typeface="Noto Sans SC"/>
                <a:ea typeface="Noto Sans SC"/>
                <a:cs typeface="Noto Sans SC"/>
                <a:sym typeface="Noto Sans SC"/>
              </a:rPr>
              <a:t>Semgrep</a:t>
            </a:r>
            <a:r>
              <a:rPr lang="en-US" sz="800" b="0" i="0" u="none" strike="noStrike" dirty="0">
                <a:latin typeface="Noto Sans SC"/>
                <a:ea typeface="Noto Sans SC"/>
                <a:cs typeface="Noto Sans SC"/>
                <a:sym typeface="Noto Sans SC"/>
              </a:rPr>
              <a:t> 为 exp_07 融合评测同框架独立判定（stage1.by_tool </a:t>
            </a:r>
            <a:r>
              <a:rPr lang="en-US" sz="800" b="0" i="0" u="none" strike="noStrike" dirty="0" err="1">
                <a:latin typeface="Noto Sans SC"/>
                <a:ea typeface="Noto Sans SC"/>
                <a:cs typeface="Noto Sans SC"/>
                <a:sym typeface="Noto Sans SC"/>
              </a:rPr>
              <a:t>提取</a:t>
            </a:r>
            <a:r>
              <a:rPr lang="en-US" sz="800" b="0" i="0" u="none" strike="noStrike" dirty="0">
                <a:latin typeface="Noto Sans SC"/>
                <a:ea typeface="Noto Sans SC"/>
                <a:cs typeface="Noto Sans SC"/>
                <a:sym typeface="Noto Sans SC"/>
              </a:rPr>
              <a:t>）；¹ </a:t>
            </a:r>
            <a:r>
              <a:rPr lang="en-US" sz="800" b="0" i="0" u="none" strike="noStrike" dirty="0" err="1">
                <a:latin typeface="Noto Sans SC"/>
                <a:ea typeface="Noto Sans SC"/>
                <a:cs typeface="Noto Sans SC"/>
                <a:sym typeface="Noto Sans SC"/>
              </a:rPr>
              <a:t>零样本</a:t>
            </a:r>
            <a:r>
              <a:rPr lang="en-US" sz="800" b="0" i="0" u="none" strike="noStrike" dirty="0">
                <a:latin typeface="Noto Sans SC"/>
                <a:ea typeface="Noto Sans SC"/>
                <a:cs typeface="Noto Sans SC"/>
                <a:sym typeface="Noto Sans SC"/>
              </a:rPr>
              <a:t> CVE-20 为 8 段小集；wave8 </a:t>
            </a:r>
            <a:r>
              <a:rPr lang="en-US" sz="800" b="0" i="0" u="none" strike="noStrike" dirty="0" err="1">
                <a:latin typeface="Noto Sans SC"/>
                <a:ea typeface="Noto Sans SC"/>
                <a:cs typeface="Noto Sans SC"/>
                <a:sym typeface="Noto Sans SC"/>
              </a:rPr>
              <a:t>未决率</a:t>
            </a:r>
            <a:r>
              <a:rPr lang="en-US" sz="800" b="0" i="0" u="none" strike="noStrike" dirty="0">
                <a:latin typeface="Noto Sans SC"/>
                <a:ea typeface="Noto Sans SC"/>
                <a:cs typeface="Noto Sans SC"/>
                <a:sym typeface="Noto Sans SC"/>
              </a:rPr>
              <a:t> 13.8%（12/87 </a:t>
            </a:r>
            <a:r>
              <a:rPr lang="en-US" sz="800" b="0" i="0" u="none" strike="noStrike" dirty="0" err="1">
                <a:latin typeface="Noto Sans SC"/>
                <a:ea typeface="Noto Sans SC"/>
                <a:cs typeface="Noto Sans SC"/>
                <a:sym typeface="Noto Sans SC"/>
              </a:rPr>
              <a:t>转人工</a:t>
            </a:r>
            <a:r>
              <a:rPr lang="en-US" sz="800" b="0" i="0" u="none" strike="noStrike" dirty="0">
                <a:latin typeface="Noto Sans SC"/>
                <a:ea typeface="Noto Sans SC"/>
                <a:cs typeface="Noto Sans SC"/>
                <a:sym typeface="Noto Sans SC"/>
              </a:rPr>
              <a:t>），</a:t>
            </a:r>
            <a:r>
              <a:rPr lang="en-US" sz="800" b="0" i="0" u="none" strike="noStrike" dirty="0" err="1">
                <a:latin typeface="Noto Sans SC"/>
                <a:ea typeface="Noto Sans SC"/>
                <a:cs typeface="Noto Sans SC"/>
                <a:sym typeface="Noto Sans SC"/>
              </a:rPr>
              <a:t>全量口径</a:t>
            </a:r>
            <a:r>
              <a:rPr lang="en-US" sz="800" b="0" i="0" u="none" strike="noStrike" dirty="0">
                <a:latin typeface="Noto Sans SC"/>
                <a:ea typeface="Noto Sans SC"/>
                <a:cs typeface="Noto Sans SC"/>
                <a:sym typeface="Noto Sans SC"/>
              </a:rPr>
              <a:t> acc 85.1%</a:t>
            </a:r>
          </a:p>
          <a:p>
            <a:pPr marL="0" indent="0" algn="l">
              <a:lnSpc>
                <a:spcPct val="112500"/>
              </a:lnSpc>
              <a:defRPr/>
            </a:pPr>
            <a:r>
              <a:rPr lang="en-US" sz="800" b="0" i="0" u="none" strike="noStrike" dirty="0">
                <a:latin typeface="Noto Sans SC"/>
                <a:ea typeface="Noto Sans SC"/>
                <a:cs typeface="Noto Sans SC"/>
                <a:sym typeface="Noto Sans SC"/>
              </a:rPr>
              <a:t>两阶段引用注明组态：wave8=</a:t>
            </a:r>
            <a:r>
              <a:rPr lang="en-US" sz="800" b="0" i="0" u="none" strike="noStrike" dirty="0" err="1">
                <a:latin typeface="Noto Sans SC"/>
                <a:ea typeface="Noto Sans SC"/>
                <a:cs typeface="Noto Sans SC"/>
                <a:sym typeface="Noto Sans SC"/>
              </a:rPr>
              <a:t>完整信任层（signal_feedback</a:t>
            </a:r>
            <a:r>
              <a:rPr lang="en-US" sz="800" b="0" i="0" u="none" strike="noStrike" dirty="0">
                <a:latin typeface="Noto Sans SC"/>
                <a:ea typeface="Noto Sans SC"/>
                <a:cs typeface="Noto Sans SC"/>
                <a:sym typeface="Noto Sans SC"/>
              </a:rPr>
              <a:t> on + ctx16384）；CVE-fix 20 </a:t>
            </a:r>
            <a:r>
              <a:rPr lang="en-US" sz="800" b="0" i="0" u="none" strike="noStrike" dirty="0" err="1">
                <a:latin typeface="Noto Sans SC"/>
                <a:ea typeface="Noto Sans SC"/>
                <a:cs typeface="Noto Sans SC"/>
                <a:sym typeface="Noto Sans SC"/>
              </a:rPr>
              <a:t>段全为真漏洞，无安全对照不计算</a:t>
            </a:r>
            <a:r>
              <a:rPr lang="en-US" sz="800" b="0" i="0" u="none" strike="noStrike" dirty="0">
                <a:latin typeface="Noto Sans SC"/>
                <a:ea typeface="Noto Sans SC"/>
                <a:cs typeface="Noto Sans SC"/>
                <a:sym typeface="Noto Sans SC"/>
              </a:rPr>
              <a:t> FPR</a:t>
            </a:r>
          </a:p>
        </p:txBody>
      </p:sp>
      <p:sp>
        <p:nvSpPr>
          <p:cNvPr id="25" name="TextBox 24"/>
          <p:cNvSpPr txBox="1"/>
          <p:nvPr/>
        </p:nvSpPr>
        <p:spPr>
          <a:xfrm>
            <a:off x="684784" y="4213860"/>
            <a:ext cx="7132320" cy="182880"/>
          </a:xfrm>
          <a:prstGeom prst="rect">
            <a:avLst/>
          </a:prstGeom>
          <a:noFill/>
        </p:spPr>
        <p:txBody>
          <a:bodyPr wrap="none" lIns="0" tIns="0" rIns="0" bIns="0">
            <a:spAutoFit/>
          </a:bodyPr>
          <a:lstStyle/>
          <a:p>
            <a:pPr algn="l"/>
            <a:r>
              <a:rPr sz="1000" b="1" dirty="0">
                <a:latin typeface="思源黑体"/>
                <a:ea typeface="思源黑体"/>
              </a:rPr>
              <a:t>▎</a:t>
            </a:r>
            <a:r>
              <a:rPr sz="1000" b="1" dirty="0" err="1">
                <a:latin typeface="思源黑体"/>
                <a:ea typeface="思源黑体"/>
              </a:rPr>
              <a:t>架构收益：误报</a:t>
            </a:r>
            <a:r>
              <a:rPr sz="1000" b="1" dirty="0">
                <a:latin typeface="思源黑体"/>
                <a:ea typeface="思源黑体"/>
              </a:rPr>
              <a:t> 15.4%→4.3%｜strict </a:t>
            </a:r>
            <a:r>
              <a:rPr sz="1000" b="1" dirty="0" err="1">
                <a:latin typeface="思源黑体"/>
                <a:ea typeface="思源黑体"/>
              </a:rPr>
              <a:t>归因</a:t>
            </a:r>
            <a:r>
              <a:rPr sz="1000" b="1" dirty="0">
                <a:latin typeface="思源黑体"/>
                <a:ea typeface="思源黑体"/>
              </a:rPr>
              <a:t> 89.8%→92.3%｜</a:t>
            </a:r>
            <a:r>
              <a:rPr sz="1000" b="1" dirty="0" err="1">
                <a:latin typeface="思源黑体"/>
                <a:ea typeface="思源黑体"/>
              </a:rPr>
              <a:t>真实召回</a:t>
            </a:r>
            <a:r>
              <a:rPr sz="1000" b="1" dirty="0">
                <a:latin typeface="思源黑体"/>
                <a:ea typeface="思源黑体"/>
              </a:rPr>
              <a:t> 85%→94.1%｜代价：13.8% </a:t>
            </a:r>
            <a:r>
              <a:rPr sz="1000" b="1" dirty="0" err="1">
                <a:latin typeface="思源黑体"/>
                <a:ea typeface="思源黑体"/>
              </a:rPr>
              <a:t>转人工</a:t>
            </a:r>
            <a:endParaRPr sz="1000" b="1" dirty="0">
              <a:latin typeface="思源黑体"/>
              <a:ea typeface="思源黑体"/>
            </a:endParaRPr>
          </a:p>
        </p:txBody>
      </p:sp>
      <p:sp>
        <p:nvSpPr>
          <p:cNvPr id="26" name="TextBox 25"/>
          <p:cNvSpPr txBox="1"/>
          <p:nvPr/>
        </p:nvSpPr>
        <p:spPr>
          <a:xfrm>
            <a:off x="684784" y="4490935"/>
            <a:ext cx="7132320" cy="182880"/>
          </a:xfrm>
          <a:prstGeom prst="rect">
            <a:avLst/>
          </a:prstGeom>
          <a:noFill/>
        </p:spPr>
        <p:txBody>
          <a:bodyPr wrap="none" lIns="0" tIns="0" rIns="0" bIns="0">
            <a:spAutoFit/>
          </a:bodyPr>
          <a:lstStyle/>
          <a:p>
            <a:pPr algn="l"/>
            <a:r>
              <a:rPr sz="1000" b="0" dirty="0">
                <a:solidFill>
                  <a:srgbClr val="5B6770"/>
                </a:solidFill>
                <a:latin typeface="思源黑体"/>
                <a:ea typeface="思源黑体"/>
              </a:rPr>
              <a:t>▎SFT </a:t>
            </a:r>
            <a:r>
              <a:rPr sz="1000" b="0" dirty="0" err="1">
                <a:solidFill>
                  <a:srgbClr val="5B6770"/>
                </a:solidFill>
                <a:latin typeface="思源黑体"/>
                <a:ea typeface="思源黑体"/>
              </a:rPr>
              <a:t>收益：真实集召回</a:t>
            </a:r>
            <a:r>
              <a:rPr sz="1000" b="0" dirty="0">
                <a:solidFill>
                  <a:srgbClr val="5B6770"/>
                </a:solidFill>
                <a:latin typeface="思源黑体"/>
                <a:ea typeface="思源黑体"/>
              </a:rPr>
              <a:t> 37.5%→85%（</a:t>
            </a:r>
            <a:r>
              <a:rPr sz="1000" b="0" dirty="0" err="1">
                <a:solidFill>
                  <a:srgbClr val="5B6770"/>
                </a:solidFill>
                <a:latin typeface="思源黑体"/>
                <a:ea typeface="思源黑体"/>
              </a:rPr>
              <a:t>判别与格式</a:t>
            </a:r>
            <a:r>
              <a:rPr sz="1000" b="0" dirty="0">
                <a:solidFill>
                  <a:srgbClr val="5B6770"/>
                </a:solidFill>
                <a:latin typeface="思源黑体"/>
                <a:ea typeface="思源黑体"/>
              </a:rPr>
              <a:t>）；但 strict </a:t>
            </a:r>
            <a:r>
              <a:rPr sz="1000" b="0" dirty="0" err="1">
                <a:solidFill>
                  <a:srgbClr val="5B6770"/>
                </a:solidFill>
                <a:latin typeface="思源黑体"/>
                <a:ea typeface="思源黑体"/>
              </a:rPr>
              <a:t>归因不随</a:t>
            </a:r>
            <a:r>
              <a:rPr sz="1000" b="0" dirty="0">
                <a:solidFill>
                  <a:srgbClr val="5B6770"/>
                </a:solidFill>
                <a:latin typeface="思源黑体"/>
                <a:ea typeface="思源黑体"/>
              </a:rPr>
              <a:t> SFT </a:t>
            </a:r>
            <a:r>
              <a:rPr sz="1000" b="0" dirty="0" err="1">
                <a:solidFill>
                  <a:srgbClr val="5B6770"/>
                </a:solidFill>
                <a:latin typeface="思源黑体"/>
                <a:ea typeface="思源黑体"/>
              </a:rPr>
              <a:t>提升，须由两阶段补足</a:t>
            </a:r>
            <a:endParaRPr sz="1000" b="0" dirty="0">
              <a:solidFill>
                <a:srgbClr val="5B6770"/>
              </a:solidFill>
              <a:latin typeface="思源黑体"/>
              <a:ea typeface="思源黑体"/>
            </a:endParaRPr>
          </a:p>
        </p:txBody>
      </p:sp>
      <p:sp>
        <p:nvSpPr>
          <p:cNvPr id="27" name="TextBox 26"/>
          <p:cNvSpPr txBox="1"/>
          <p:nvPr/>
        </p:nvSpPr>
        <p:spPr>
          <a:xfrm>
            <a:off x="684784" y="4780152"/>
            <a:ext cx="7132320" cy="182880"/>
          </a:xfrm>
          <a:prstGeom prst="rect">
            <a:avLst/>
          </a:prstGeom>
          <a:noFill/>
        </p:spPr>
        <p:txBody>
          <a:bodyPr wrap="none" lIns="0" tIns="0" rIns="0" bIns="0">
            <a:spAutoFit/>
          </a:bodyPr>
          <a:lstStyle/>
          <a:p>
            <a:pPr algn="l"/>
            <a:r>
              <a:rPr sz="1000" b="0" dirty="0">
                <a:solidFill>
                  <a:srgbClr val="5B6770"/>
                </a:solidFill>
                <a:latin typeface="思源黑体"/>
                <a:ea typeface="思源黑体"/>
              </a:rPr>
              <a:t>▎</a:t>
            </a:r>
            <a:r>
              <a:rPr sz="1000" b="0" dirty="0" err="1">
                <a:solidFill>
                  <a:srgbClr val="5B6770"/>
                </a:solidFill>
                <a:latin typeface="思源黑体"/>
                <a:ea typeface="思源黑体"/>
              </a:rPr>
              <a:t>传统工具：召回</a:t>
            </a:r>
            <a:r>
              <a:rPr sz="1000" b="0" dirty="0">
                <a:solidFill>
                  <a:srgbClr val="5B6770"/>
                </a:solidFill>
                <a:latin typeface="思源黑体"/>
                <a:ea typeface="思源黑体"/>
              </a:rPr>
              <a:t> 57.4% + </a:t>
            </a:r>
            <a:r>
              <a:rPr sz="1000" b="0" dirty="0" err="1">
                <a:solidFill>
                  <a:srgbClr val="5B6770"/>
                </a:solidFill>
                <a:latin typeface="思源黑体"/>
                <a:ea typeface="思源黑体"/>
              </a:rPr>
              <a:t>误报</a:t>
            </a:r>
            <a:r>
              <a:rPr sz="1000" b="0" dirty="0">
                <a:solidFill>
                  <a:srgbClr val="5B6770"/>
                </a:solidFill>
                <a:latin typeface="思源黑体"/>
                <a:ea typeface="思源黑体"/>
              </a:rPr>
              <a:t> 42.3%，</a:t>
            </a:r>
            <a:r>
              <a:rPr sz="1000" b="0" dirty="0" err="1">
                <a:solidFill>
                  <a:srgbClr val="5B6770"/>
                </a:solidFill>
                <a:latin typeface="思源黑体"/>
                <a:ea typeface="思源黑体"/>
              </a:rPr>
              <a:t>仅可作粗筛；典型样本双漏报（os.path.join</a:t>
            </a:r>
            <a:r>
              <a:rPr sz="1000" b="0" dirty="0">
                <a:solidFill>
                  <a:srgbClr val="5B6770"/>
                </a:solidFill>
                <a:latin typeface="思源黑体"/>
                <a:ea typeface="思源黑体"/>
              </a:rPr>
              <a:t> </a:t>
            </a:r>
            <a:r>
              <a:rPr sz="1000" b="0" dirty="0" err="1">
                <a:solidFill>
                  <a:srgbClr val="5B6770"/>
                </a:solidFill>
                <a:latin typeface="思源黑体"/>
                <a:ea typeface="思源黑体"/>
              </a:rPr>
              <a:t>不做路径规范化</a:t>
            </a:r>
            <a:r>
              <a:rPr sz="1000" b="0" dirty="0">
                <a:solidFill>
                  <a:srgbClr val="5B6770"/>
                </a:solidFill>
                <a:latin typeface="思源黑体"/>
                <a:ea typeface="思源黑体"/>
              </a:rPr>
              <a:t>）</a:t>
            </a:r>
          </a:p>
        </p:txBody>
      </p:sp>
      <p:graphicFrame>
        <p:nvGraphicFramePr>
          <p:cNvPr id="28" name="Chart 27"/>
          <p:cNvGraphicFramePr>
            <a:graphicFrameLocks noGrp="1"/>
          </p:cNvGraphicFramePr>
          <p:nvPr>
            <p:extLst>
              <p:ext uri="{D42A27DB-BD31-4B8C-83A1-F6EECF244321}">
                <p14:modId xmlns:p14="http://schemas.microsoft.com/office/powerpoint/2010/main" val="2767457153"/>
              </p:ext>
            </p:extLst>
          </p:nvPr>
        </p:nvGraphicFramePr>
        <p:xfrm>
          <a:off x="684784" y="1566672"/>
          <a:ext cx="4480560" cy="239572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9" name="Chart 28"/>
          <p:cNvGraphicFramePr>
            <a:graphicFrameLocks noGrp="1"/>
          </p:cNvGraphicFramePr>
          <p:nvPr/>
        </p:nvGraphicFramePr>
        <p:xfrm>
          <a:off x="5349240" y="1554480"/>
          <a:ext cx="2331720" cy="2395728"/>
        </p:xfrm>
        <a:graphic>
          <a:graphicData uri="http://schemas.openxmlformats.org/drawingml/2006/chart">
            <c:chart xmlns:c="http://schemas.openxmlformats.org/drawingml/2006/chart" xmlns:r="http://schemas.openxmlformats.org/officeDocument/2006/relationships" r:id="rId4"/>
          </a:graphicData>
        </a:graphic>
      </p:graphicFrame>
      <p:sp>
        <p:nvSpPr>
          <p:cNvPr id="30" name="TextBox 29"/>
          <p:cNvSpPr txBox="1"/>
          <p:nvPr/>
        </p:nvSpPr>
        <p:spPr>
          <a:xfrm>
            <a:off x="713232" y="1371600"/>
            <a:ext cx="4480560" cy="182880"/>
          </a:xfrm>
          <a:prstGeom prst="rect">
            <a:avLst/>
          </a:prstGeom>
          <a:noFill/>
        </p:spPr>
        <p:txBody>
          <a:bodyPr wrap="none" lIns="0" tIns="0" rIns="0" bIns="0">
            <a:spAutoFit/>
          </a:bodyPr>
          <a:lstStyle/>
          <a:p>
            <a:pPr algn="l"/>
            <a:r>
              <a:rPr sz="950" b="1">
                <a:solidFill>
                  <a:srgbClr val="345E80"/>
                </a:solidFill>
                <a:latin typeface="思源黑体"/>
                <a:ea typeface="思源黑体"/>
              </a:rPr>
              <a:t>87 段合成集 · 召回 / 误报 / 准确（61 漏 / 26 安）</a:t>
            </a:r>
          </a:p>
        </p:txBody>
      </p:sp>
      <p:sp>
        <p:nvSpPr>
          <p:cNvPr id="31" name="TextBox 30"/>
          <p:cNvSpPr txBox="1"/>
          <p:nvPr/>
        </p:nvSpPr>
        <p:spPr>
          <a:xfrm>
            <a:off x="5376672" y="1371600"/>
            <a:ext cx="2377440" cy="182880"/>
          </a:xfrm>
          <a:prstGeom prst="rect">
            <a:avLst/>
          </a:prstGeom>
          <a:noFill/>
        </p:spPr>
        <p:txBody>
          <a:bodyPr wrap="none" lIns="0" tIns="0" rIns="0" bIns="0">
            <a:spAutoFit/>
          </a:bodyPr>
          <a:lstStyle/>
          <a:p>
            <a:pPr algn="l"/>
            <a:r>
              <a:rPr sz="950" b="1">
                <a:solidFill>
                  <a:srgbClr val="345E80"/>
                </a:solidFill>
                <a:latin typeface="思源黑体"/>
                <a:ea typeface="思源黑体"/>
              </a:rPr>
              <a:t>20 段真实 CVE-fix · 召回率</a:t>
            </a:r>
          </a:p>
        </p:txBody>
      </p:sp>
      <p:sp>
        <p:nvSpPr>
          <p:cNvPr id="32" name="TextBox 31"/>
          <p:cNvSpPr txBox="1"/>
          <p:nvPr/>
        </p:nvSpPr>
        <p:spPr>
          <a:xfrm>
            <a:off x="659813" y="3909939"/>
            <a:ext cx="7223760" cy="182880"/>
          </a:xfrm>
          <a:prstGeom prst="rect">
            <a:avLst/>
          </a:prstGeom>
          <a:noFill/>
        </p:spPr>
        <p:txBody>
          <a:bodyPr wrap="none" lIns="0" tIns="0" rIns="0" bIns="0">
            <a:spAutoFit/>
          </a:bodyPr>
          <a:lstStyle/>
          <a:p>
            <a:pPr algn="l"/>
            <a:r>
              <a:rPr sz="850" dirty="0" err="1">
                <a:solidFill>
                  <a:srgbClr val="949EA6"/>
                </a:solidFill>
                <a:latin typeface="思源黑体"/>
                <a:ea typeface="思源黑体"/>
              </a:rPr>
              <a:t>零样本</a:t>
            </a:r>
            <a:r>
              <a:rPr sz="850" dirty="0">
                <a:solidFill>
                  <a:srgbClr val="949EA6"/>
                </a:solidFill>
                <a:latin typeface="思源黑体"/>
                <a:ea typeface="思源黑体"/>
              </a:rPr>
              <a:t> = </a:t>
            </a:r>
            <a:r>
              <a:rPr sz="850" dirty="0" err="1">
                <a:solidFill>
                  <a:srgbClr val="949EA6"/>
                </a:solidFill>
                <a:latin typeface="思源黑体"/>
                <a:ea typeface="思源黑体"/>
              </a:rPr>
              <a:t>基座模型直接判定（未微调、无工具、无</a:t>
            </a:r>
            <a:r>
              <a:rPr sz="850" dirty="0">
                <a:solidFill>
                  <a:srgbClr val="949EA6"/>
                </a:solidFill>
                <a:latin typeface="思源黑体"/>
                <a:ea typeface="思源黑体"/>
              </a:rPr>
              <a:t> RAG）｜SFT = </a:t>
            </a:r>
            <a:r>
              <a:rPr sz="850" dirty="0" err="1">
                <a:solidFill>
                  <a:srgbClr val="949EA6"/>
                </a:solidFill>
                <a:latin typeface="思源黑体"/>
                <a:ea typeface="思源黑体"/>
              </a:rPr>
              <a:t>同一基座监督微调后单阶段判定｜融合</a:t>
            </a:r>
            <a:r>
              <a:rPr sz="850" dirty="0">
                <a:solidFill>
                  <a:srgbClr val="949EA6"/>
                </a:solidFill>
                <a:latin typeface="思源黑体"/>
                <a:ea typeface="思源黑体"/>
              </a:rPr>
              <a:t> = </a:t>
            </a:r>
            <a:r>
              <a:rPr sz="850" dirty="0" err="1">
                <a:solidFill>
                  <a:srgbClr val="949EA6"/>
                </a:solidFill>
                <a:latin typeface="思源黑体"/>
                <a:ea typeface="思源黑体"/>
              </a:rPr>
              <a:t>工具召回</a:t>
            </a:r>
            <a:r>
              <a:rPr sz="850" dirty="0">
                <a:solidFill>
                  <a:srgbClr val="949EA6"/>
                </a:solidFill>
                <a:latin typeface="思源黑体"/>
                <a:ea typeface="思源黑体"/>
              </a:rPr>
              <a:t> + LLM </a:t>
            </a:r>
            <a:r>
              <a:rPr sz="850" dirty="0" err="1">
                <a:solidFill>
                  <a:srgbClr val="949EA6"/>
                </a:solidFill>
                <a:latin typeface="思源黑体"/>
                <a:ea typeface="思源黑体"/>
              </a:rPr>
              <a:t>封闭裁决</a:t>
            </a:r>
            <a:endParaRPr sz="850" dirty="0">
              <a:solidFill>
                <a:srgbClr val="949EA6"/>
              </a:solidFill>
              <a:latin typeface="思源黑体"/>
              <a:ea typeface="思源黑体"/>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01 研究背景</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五年两个基准：代码智能从“能写函数”走到“能修真实仓库”</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06 / 30</a:t>
            </a:r>
            <a:endParaRPr lang="en-US" sz="1100"/>
          </a:p>
        </p:txBody>
      </p:sp>
      <p:sp>
        <p:nvSpPr>
          <p:cNvPr id="71" name="AutoShape 71"/>
          <p:cNvSpPr/>
          <p:nvPr/>
        </p:nvSpPr>
        <p:spPr>
          <a:xfrm>
            <a:off x="660400" y="1473200"/>
            <a:ext cx="6350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345E80"/>
                </a:solidFill>
                <a:latin typeface="Noto Sans SC"/>
                <a:ea typeface="Noto Sans SC"/>
                <a:cs typeface="Noto Sans SC"/>
                <a:sym typeface="Noto Sans SC"/>
              </a:rPr>
              <a:t>SWE-bench Verified · % Resolved（真实 GitHub issue 修复）</a:t>
            </a:r>
            <a:endParaRPr lang="en-US" sz="1100"/>
          </a:p>
        </p:txBody>
      </p:sp>
      <p:graphicFrame>
        <p:nvGraphicFramePr>
          <p:cNvPr id="72" name="Chart 72"/>
          <p:cNvGraphicFramePr>
            <a:graphicFrameLocks noGrp="1"/>
          </p:cNvGraphicFramePr>
          <p:nvPr/>
        </p:nvGraphicFramePr>
        <p:xfrm>
          <a:off x="7823200" y="1676400"/>
          <a:ext cx="3683000" cy="2032000"/>
        </p:xfrm>
        <a:graphic>
          <a:graphicData uri="http://schemas.openxmlformats.org/drawingml/2006/chart">
            <c:chart xmlns:c="http://schemas.openxmlformats.org/drawingml/2006/chart" xmlns:r="http://schemas.openxmlformats.org/officeDocument/2006/relationships" r:id="rId3"/>
          </a:graphicData>
        </a:graphic>
      </p:graphicFrame>
      <p:sp>
        <p:nvSpPr>
          <p:cNvPr id="8" name="AutoShape 72"/>
          <p:cNvSpPr/>
          <p:nvPr/>
        </p:nvSpPr>
        <p:spPr>
          <a:xfrm>
            <a:off x="7823200" y="1473200"/>
            <a:ext cx="3683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6FA39B"/>
                </a:solidFill>
                <a:latin typeface="Noto Sans SC"/>
                <a:ea typeface="Noto Sans SC"/>
                <a:cs typeface="Noto Sans SC"/>
                <a:sym typeface="Noto Sans SC"/>
              </a:rPr>
              <a:t>HumanEval Pass@1 · 函数级编码 2024 年趋于饱和</a:t>
            </a:r>
            <a:endParaRPr lang="en-US" sz="1100"/>
          </a:p>
        </p:txBody>
      </p:sp>
      <p:sp>
        <p:nvSpPr>
          <p:cNvPr id="73" name="AutoShape 73"/>
          <p:cNvSpPr/>
          <p:nvPr/>
        </p:nvSpPr>
        <p:spPr>
          <a:xfrm>
            <a:off x="7823200" y="3924300"/>
            <a:ext cx="76200" cy="762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4" name="AutoShape 74"/>
          <p:cNvSpPr/>
          <p:nvPr/>
        </p:nvSpPr>
        <p:spPr>
          <a:xfrm>
            <a:off x="8001000" y="3886200"/>
            <a:ext cx="35052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两个基准，一个判断</a:t>
            </a:r>
            <a:endParaRPr lang="en-US" sz="1100"/>
          </a:p>
        </p:txBody>
      </p:sp>
      <p:sp>
        <p:nvSpPr>
          <p:cNvPr id="75" name="AutoShape 75"/>
          <p:cNvSpPr/>
          <p:nvPr/>
        </p:nvSpPr>
        <p:spPr>
          <a:xfrm>
            <a:off x="8001000" y="4102100"/>
            <a:ext cx="3505200" cy="381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0" i="0" u="none" strike="noStrike">
                <a:solidFill>
                  <a:srgbClr val="5B6770"/>
                </a:solidFill>
                <a:latin typeface="Noto Sans SC"/>
                <a:ea typeface="Noto Sans SC"/>
                <a:cs typeface="Noto Sans SC"/>
                <a:sym typeface="Noto Sans SC"/>
              </a:rPr>
              <a:t>函数级能力 2024 已饱和；仓库级修复 2025-26 仍每季度抬升</a:t>
            </a:r>
            <a:endParaRPr lang="en-US" sz="1100"/>
          </a:p>
        </p:txBody>
      </p:sp>
      <p:sp>
        <p:nvSpPr>
          <p:cNvPr id="76" name="AutoShape 76"/>
          <p:cNvSpPr/>
          <p:nvPr/>
        </p:nvSpPr>
        <p:spPr>
          <a:xfrm>
            <a:off x="7823200" y="4660900"/>
            <a:ext cx="76200" cy="762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7" name="AutoShape 77"/>
          <p:cNvSpPr/>
          <p:nvPr/>
        </p:nvSpPr>
        <p:spPr>
          <a:xfrm>
            <a:off x="8001000" y="4622800"/>
            <a:ext cx="35052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国产进入第一梯队</a:t>
            </a:r>
            <a:endParaRPr lang="en-US" sz="1100"/>
          </a:p>
        </p:txBody>
      </p:sp>
      <p:sp>
        <p:nvSpPr>
          <p:cNvPr id="78" name="AutoShape 78"/>
          <p:cNvSpPr/>
          <p:nvPr/>
        </p:nvSpPr>
        <p:spPr>
          <a:xfrm>
            <a:off x="8001000" y="4838700"/>
            <a:ext cx="3505200" cy="381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0" i="0" u="none" strike="noStrike" dirty="0">
                <a:latin typeface="Noto Sans SC"/>
                <a:ea typeface="Noto Sans SC"/>
                <a:cs typeface="Noto Sans SC"/>
                <a:sym typeface="Noto Sans SC"/>
              </a:rPr>
              <a:t>2026.02 </a:t>
            </a:r>
            <a:r>
              <a:rPr lang="en-US" sz="1000" b="0" i="0" u="none" strike="noStrike" dirty="0" err="1">
                <a:latin typeface="Noto Sans SC"/>
                <a:ea typeface="Noto Sans SC"/>
                <a:cs typeface="Noto Sans SC"/>
                <a:sym typeface="Noto Sans SC"/>
              </a:rPr>
              <a:t>统一框架批次五模型挤在</a:t>
            </a:r>
            <a:r>
              <a:rPr lang="en-US" sz="1000" b="0" i="0" u="none" strike="noStrike" dirty="0">
                <a:latin typeface="Noto Sans SC"/>
                <a:ea typeface="Noto Sans SC"/>
                <a:cs typeface="Noto Sans SC"/>
                <a:sym typeface="Noto Sans SC"/>
              </a:rPr>
              <a:t> 72.8–76.8；自报口径 </a:t>
            </a:r>
            <a:r>
              <a:rPr lang="en-US" sz="1000" b="0" i="0" u="none" strike="noStrike" dirty="0" err="1">
                <a:latin typeface="Noto Sans SC"/>
                <a:ea typeface="Noto Sans SC"/>
                <a:cs typeface="Noto Sans SC"/>
                <a:sym typeface="Noto Sans SC"/>
              </a:rPr>
              <a:t>MiniMax</a:t>
            </a:r>
            <a:r>
              <a:rPr lang="en-US" sz="1000" b="0" i="0" u="none" strike="noStrike" dirty="0">
                <a:latin typeface="Noto Sans SC"/>
                <a:ea typeface="Noto Sans SC"/>
                <a:cs typeface="Noto Sans SC"/>
                <a:sym typeface="Noto Sans SC"/>
              </a:rPr>
              <a:t> M2.5 80.2、GLM-5 77.8、Kimi K2.5 76.8，已进第一梯队</a:t>
            </a:r>
          </a:p>
        </p:txBody>
      </p:sp>
      <p:sp>
        <p:nvSpPr>
          <p:cNvPr id="79" name="AutoShape 79"/>
          <p:cNvSpPr/>
          <p:nvPr/>
        </p:nvSpPr>
        <p:spPr>
          <a:xfrm>
            <a:off x="7823200" y="5397500"/>
            <a:ext cx="76200" cy="762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0" name="AutoShape 80"/>
          <p:cNvSpPr/>
          <p:nvPr/>
        </p:nvSpPr>
        <p:spPr>
          <a:xfrm>
            <a:off x="8001000" y="5359400"/>
            <a:ext cx="35052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对本项目的意义</a:t>
            </a:r>
            <a:endParaRPr lang="en-US" sz="1100"/>
          </a:p>
        </p:txBody>
      </p:sp>
      <p:sp>
        <p:nvSpPr>
          <p:cNvPr id="81" name="AutoShape 81"/>
          <p:cNvSpPr/>
          <p:nvPr/>
        </p:nvSpPr>
        <p:spPr>
          <a:xfrm>
            <a:off x="8001000" y="5575300"/>
            <a:ext cx="3505200" cy="381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0" i="0" u="none" strike="noStrike">
                <a:solidFill>
                  <a:srgbClr val="5B6770"/>
                </a:solidFill>
                <a:latin typeface="Noto Sans SC"/>
                <a:ea typeface="Noto Sans SC"/>
                <a:cs typeface="Noto Sans SC"/>
                <a:sym typeface="Noto Sans SC"/>
              </a:rPr>
              <a:t>外部模型能力是可替换底座：架构做“</a:t>
            </a:r>
            <a:r>
              <a:rPr lang="en-US" sz="1000" b="0" i="0" u="none" strike="noStrike" dirty="0" err="1">
                <a:solidFill>
                  <a:srgbClr val="5B6770"/>
                </a:solidFill>
                <a:latin typeface="Noto Sans SC"/>
                <a:ea typeface="Noto Sans SC"/>
                <a:cs typeface="Noto Sans SC"/>
                <a:sym typeface="Noto Sans SC"/>
              </a:rPr>
              <a:t>裁决者</a:t>
            </a:r>
            <a:r>
              <a:rPr lang="en-US" sz="1000" b="0" i="0" u="none" strike="noStrike" dirty="0">
                <a:solidFill>
                  <a:srgbClr val="5B6770"/>
                </a:solidFill>
                <a:latin typeface="Noto Sans SC"/>
                <a:ea typeface="Noto Sans SC"/>
                <a:cs typeface="Noto Sans SC"/>
                <a:sym typeface="Noto Sans SC"/>
              </a:rPr>
              <a:t>”，</a:t>
            </a:r>
            <a:r>
              <a:rPr lang="en-US" sz="1000" b="0" i="0" u="none" strike="noStrike" dirty="0" err="1">
                <a:solidFill>
                  <a:srgbClr val="5B6770"/>
                </a:solidFill>
                <a:latin typeface="Noto Sans SC"/>
                <a:ea typeface="Noto Sans SC"/>
                <a:cs typeface="Noto Sans SC"/>
                <a:sym typeface="Noto Sans SC"/>
              </a:rPr>
              <a:t>不绑定单一模型，能力进步直接受益</a:t>
            </a:r>
            <a:endParaRPr lang="en-US" sz="1100" dirty="0"/>
          </a:p>
        </p:txBody>
      </p:sp>
      <p:sp>
        <p:nvSpPr>
          <p:cNvPr id="82" name="AutoShape 82"/>
          <p:cNvSpPr/>
          <p:nvPr/>
        </p:nvSpPr>
        <p:spPr>
          <a:xfrm>
            <a:off x="685800" y="6070600"/>
            <a:ext cx="10820400" cy="4826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850" b="0" i="0" u="none" strike="noStrike">
                <a:latin typeface="Noto Sans SC"/>
                <a:ea typeface="Noto Sans SC"/>
                <a:cs typeface="Noto Sans SC"/>
                <a:sym typeface="Noto Sans SC"/>
              </a:rPr>
              <a:t>来源：SWE-bench Verified 各厂官方发布（2026-09 检索）；统一框架为 mini-SWE-agent v2.0.0（swebench.com，2026-02-17），自报框架普遍高 4–6 分，标 * 分列</a:t>
            </a:r>
          </a:p>
          <a:p>
            <a:pPr marL="0" indent="0" algn="l">
              <a:lnSpc>
                <a:spcPct val="120833"/>
              </a:lnSpc>
              <a:defRPr/>
            </a:pPr>
            <a:r>
              <a:rPr lang="en-US" sz="850" b="0" i="0" u="none" strike="noStrike">
                <a:latin typeface="Noto Sans SC"/>
                <a:ea typeface="Noto Sans SC"/>
                <a:cs typeface="Noto Sans SC"/>
                <a:sym typeface="Noto Sans SC"/>
              </a:rPr>
              <a:t>官方分：GPT-4o 33.2 / Claude 3.5 Sonnet 33.4→49.0 / DeepSeek-V3 42.0 / Gemini 2.5 Pro 63.8 / Claude Opus 4 72.5 / Qwen3-Coder 69.6 / GPT-5 74.9 / GLM-4.6 68.0 / Claude Opus 4.5 80.9</a:t>
            </a:r>
          </a:p>
          <a:p>
            <a:pPr marL="0" indent="0" algn="l">
              <a:lnSpc>
                <a:spcPct val="120833"/>
              </a:lnSpc>
              <a:defRPr/>
            </a:pPr>
            <a:r>
              <a:rPr lang="en-US" sz="850" b="0" i="0" u="none" strike="noStrike">
                <a:latin typeface="Noto Sans SC"/>
                <a:ea typeface="Noto Sans SC"/>
                <a:cs typeface="Noto Sans SC"/>
                <a:sym typeface="Noto Sans SC"/>
              </a:rPr>
              <a:t>HumanEval 取各代官方报告（Codex 28.8 → Qwen2.5-Coder-32B 92.7）；Grok 4 为 xAI 自报口径（72–75）</a:t>
            </a:r>
          </a:p>
        </p:txBody>
      </p:sp>
      <p:sp>
        <p:nvSpPr>
          <p:cNvPr id="83" name="Rectangle 82"/>
          <p:cNvSpPr/>
          <p:nvPr/>
        </p:nvSpPr>
        <p:spPr>
          <a:xfrm>
            <a:off x="1051560" y="1737360"/>
            <a:ext cx="6172200" cy="26060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4" name="Connector 83"/>
          <p:cNvCxnSpPr/>
          <p:nvPr/>
        </p:nvCxnSpPr>
        <p:spPr>
          <a:xfrm>
            <a:off x="1051560" y="4126230"/>
            <a:ext cx="6172200" cy="0"/>
          </a:xfrm>
          <a:prstGeom prst="line">
            <a:avLst/>
          </a:prstGeom>
          <a:ln w="9525">
            <a:solidFill>
              <a:srgbClr val="E2E6EA"/>
            </a:solidFill>
          </a:ln>
          <a:effectLst/>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548639" y="4057650"/>
            <a:ext cx="384048" cy="164592"/>
          </a:xfrm>
          <a:prstGeom prst="rect">
            <a:avLst/>
          </a:prstGeom>
          <a:noFill/>
        </p:spPr>
        <p:txBody>
          <a:bodyPr wrap="none" lIns="0" tIns="0" rIns="0" bIns="0">
            <a:spAutoFit/>
          </a:bodyPr>
          <a:lstStyle/>
          <a:p>
            <a:pPr algn="r"/>
            <a:r>
              <a:rPr sz="800" b="0">
                <a:solidFill>
                  <a:srgbClr val="949EA6"/>
                </a:solidFill>
                <a:latin typeface="Roboto Mono"/>
                <a:ea typeface="思源黑体"/>
              </a:rPr>
              <a:t>30%</a:t>
            </a:r>
          </a:p>
        </p:txBody>
      </p:sp>
      <p:cxnSp>
        <p:nvCxnSpPr>
          <p:cNvPr id="86" name="Connector 85"/>
          <p:cNvCxnSpPr/>
          <p:nvPr/>
        </p:nvCxnSpPr>
        <p:spPr>
          <a:xfrm>
            <a:off x="1051560" y="3691889"/>
            <a:ext cx="6172200" cy="0"/>
          </a:xfrm>
          <a:prstGeom prst="line">
            <a:avLst/>
          </a:prstGeom>
          <a:ln w="9525">
            <a:solidFill>
              <a:srgbClr val="E2E6EA"/>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639" y="3623309"/>
            <a:ext cx="384048" cy="164592"/>
          </a:xfrm>
          <a:prstGeom prst="rect">
            <a:avLst/>
          </a:prstGeom>
          <a:noFill/>
        </p:spPr>
        <p:txBody>
          <a:bodyPr wrap="none" lIns="0" tIns="0" rIns="0" bIns="0">
            <a:spAutoFit/>
          </a:bodyPr>
          <a:lstStyle/>
          <a:p>
            <a:pPr algn="r"/>
            <a:r>
              <a:rPr sz="800" b="0">
                <a:solidFill>
                  <a:srgbClr val="949EA6"/>
                </a:solidFill>
                <a:latin typeface="Roboto Mono"/>
                <a:ea typeface="思源黑体"/>
              </a:rPr>
              <a:t>40%</a:t>
            </a:r>
          </a:p>
        </p:txBody>
      </p:sp>
      <p:cxnSp>
        <p:nvCxnSpPr>
          <p:cNvPr id="88" name="Connector 87"/>
          <p:cNvCxnSpPr/>
          <p:nvPr/>
        </p:nvCxnSpPr>
        <p:spPr>
          <a:xfrm>
            <a:off x="1051560" y="3257550"/>
            <a:ext cx="6172200" cy="0"/>
          </a:xfrm>
          <a:prstGeom prst="line">
            <a:avLst/>
          </a:prstGeom>
          <a:ln w="9525">
            <a:solidFill>
              <a:srgbClr val="E2E6EA"/>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48639" y="3188970"/>
            <a:ext cx="384048" cy="164592"/>
          </a:xfrm>
          <a:prstGeom prst="rect">
            <a:avLst/>
          </a:prstGeom>
          <a:noFill/>
        </p:spPr>
        <p:txBody>
          <a:bodyPr wrap="none" lIns="0" tIns="0" rIns="0" bIns="0">
            <a:spAutoFit/>
          </a:bodyPr>
          <a:lstStyle/>
          <a:p>
            <a:pPr algn="r"/>
            <a:r>
              <a:rPr sz="800" b="0">
                <a:solidFill>
                  <a:srgbClr val="949EA6"/>
                </a:solidFill>
                <a:latin typeface="Roboto Mono"/>
                <a:ea typeface="思源黑体"/>
              </a:rPr>
              <a:t>50%</a:t>
            </a:r>
          </a:p>
        </p:txBody>
      </p:sp>
      <p:cxnSp>
        <p:nvCxnSpPr>
          <p:cNvPr id="90" name="Connector 89"/>
          <p:cNvCxnSpPr/>
          <p:nvPr/>
        </p:nvCxnSpPr>
        <p:spPr>
          <a:xfrm>
            <a:off x="1051560" y="2823210"/>
            <a:ext cx="6172200" cy="0"/>
          </a:xfrm>
          <a:prstGeom prst="line">
            <a:avLst/>
          </a:prstGeom>
          <a:ln w="9525">
            <a:solidFill>
              <a:srgbClr val="E2E6EA"/>
            </a:solidFill>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548639" y="2754629"/>
            <a:ext cx="384048" cy="164592"/>
          </a:xfrm>
          <a:prstGeom prst="rect">
            <a:avLst/>
          </a:prstGeom>
          <a:noFill/>
        </p:spPr>
        <p:txBody>
          <a:bodyPr wrap="none" lIns="0" tIns="0" rIns="0" bIns="0">
            <a:spAutoFit/>
          </a:bodyPr>
          <a:lstStyle/>
          <a:p>
            <a:pPr algn="r"/>
            <a:r>
              <a:rPr sz="800" b="0">
                <a:solidFill>
                  <a:srgbClr val="949EA6"/>
                </a:solidFill>
                <a:latin typeface="Roboto Mono"/>
                <a:ea typeface="思源黑体"/>
              </a:rPr>
              <a:t>60%</a:t>
            </a:r>
          </a:p>
        </p:txBody>
      </p:sp>
      <p:cxnSp>
        <p:nvCxnSpPr>
          <p:cNvPr id="92" name="Connector 91"/>
          <p:cNvCxnSpPr/>
          <p:nvPr/>
        </p:nvCxnSpPr>
        <p:spPr>
          <a:xfrm>
            <a:off x="1051560" y="2388870"/>
            <a:ext cx="6172200" cy="0"/>
          </a:xfrm>
          <a:prstGeom prst="line">
            <a:avLst/>
          </a:prstGeom>
          <a:ln w="9525">
            <a:solidFill>
              <a:srgbClr val="E2E6EA"/>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48639" y="2320289"/>
            <a:ext cx="384048" cy="164592"/>
          </a:xfrm>
          <a:prstGeom prst="rect">
            <a:avLst/>
          </a:prstGeom>
          <a:noFill/>
        </p:spPr>
        <p:txBody>
          <a:bodyPr wrap="none" lIns="0" tIns="0" rIns="0" bIns="0">
            <a:spAutoFit/>
          </a:bodyPr>
          <a:lstStyle/>
          <a:p>
            <a:pPr algn="r"/>
            <a:r>
              <a:rPr sz="800" b="0">
                <a:solidFill>
                  <a:srgbClr val="949EA6"/>
                </a:solidFill>
                <a:latin typeface="Roboto Mono"/>
                <a:ea typeface="思源黑体"/>
              </a:rPr>
              <a:t>70%</a:t>
            </a:r>
          </a:p>
        </p:txBody>
      </p:sp>
      <p:cxnSp>
        <p:nvCxnSpPr>
          <p:cNvPr id="94" name="Connector 93"/>
          <p:cNvCxnSpPr/>
          <p:nvPr/>
        </p:nvCxnSpPr>
        <p:spPr>
          <a:xfrm>
            <a:off x="1051560" y="1954530"/>
            <a:ext cx="6172200" cy="0"/>
          </a:xfrm>
          <a:prstGeom prst="line">
            <a:avLst/>
          </a:prstGeom>
          <a:ln w="9525">
            <a:solidFill>
              <a:srgbClr val="E2E6EA"/>
            </a:solidFill>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548639" y="1885950"/>
            <a:ext cx="384048" cy="164592"/>
          </a:xfrm>
          <a:prstGeom prst="rect">
            <a:avLst/>
          </a:prstGeom>
          <a:noFill/>
        </p:spPr>
        <p:txBody>
          <a:bodyPr wrap="none" lIns="0" tIns="0" rIns="0" bIns="0">
            <a:spAutoFit/>
          </a:bodyPr>
          <a:lstStyle/>
          <a:p>
            <a:pPr algn="r"/>
            <a:r>
              <a:rPr sz="800" b="0">
                <a:solidFill>
                  <a:srgbClr val="949EA6"/>
                </a:solidFill>
                <a:latin typeface="Roboto Mono"/>
                <a:ea typeface="思源黑体"/>
              </a:rPr>
              <a:t>80%</a:t>
            </a:r>
          </a:p>
        </p:txBody>
      </p:sp>
      <p:cxnSp>
        <p:nvCxnSpPr>
          <p:cNvPr id="96" name="Connector 95"/>
          <p:cNvCxnSpPr/>
          <p:nvPr/>
        </p:nvCxnSpPr>
        <p:spPr>
          <a:xfrm>
            <a:off x="1051560" y="4343400"/>
            <a:ext cx="6172200" cy="0"/>
          </a:xfrm>
          <a:prstGeom prst="line">
            <a:avLst/>
          </a:prstGeom>
          <a:ln w="12700">
            <a:solidFill>
              <a:srgbClr val="949EA6"/>
            </a:solidFill>
          </a:ln>
          <a:effectLst/>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051560" y="4343400"/>
            <a:ext cx="0" cy="45720"/>
          </a:xfrm>
          <a:prstGeom prst="line">
            <a:avLst/>
          </a:prstGeom>
          <a:ln w="12700">
            <a:solidFill>
              <a:srgbClr val="949EA6"/>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731519" y="4407408"/>
            <a:ext cx="640080" cy="164592"/>
          </a:xfrm>
          <a:prstGeom prst="rect">
            <a:avLst/>
          </a:prstGeom>
          <a:noFill/>
        </p:spPr>
        <p:txBody>
          <a:bodyPr wrap="none" lIns="0" tIns="0" rIns="0" bIns="0">
            <a:spAutoFit/>
          </a:bodyPr>
          <a:lstStyle/>
          <a:p>
            <a:pPr algn="ctr"/>
            <a:r>
              <a:rPr sz="800" b="0">
                <a:solidFill>
                  <a:srgbClr val="949EA6"/>
                </a:solidFill>
                <a:latin typeface="Roboto Mono"/>
                <a:ea typeface="思源黑体"/>
              </a:rPr>
              <a:t>2024.01</a:t>
            </a:r>
          </a:p>
        </p:txBody>
      </p:sp>
      <p:cxnSp>
        <p:nvCxnSpPr>
          <p:cNvPr id="99" name="Connector 98"/>
          <p:cNvCxnSpPr/>
          <p:nvPr/>
        </p:nvCxnSpPr>
        <p:spPr>
          <a:xfrm>
            <a:off x="2475913" y="4343400"/>
            <a:ext cx="0" cy="45720"/>
          </a:xfrm>
          <a:prstGeom prst="line">
            <a:avLst/>
          </a:prstGeom>
          <a:ln w="12700">
            <a:solidFill>
              <a:srgbClr val="949EA6"/>
            </a:solidFill>
          </a:ln>
          <a:effectLst/>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2155873" y="4407408"/>
            <a:ext cx="640080" cy="164592"/>
          </a:xfrm>
          <a:prstGeom prst="rect">
            <a:avLst/>
          </a:prstGeom>
          <a:noFill/>
        </p:spPr>
        <p:txBody>
          <a:bodyPr wrap="none" lIns="0" tIns="0" rIns="0" bIns="0">
            <a:spAutoFit/>
          </a:bodyPr>
          <a:lstStyle/>
          <a:p>
            <a:pPr algn="ctr"/>
            <a:r>
              <a:rPr sz="800" b="0">
                <a:solidFill>
                  <a:srgbClr val="949EA6"/>
                </a:solidFill>
                <a:latin typeface="Roboto Mono"/>
                <a:ea typeface="思源黑体"/>
              </a:rPr>
              <a:t>2024.07</a:t>
            </a:r>
          </a:p>
        </p:txBody>
      </p:sp>
      <p:cxnSp>
        <p:nvCxnSpPr>
          <p:cNvPr id="101" name="Connector 100"/>
          <p:cNvCxnSpPr/>
          <p:nvPr/>
        </p:nvCxnSpPr>
        <p:spPr>
          <a:xfrm>
            <a:off x="3900267" y="4343400"/>
            <a:ext cx="0" cy="45720"/>
          </a:xfrm>
          <a:prstGeom prst="line">
            <a:avLst/>
          </a:prstGeom>
          <a:ln w="12700">
            <a:solidFill>
              <a:srgbClr val="949EA6"/>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3580227" y="4407408"/>
            <a:ext cx="640080" cy="164592"/>
          </a:xfrm>
          <a:prstGeom prst="rect">
            <a:avLst/>
          </a:prstGeom>
          <a:noFill/>
        </p:spPr>
        <p:txBody>
          <a:bodyPr wrap="none" lIns="0" tIns="0" rIns="0" bIns="0">
            <a:spAutoFit/>
          </a:bodyPr>
          <a:lstStyle/>
          <a:p>
            <a:pPr algn="ctr"/>
            <a:r>
              <a:rPr sz="800" b="0">
                <a:solidFill>
                  <a:srgbClr val="949EA6"/>
                </a:solidFill>
                <a:latin typeface="Roboto Mono"/>
                <a:ea typeface="思源黑体"/>
              </a:rPr>
              <a:t>2025.01</a:t>
            </a:r>
          </a:p>
        </p:txBody>
      </p:sp>
      <p:cxnSp>
        <p:nvCxnSpPr>
          <p:cNvPr id="103" name="Connector 102"/>
          <p:cNvCxnSpPr/>
          <p:nvPr/>
        </p:nvCxnSpPr>
        <p:spPr>
          <a:xfrm>
            <a:off x="5324621" y="4343400"/>
            <a:ext cx="0" cy="45720"/>
          </a:xfrm>
          <a:prstGeom prst="line">
            <a:avLst/>
          </a:prstGeom>
          <a:ln w="12700">
            <a:solidFill>
              <a:srgbClr val="949EA6"/>
            </a:solidFill>
          </a:ln>
          <a:effectLst/>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5004581" y="4407408"/>
            <a:ext cx="640080" cy="164592"/>
          </a:xfrm>
          <a:prstGeom prst="rect">
            <a:avLst/>
          </a:prstGeom>
          <a:noFill/>
        </p:spPr>
        <p:txBody>
          <a:bodyPr wrap="none" lIns="0" tIns="0" rIns="0" bIns="0">
            <a:spAutoFit/>
          </a:bodyPr>
          <a:lstStyle/>
          <a:p>
            <a:pPr algn="ctr"/>
            <a:r>
              <a:rPr sz="800" b="0">
                <a:solidFill>
                  <a:srgbClr val="949EA6"/>
                </a:solidFill>
                <a:latin typeface="Roboto Mono"/>
                <a:ea typeface="思源黑体"/>
              </a:rPr>
              <a:t>2025.07</a:t>
            </a:r>
          </a:p>
        </p:txBody>
      </p:sp>
      <p:cxnSp>
        <p:nvCxnSpPr>
          <p:cNvPr id="105" name="Connector 104"/>
          <p:cNvCxnSpPr/>
          <p:nvPr/>
        </p:nvCxnSpPr>
        <p:spPr>
          <a:xfrm>
            <a:off x="6748975" y="4343400"/>
            <a:ext cx="0" cy="45720"/>
          </a:xfrm>
          <a:prstGeom prst="line">
            <a:avLst/>
          </a:prstGeom>
          <a:ln w="12700">
            <a:solidFill>
              <a:srgbClr val="949EA6"/>
            </a:solidFill>
          </a:ln>
          <a:effectLst/>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6428935" y="4407408"/>
            <a:ext cx="640080" cy="164592"/>
          </a:xfrm>
          <a:prstGeom prst="rect">
            <a:avLst/>
          </a:prstGeom>
          <a:noFill/>
        </p:spPr>
        <p:txBody>
          <a:bodyPr wrap="none" lIns="0" tIns="0" rIns="0" bIns="0">
            <a:spAutoFit/>
          </a:bodyPr>
          <a:lstStyle/>
          <a:p>
            <a:pPr algn="ctr"/>
            <a:r>
              <a:rPr sz="800" b="0">
                <a:solidFill>
                  <a:srgbClr val="949EA6"/>
                </a:solidFill>
                <a:latin typeface="Roboto Mono"/>
                <a:ea typeface="思源黑体"/>
              </a:rPr>
              <a:t>2026.01</a:t>
            </a:r>
          </a:p>
        </p:txBody>
      </p:sp>
      <p:sp>
        <p:nvSpPr>
          <p:cNvPr id="107" name="Oval 106"/>
          <p:cNvSpPr/>
          <p:nvPr/>
        </p:nvSpPr>
        <p:spPr>
          <a:xfrm>
            <a:off x="1950837" y="3936949"/>
            <a:ext cx="100584" cy="100584"/>
          </a:xfrm>
          <a:prstGeom prst="ellipse">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1219571" y="3880887"/>
            <a:ext cx="754380" cy="164592"/>
          </a:xfrm>
          <a:prstGeom prst="rect">
            <a:avLst/>
          </a:prstGeom>
          <a:noFill/>
        </p:spPr>
        <p:txBody>
          <a:bodyPr wrap="none" lIns="0" tIns="0" rIns="0" bIns="0">
            <a:spAutoFit/>
          </a:bodyPr>
          <a:lstStyle/>
          <a:p>
            <a:pPr algn="r"/>
            <a:r>
              <a:rPr sz="750" b="0" dirty="0">
                <a:solidFill>
                  <a:srgbClr val="5B6770"/>
                </a:solidFill>
                <a:latin typeface="Roboto Mono"/>
                <a:ea typeface="思源黑体"/>
              </a:rPr>
              <a:t>GPT-4o 33.2</a:t>
            </a:r>
          </a:p>
        </p:txBody>
      </p:sp>
      <p:sp>
        <p:nvSpPr>
          <p:cNvPr id="109" name="Oval 108"/>
          <p:cNvSpPr/>
          <p:nvPr/>
        </p:nvSpPr>
        <p:spPr>
          <a:xfrm>
            <a:off x="2188229" y="3928262"/>
            <a:ext cx="100584" cy="100584"/>
          </a:xfrm>
          <a:prstGeom prst="ellipse">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2238521" y="3983481"/>
            <a:ext cx="1508760" cy="164592"/>
          </a:xfrm>
          <a:prstGeom prst="rect">
            <a:avLst/>
          </a:prstGeom>
          <a:noFill/>
        </p:spPr>
        <p:txBody>
          <a:bodyPr wrap="none" lIns="0" tIns="0" rIns="0" bIns="0">
            <a:spAutoFit/>
          </a:bodyPr>
          <a:lstStyle/>
          <a:p>
            <a:pPr algn="l"/>
            <a:r>
              <a:rPr sz="750" b="0" dirty="0">
                <a:solidFill>
                  <a:srgbClr val="5B6770"/>
                </a:solidFill>
                <a:latin typeface="Roboto Mono"/>
                <a:ea typeface="思源黑体"/>
              </a:rPr>
              <a:t>Claude 3.5 Sonnet 33.4</a:t>
            </a:r>
          </a:p>
        </p:txBody>
      </p:sp>
      <p:sp>
        <p:nvSpPr>
          <p:cNvPr id="111" name="Oval 110"/>
          <p:cNvSpPr/>
          <p:nvPr/>
        </p:nvSpPr>
        <p:spPr>
          <a:xfrm>
            <a:off x="3137798" y="3250691"/>
            <a:ext cx="100584" cy="100584"/>
          </a:xfrm>
          <a:prstGeom prst="ellipse">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3261242" y="3246120"/>
            <a:ext cx="1851660" cy="164592"/>
          </a:xfrm>
          <a:prstGeom prst="rect">
            <a:avLst/>
          </a:prstGeom>
          <a:noFill/>
        </p:spPr>
        <p:txBody>
          <a:bodyPr wrap="none" lIns="0" tIns="0" rIns="0" bIns="0">
            <a:spAutoFit/>
          </a:bodyPr>
          <a:lstStyle/>
          <a:p>
            <a:pPr algn="l"/>
            <a:r>
              <a:rPr sz="750" b="0">
                <a:solidFill>
                  <a:srgbClr val="5B6770"/>
                </a:solidFill>
                <a:latin typeface="Roboto Mono"/>
                <a:ea typeface="思源黑体"/>
              </a:rPr>
              <a:t>Claude 3.5 Sonnet(new) 49.0</a:t>
            </a:r>
          </a:p>
        </p:txBody>
      </p:sp>
      <p:sp>
        <p:nvSpPr>
          <p:cNvPr id="113" name="Oval 112"/>
          <p:cNvSpPr/>
          <p:nvPr/>
        </p:nvSpPr>
        <p:spPr>
          <a:xfrm>
            <a:off x="3612583" y="3554729"/>
            <a:ext cx="100584" cy="100584"/>
          </a:xfrm>
          <a:prstGeom prst="ellipse">
            <a:avLst/>
          </a:prstGeom>
          <a:solidFill>
            <a:srgbClr val="D9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3633157" y="3705488"/>
            <a:ext cx="1097280" cy="164592"/>
          </a:xfrm>
          <a:prstGeom prst="rect">
            <a:avLst/>
          </a:prstGeom>
          <a:noFill/>
        </p:spPr>
        <p:txBody>
          <a:bodyPr wrap="none" lIns="0" tIns="0" rIns="0" bIns="0">
            <a:spAutoFit/>
          </a:bodyPr>
          <a:lstStyle/>
          <a:p>
            <a:pPr algn="l"/>
            <a:r>
              <a:rPr sz="750" b="0" dirty="0">
                <a:solidFill>
                  <a:srgbClr val="5B6770"/>
                </a:solidFill>
                <a:latin typeface="Roboto Mono"/>
                <a:ea typeface="思源黑体"/>
              </a:rPr>
              <a:t>DeepSeek-V3 42.0</a:t>
            </a:r>
          </a:p>
        </p:txBody>
      </p:sp>
      <p:sp>
        <p:nvSpPr>
          <p:cNvPr id="115" name="Oval 114"/>
          <p:cNvSpPr/>
          <p:nvPr/>
        </p:nvSpPr>
        <p:spPr>
          <a:xfrm>
            <a:off x="4324760" y="2607868"/>
            <a:ext cx="100584" cy="100584"/>
          </a:xfrm>
          <a:prstGeom prst="ellipse">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4181797" y="2756623"/>
            <a:ext cx="1303020" cy="164592"/>
          </a:xfrm>
          <a:prstGeom prst="rect">
            <a:avLst/>
          </a:prstGeom>
          <a:noFill/>
        </p:spPr>
        <p:txBody>
          <a:bodyPr wrap="none" lIns="0" tIns="0" rIns="0" bIns="0">
            <a:spAutoFit/>
          </a:bodyPr>
          <a:lstStyle/>
          <a:p>
            <a:pPr algn="l"/>
            <a:r>
              <a:rPr sz="750" b="0" dirty="0">
                <a:solidFill>
                  <a:srgbClr val="5B6770"/>
                </a:solidFill>
                <a:latin typeface="Roboto Mono"/>
                <a:ea typeface="思源黑体"/>
              </a:rPr>
              <a:t>Gemini 2.5 Pro 63.8</a:t>
            </a:r>
          </a:p>
        </p:txBody>
      </p:sp>
      <p:sp>
        <p:nvSpPr>
          <p:cNvPr id="117" name="Oval 116"/>
          <p:cNvSpPr/>
          <p:nvPr/>
        </p:nvSpPr>
        <p:spPr>
          <a:xfrm>
            <a:off x="4799544" y="2229993"/>
            <a:ext cx="100584" cy="100584"/>
          </a:xfrm>
          <a:prstGeom prst="ellipse">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3822975" y="2096732"/>
            <a:ext cx="1234439" cy="164592"/>
          </a:xfrm>
          <a:prstGeom prst="rect">
            <a:avLst/>
          </a:prstGeom>
          <a:noFill/>
        </p:spPr>
        <p:txBody>
          <a:bodyPr wrap="none" lIns="0" tIns="0" rIns="0" bIns="0">
            <a:spAutoFit/>
          </a:bodyPr>
          <a:lstStyle/>
          <a:p>
            <a:pPr algn="r"/>
            <a:r>
              <a:rPr sz="750" b="0" dirty="0">
                <a:solidFill>
                  <a:srgbClr val="5B6770"/>
                </a:solidFill>
                <a:latin typeface="Roboto Mono"/>
                <a:ea typeface="思源黑体"/>
              </a:rPr>
              <a:t>Claude Opus 4 72.5</a:t>
            </a:r>
          </a:p>
        </p:txBody>
      </p:sp>
      <p:sp>
        <p:nvSpPr>
          <p:cNvPr id="119" name="Oval 118"/>
          <p:cNvSpPr/>
          <p:nvPr/>
        </p:nvSpPr>
        <p:spPr>
          <a:xfrm>
            <a:off x="5274329" y="2355951"/>
            <a:ext cx="100584" cy="100584"/>
          </a:xfrm>
          <a:prstGeom prst="ellipse">
            <a:avLst/>
          </a:prstGeom>
          <a:solidFill>
            <a:srgbClr val="D9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4705760" y="2497328"/>
            <a:ext cx="1097280" cy="164592"/>
          </a:xfrm>
          <a:prstGeom prst="rect">
            <a:avLst/>
          </a:prstGeom>
          <a:noFill/>
        </p:spPr>
        <p:txBody>
          <a:bodyPr wrap="none" lIns="0" tIns="0" rIns="0" bIns="0">
            <a:spAutoFit/>
          </a:bodyPr>
          <a:lstStyle/>
          <a:p>
            <a:pPr algn="r"/>
            <a:r>
              <a:rPr sz="750" b="0" dirty="0">
                <a:solidFill>
                  <a:srgbClr val="5B6770"/>
                </a:solidFill>
                <a:latin typeface="Roboto Mono"/>
                <a:ea typeface="思源黑体"/>
              </a:rPr>
              <a:t>Qwen3-Coder 69.6</a:t>
            </a:r>
          </a:p>
        </p:txBody>
      </p:sp>
      <p:sp>
        <p:nvSpPr>
          <p:cNvPr id="121" name="Oval 120"/>
          <p:cNvSpPr/>
          <p:nvPr/>
        </p:nvSpPr>
        <p:spPr>
          <a:xfrm>
            <a:off x="5274329" y="2251710"/>
            <a:ext cx="100584" cy="100584"/>
          </a:xfrm>
          <a:prstGeom prst="ellipse">
            <a:avLst/>
          </a:prstGeom>
          <a:solidFill>
            <a:srgbClr val="FAF8F3"/>
          </a:solidFill>
          <a:ln w="19050">
            <a:solidFill>
              <a:srgbClr val="4A7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5397773" y="2228850"/>
            <a:ext cx="501740" cy="115416"/>
          </a:xfrm>
          <a:prstGeom prst="rect">
            <a:avLst/>
          </a:prstGeom>
          <a:noFill/>
        </p:spPr>
        <p:txBody>
          <a:bodyPr wrap="none" lIns="0" tIns="0" rIns="0" bIns="0">
            <a:spAutoFit/>
          </a:bodyPr>
          <a:lstStyle/>
          <a:p>
            <a:pPr algn="l"/>
            <a:r>
              <a:rPr sz="750" b="0" dirty="0">
                <a:solidFill>
                  <a:srgbClr val="5B6770"/>
                </a:solidFill>
                <a:latin typeface="Roboto Mono"/>
                <a:ea typeface="思源黑体"/>
              </a:rPr>
              <a:t>Grok 4 72.0</a:t>
            </a:r>
          </a:p>
        </p:txBody>
      </p:sp>
      <p:sp>
        <p:nvSpPr>
          <p:cNvPr id="123" name="Oval 122"/>
          <p:cNvSpPr/>
          <p:nvPr/>
        </p:nvSpPr>
        <p:spPr>
          <a:xfrm>
            <a:off x="5511721" y="2125751"/>
            <a:ext cx="100584" cy="100584"/>
          </a:xfrm>
          <a:prstGeom prst="ellipse">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5349240" y="2027543"/>
            <a:ext cx="685800" cy="164592"/>
          </a:xfrm>
          <a:prstGeom prst="rect">
            <a:avLst/>
          </a:prstGeom>
          <a:noFill/>
        </p:spPr>
        <p:txBody>
          <a:bodyPr wrap="none" lIns="0" tIns="0" rIns="0" bIns="0">
            <a:spAutoFit/>
          </a:bodyPr>
          <a:lstStyle/>
          <a:p>
            <a:pPr algn="l"/>
            <a:r>
              <a:rPr sz="750" b="0" dirty="0">
                <a:solidFill>
                  <a:srgbClr val="5B6770"/>
                </a:solidFill>
                <a:latin typeface="Roboto Mono"/>
                <a:ea typeface="思源黑体"/>
              </a:rPr>
              <a:t>GPT-5 74.9</a:t>
            </a:r>
          </a:p>
        </p:txBody>
      </p:sp>
      <p:sp>
        <p:nvSpPr>
          <p:cNvPr id="125" name="Oval 124"/>
          <p:cNvSpPr/>
          <p:nvPr/>
        </p:nvSpPr>
        <p:spPr>
          <a:xfrm>
            <a:off x="5986506" y="2425446"/>
            <a:ext cx="100584" cy="100584"/>
          </a:xfrm>
          <a:prstGeom prst="ellipse">
            <a:avLst/>
          </a:prstGeom>
          <a:solidFill>
            <a:srgbClr val="D9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5938520" y="2541133"/>
            <a:ext cx="822959" cy="164592"/>
          </a:xfrm>
          <a:prstGeom prst="rect">
            <a:avLst/>
          </a:prstGeom>
          <a:noFill/>
        </p:spPr>
        <p:txBody>
          <a:bodyPr wrap="none" lIns="0" tIns="0" rIns="0" bIns="0">
            <a:spAutoFit/>
          </a:bodyPr>
          <a:lstStyle/>
          <a:p>
            <a:pPr algn="l"/>
            <a:r>
              <a:rPr sz="750" b="0" dirty="0">
                <a:solidFill>
                  <a:srgbClr val="5B6770"/>
                </a:solidFill>
                <a:latin typeface="Roboto Mono"/>
                <a:ea typeface="思源黑体"/>
              </a:rPr>
              <a:t>GLM-4.6 68.0</a:t>
            </a:r>
          </a:p>
        </p:txBody>
      </p:sp>
      <p:sp>
        <p:nvSpPr>
          <p:cNvPr id="127" name="Oval 126"/>
          <p:cNvSpPr/>
          <p:nvPr/>
        </p:nvSpPr>
        <p:spPr>
          <a:xfrm>
            <a:off x="6223898" y="1865147"/>
            <a:ext cx="100584" cy="100584"/>
          </a:xfrm>
          <a:prstGeom prst="ellipse">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4900128" y="1783790"/>
            <a:ext cx="1371600" cy="164592"/>
          </a:xfrm>
          <a:prstGeom prst="rect">
            <a:avLst/>
          </a:prstGeom>
          <a:noFill/>
        </p:spPr>
        <p:txBody>
          <a:bodyPr wrap="none" lIns="0" tIns="0" rIns="0" bIns="0">
            <a:spAutoFit/>
          </a:bodyPr>
          <a:lstStyle/>
          <a:p>
            <a:pPr algn="r"/>
            <a:r>
              <a:rPr sz="750" b="0" dirty="0">
                <a:solidFill>
                  <a:srgbClr val="5B6770"/>
                </a:solidFill>
                <a:latin typeface="Roboto Mono"/>
                <a:ea typeface="思源黑体"/>
              </a:rPr>
              <a:t>Claude Opus 4.5 80.9</a:t>
            </a:r>
          </a:p>
        </p:txBody>
      </p:sp>
      <p:sp>
        <p:nvSpPr>
          <p:cNvPr id="129" name="Rectangle 128"/>
          <p:cNvSpPr/>
          <p:nvPr/>
        </p:nvSpPr>
        <p:spPr>
          <a:xfrm>
            <a:off x="6729984" y="2112264"/>
            <a:ext cx="429768" cy="301752"/>
          </a:xfrm>
          <a:prstGeom prst="rect">
            <a:avLst/>
          </a:prstGeom>
          <a:noFill/>
          <a:ln w="9525">
            <a:solidFill>
              <a:srgbClr val="949E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6812280" y="2135124"/>
            <a:ext cx="91440" cy="91440"/>
          </a:xfrm>
          <a:prstGeom prst="ellipse">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6885432" y="2178558"/>
            <a:ext cx="91440" cy="91440"/>
          </a:xfrm>
          <a:prstGeom prst="ellipse">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6940296" y="2178558"/>
            <a:ext cx="91440" cy="91440"/>
          </a:xfrm>
          <a:prstGeom prst="ellipse">
            <a:avLst/>
          </a:prstGeom>
          <a:solidFill>
            <a:srgbClr val="D9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7022592" y="2187702"/>
            <a:ext cx="91440" cy="91440"/>
          </a:xfrm>
          <a:prstGeom prst="ellipse">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6757416" y="2293315"/>
            <a:ext cx="91440" cy="91440"/>
          </a:xfrm>
          <a:prstGeom prst="ellipse">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6748272" y="2231136"/>
            <a:ext cx="128016" cy="164592"/>
          </a:xfrm>
          <a:prstGeom prst="rect">
            <a:avLst/>
          </a:prstGeom>
          <a:noFill/>
        </p:spPr>
        <p:txBody>
          <a:bodyPr wrap="none" lIns="0" tIns="0" rIns="0" bIns="0">
            <a:spAutoFit/>
          </a:bodyPr>
          <a:lstStyle/>
          <a:p>
            <a:pPr algn="l"/>
            <a:r>
              <a:rPr sz="800" b="0">
                <a:solidFill>
                  <a:srgbClr val="2B2F36"/>
                </a:solidFill>
                <a:latin typeface="思源黑体"/>
                <a:ea typeface="思源黑体"/>
              </a:rPr>
              <a:t>①</a:t>
            </a:r>
          </a:p>
        </p:txBody>
      </p:sp>
      <p:sp>
        <p:nvSpPr>
          <p:cNvPr id="136" name="TextBox 135"/>
          <p:cNvSpPr txBox="1"/>
          <p:nvPr/>
        </p:nvSpPr>
        <p:spPr>
          <a:xfrm>
            <a:off x="6880860" y="2286000"/>
            <a:ext cx="128016" cy="164592"/>
          </a:xfrm>
          <a:prstGeom prst="rect">
            <a:avLst/>
          </a:prstGeom>
          <a:noFill/>
        </p:spPr>
        <p:txBody>
          <a:bodyPr wrap="none" lIns="0" tIns="0" rIns="0" bIns="0">
            <a:spAutoFit/>
          </a:bodyPr>
          <a:lstStyle/>
          <a:p>
            <a:pPr algn="l"/>
            <a:r>
              <a:rPr sz="800" b="0">
                <a:solidFill>
                  <a:srgbClr val="2B2F36"/>
                </a:solidFill>
                <a:latin typeface="思源黑体"/>
                <a:ea typeface="思源黑体"/>
              </a:rPr>
              <a:t>②</a:t>
            </a:r>
          </a:p>
        </p:txBody>
      </p:sp>
      <p:sp>
        <p:nvSpPr>
          <p:cNvPr id="137" name="TextBox 136"/>
          <p:cNvSpPr txBox="1"/>
          <p:nvPr/>
        </p:nvSpPr>
        <p:spPr>
          <a:xfrm>
            <a:off x="6949440" y="2395728"/>
            <a:ext cx="128016" cy="164592"/>
          </a:xfrm>
          <a:prstGeom prst="rect">
            <a:avLst/>
          </a:prstGeom>
          <a:noFill/>
        </p:spPr>
        <p:txBody>
          <a:bodyPr wrap="none" lIns="0" tIns="0" rIns="0" bIns="0">
            <a:spAutoFit/>
          </a:bodyPr>
          <a:lstStyle/>
          <a:p>
            <a:pPr algn="l"/>
            <a:r>
              <a:rPr sz="800" b="0">
                <a:solidFill>
                  <a:srgbClr val="2B2F36"/>
                </a:solidFill>
                <a:latin typeface="思源黑体"/>
                <a:ea typeface="思源黑体"/>
              </a:rPr>
              <a:t>③</a:t>
            </a:r>
          </a:p>
        </p:txBody>
      </p:sp>
      <p:sp>
        <p:nvSpPr>
          <p:cNvPr id="138" name="TextBox 137"/>
          <p:cNvSpPr txBox="1"/>
          <p:nvPr/>
        </p:nvSpPr>
        <p:spPr>
          <a:xfrm>
            <a:off x="7059168" y="2295144"/>
            <a:ext cx="128016" cy="164592"/>
          </a:xfrm>
          <a:prstGeom prst="rect">
            <a:avLst/>
          </a:prstGeom>
          <a:noFill/>
        </p:spPr>
        <p:txBody>
          <a:bodyPr wrap="none" lIns="0" tIns="0" rIns="0" bIns="0">
            <a:spAutoFit/>
          </a:bodyPr>
          <a:lstStyle/>
          <a:p>
            <a:pPr algn="l"/>
            <a:r>
              <a:rPr sz="800" b="0">
                <a:solidFill>
                  <a:srgbClr val="2B2F36"/>
                </a:solidFill>
                <a:latin typeface="思源黑体"/>
                <a:ea typeface="思源黑体"/>
              </a:rPr>
              <a:t>④</a:t>
            </a:r>
          </a:p>
        </p:txBody>
      </p:sp>
      <p:sp>
        <p:nvSpPr>
          <p:cNvPr id="139" name="TextBox 138"/>
          <p:cNvSpPr txBox="1"/>
          <p:nvPr/>
        </p:nvSpPr>
        <p:spPr>
          <a:xfrm>
            <a:off x="6711696" y="2395728"/>
            <a:ext cx="128016" cy="164592"/>
          </a:xfrm>
          <a:prstGeom prst="rect">
            <a:avLst/>
          </a:prstGeom>
          <a:noFill/>
        </p:spPr>
        <p:txBody>
          <a:bodyPr wrap="none" lIns="0" tIns="0" rIns="0" bIns="0">
            <a:spAutoFit/>
          </a:bodyPr>
          <a:lstStyle/>
          <a:p>
            <a:pPr algn="l"/>
            <a:r>
              <a:rPr sz="800" b="0">
                <a:solidFill>
                  <a:srgbClr val="2B2F36"/>
                </a:solidFill>
                <a:latin typeface="思源黑体"/>
                <a:ea typeface="思源黑体"/>
              </a:rPr>
              <a:t>⑤</a:t>
            </a:r>
          </a:p>
        </p:txBody>
      </p:sp>
      <p:sp>
        <p:nvSpPr>
          <p:cNvPr id="140" name="TextBox 139"/>
          <p:cNvSpPr txBox="1"/>
          <p:nvPr/>
        </p:nvSpPr>
        <p:spPr>
          <a:xfrm>
            <a:off x="1051560" y="4626864"/>
            <a:ext cx="6949440" cy="164592"/>
          </a:xfrm>
          <a:prstGeom prst="rect">
            <a:avLst/>
          </a:prstGeom>
          <a:noFill/>
        </p:spPr>
        <p:txBody>
          <a:bodyPr wrap="none" lIns="0" tIns="0" rIns="0" bIns="0">
            <a:spAutoFit/>
          </a:bodyPr>
          <a:lstStyle/>
          <a:p>
            <a:pPr algn="l"/>
            <a:r>
              <a:rPr sz="700" b="0">
                <a:latin typeface="思源黑体"/>
                <a:ea typeface="思源黑体"/>
              </a:rPr>
              <a:t>2026.02 统一框架批次：① Claude Opus 4.5 76.8  ② Gemini 3 Flash 75.8  ③ MiniMax M2.5 75.8  ④ Claude Opus 4.6 75.6  ⑤ GPT-5.2 72.8</a:t>
            </a:r>
          </a:p>
        </p:txBody>
      </p:sp>
      <p:sp>
        <p:nvSpPr>
          <p:cNvPr id="141" name="Oval 140"/>
          <p:cNvSpPr/>
          <p:nvPr/>
        </p:nvSpPr>
        <p:spPr>
          <a:xfrm>
            <a:off x="1056132" y="4823460"/>
            <a:ext cx="82296" cy="82296"/>
          </a:xfrm>
          <a:prstGeom prst="ellipse">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1188720" y="4818888"/>
            <a:ext cx="1371600" cy="164592"/>
          </a:xfrm>
          <a:prstGeom prst="rect">
            <a:avLst/>
          </a:prstGeom>
          <a:noFill/>
        </p:spPr>
        <p:txBody>
          <a:bodyPr wrap="none" lIns="0" tIns="0" rIns="0" bIns="0">
            <a:spAutoFit/>
          </a:bodyPr>
          <a:lstStyle/>
          <a:p>
            <a:pPr algn="l"/>
            <a:r>
              <a:rPr sz="850" b="0">
                <a:solidFill>
                  <a:srgbClr val="5B6770"/>
                </a:solidFill>
                <a:latin typeface="思源黑体"/>
                <a:ea typeface="思源黑体"/>
              </a:rPr>
              <a:t>海外模型</a:t>
            </a:r>
          </a:p>
        </p:txBody>
      </p:sp>
      <p:sp>
        <p:nvSpPr>
          <p:cNvPr id="143" name="Oval 142"/>
          <p:cNvSpPr/>
          <p:nvPr/>
        </p:nvSpPr>
        <p:spPr>
          <a:xfrm>
            <a:off x="2290572" y="4823460"/>
            <a:ext cx="82296" cy="82296"/>
          </a:xfrm>
          <a:prstGeom prst="ellipse">
            <a:avLst/>
          </a:prstGeom>
          <a:solidFill>
            <a:srgbClr val="D9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2423160" y="4818888"/>
            <a:ext cx="1371600" cy="164592"/>
          </a:xfrm>
          <a:prstGeom prst="rect">
            <a:avLst/>
          </a:prstGeom>
          <a:noFill/>
        </p:spPr>
        <p:txBody>
          <a:bodyPr wrap="none" lIns="0" tIns="0" rIns="0" bIns="0">
            <a:spAutoFit/>
          </a:bodyPr>
          <a:lstStyle/>
          <a:p>
            <a:pPr algn="l"/>
            <a:r>
              <a:rPr sz="850" b="0">
                <a:solidFill>
                  <a:srgbClr val="5B6770"/>
                </a:solidFill>
                <a:latin typeface="思源黑体"/>
                <a:ea typeface="思源黑体"/>
              </a:rPr>
              <a:t>国产模型</a:t>
            </a:r>
          </a:p>
        </p:txBody>
      </p:sp>
      <p:sp>
        <p:nvSpPr>
          <p:cNvPr id="145" name="Oval 144"/>
          <p:cNvSpPr/>
          <p:nvPr/>
        </p:nvSpPr>
        <p:spPr>
          <a:xfrm>
            <a:off x="3433572" y="4823460"/>
            <a:ext cx="82296" cy="82296"/>
          </a:xfrm>
          <a:prstGeom prst="ellipse">
            <a:avLst/>
          </a:prstGeom>
          <a:solidFill>
            <a:srgbClr val="FAF8F3"/>
          </a:solidFill>
          <a:ln w="12700">
            <a:solidFill>
              <a:srgbClr val="949E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3566160" y="4818888"/>
            <a:ext cx="1828800" cy="164592"/>
          </a:xfrm>
          <a:prstGeom prst="rect">
            <a:avLst/>
          </a:prstGeom>
          <a:noFill/>
        </p:spPr>
        <p:txBody>
          <a:bodyPr wrap="none" lIns="0" tIns="0" rIns="0" bIns="0">
            <a:spAutoFit/>
          </a:bodyPr>
          <a:lstStyle/>
          <a:p>
            <a:pPr algn="l"/>
            <a:r>
              <a:rPr sz="850" b="0">
                <a:solidFill>
                  <a:srgbClr val="5B6770"/>
                </a:solidFill>
                <a:latin typeface="思源黑体"/>
                <a:ea typeface="思源黑体"/>
              </a:rPr>
              <a:t>* 厂商自报框架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F2E38">
                <a:alpha val="100000"/>
              </a:srgbClr>
            </a:gs>
            <a:gs pos="100000">
              <a:srgbClr val="16222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85800" y="5080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8C9CA8"/>
                </a:solidFill>
                <a:latin typeface="Roboto Mono"/>
                <a:ea typeface="Roboto Mono"/>
                <a:cs typeface="Roboto Mono"/>
                <a:sym typeface="Roboto Mono"/>
              </a:rPr>
              <a:t>NIVIS · GRADUATION DEFENSE</a:t>
            </a:r>
            <a:endParaRPr lang="en-US" sz="1100"/>
          </a:p>
        </p:txBody>
      </p:sp>
      <p:sp>
        <p:nvSpPr>
          <p:cNvPr id="4" name="AutoShape 4"/>
          <p:cNvSpPr/>
          <p:nvPr/>
        </p:nvSpPr>
        <p:spPr>
          <a:xfrm>
            <a:off x="635000" y="1905000"/>
            <a:ext cx="3302000" cy="2540000"/>
          </a:xfrm>
          <a:prstGeom prst="rect">
            <a:avLst/>
          </a:prstGeom>
          <a:noFill/>
          <a:ln w="12700" cap="flat" cmpd="sng">
            <a:noFill/>
            <a:prstDash val="solid"/>
            <a:round/>
          </a:ln>
        </p:spPr>
        <p:txBody>
          <a:bodyPr vert="horz" wrap="none" lIns="0" tIns="0" rIns="0" bIns="0" rtlCol="0" anchor="ctr" anchorCtr="0"/>
          <a:lstStyle/>
          <a:p>
            <a:pPr marL="0" indent="0" algn="l">
              <a:lnSpc>
                <a:spcPct val="112500"/>
              </a:lnSpc>
              <a:defRPr/>
            </a:pPr>
            <a:r>
              <a:rPr lang="en-US" sz="15000" b="1" i="0" u="none" strike="noStrike">
                <a:solidFill>
                  <a:srgbClr val="4A7FA5">
                    <a:alpha val="54902"/>
                  </a:srgbClr>
                </a:solidFill>
                <a:latin typeface="Roboto Mono"/>
                <a:ea typeface="Roboto Mono"/>
                <a:cs typeface="Roboto Mono"/>
                <a:sym typeface="Roboto Mono"/>
              </a:rPr>
              <a:t>02</a:t>
            </a:r>
            <a:endParaRPr lang="en-US" sz="1100"/>
          </a:p>
        </p:txBody>
      </p:sp>
      <p:sp>
        <p:nvSpPr>
          <p:cNvPr id="5" name="AutoShape 5"/>
          <p:cNvSpPr/>
          <p:nvPr/>
        </p:nvSpPr>
        <p:spPr>
          <a:xfrm>
            <a:off x="3810000" y="2768600"/>
            <a:ext cx="50800" cy="812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4114800" y="2641600"/>
            <a:ext cx="7112000" cy="635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4000" b="1" i="0" u="none" strike="noStrike">
                <a:solidFill>
                  <a:srgbClr val="FFFFFF"/>
                </a:solidFill>
                <a:latin typeface="Noto Sans SC"/>
                <a:ea typeface="Noto Sans SC"/>
                <a:cs typeface="Noto Sans SC"/>
                <a:sym typeface="Noto Sans SC"/>
              </a:rPr>
              <a:t>研究目标</a:t>
            </a:r>
            <a:endParaRPr lang="en-US" sz="1100"/>
          </a:p>
        </p:txBody>
      </p:sp>
      <p:sp>
        <p:nvSpPr>
          <p:cNvPr id="7" name="AutoShape 7"/>
          <p:cNvSpPr/>
          <p:nvPr/>
        </p:nvSpPr>
        <p:spPr>
          <a:xfrm>
            <a:off x="4140200" y="3276600"/>
            <a:ext cx="7112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0" i="0" u="none" strike="noStrike">
                <a:solidFill>
                  <a:srgbClr val="8296A2"/>
                </a:solidFill>
                <a:latin typeface="Roboto Mono"/>
                <a:ea typeface="Roboto Mono"/>
                <a:cs typeface="Roboto Mono"/>
                <a:sym typeface="Roboto Mono"/>
              </a:rPr>
              <a:t>OBJECTIVES · WHAT WE SET OUT TO BUILD</a:t>
            </a:r>
            <a:endParaRPr lang="en-US" sz="1100"/>
          </a:p>
        </p:txBody>
      </p:sp>
      <p:sp>
        <p:nvSpPr>
          <p:cNvPr id="8" name="AutoShape 8"/>
          <p:cNvSpPr/>
          <p:nvPr/>
        </p:nvSpPr>
        <p:spPr>
          <a:xfrm>
            <a:off x="4140200" y="3708400"/>
            <a:ext cx="7112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C6D2DA"/>
                </a:solidFill>
                <a:latin typeface="Noto Sans SC"/>
                <a:ea typeface="Noto Sans SC"/>
                <a:cs typeface="Noto Sans SC"/>
                <a:sym typeface="Noto Sans SC"/>
              </a:rPr>
              <a:t>让大模型看得懂语义，让系统跑得在本地，让审计流程闭环。</a:t>
            </a:r>
            <a:endParaRPr lang="en-US" sz="1100"/>
          </a:p>
        </p:txBody>
      </p:sp>
      <p:sp>
        <p:nvSpPr>
          <p:cNvPr id="9" name="AutoShape 9"/>
          <p:cNvSpPr/>
          <p:nvPr/>
        </p:nvSpPr>
        <p:spPr>
          <a:xfrm>
            <a:off x="4140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140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01 研究背景</a:t>
            </a:r>
            <a:endParaRPr lang="en-US" sz="1100"/>
          </a:p>
        </p:txBody>
      </p:sp>
      <p:sp>
        <p:nvSpPr>
          <p:cNvPr id="11" name="AutoShape 11"/>
          <p:cNvSpPr/>
          <p:nvPr/>
        </p:nvSpPr>
        <p:spPr>
          <a:xfrm>
            <a:off x="5257800" y="4902200"/>
            <a:ext cx="508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2578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E8DEC8"/>
                </a:solidFill>
                <a:latin typeface="Noto Sans SC"/>
                <a:ea typeface="Noto Sans SC"/>
                <a:cs typeface="Noto Sans SC"/>
                <a:sym typeface="Noto Sans SC"/>
              </a:rPr>
              <a:t>02 研究目标</a:t>
            </a:r>
            <a:endParaRPr lang="en-US" sz="1100"/>
          </a:p>
        </p:txBody>
      </p:sp>
      <p:sp>
        <p:nvSpPr>
          <p:cNvPr id="13" name="AutoShape 13"/>
          <p:cNvSpPr/>
          <p:nvPr/>
        </p:nvSpPr>
        <p:spPr>
          <a:xfrm>
            <a:off x="63754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3754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03 我们的价值</a:t>
            </a:r>
            <a:endParaRPr lang="en-US" sz="1100"/>
          </a:p>
        </p:txBody>
      </p:sp>
      <p:sp>
        <p:nvSpPr>
          <p:cNvPr id="15" name="AutoShape 15"/>
          <p:cNvSpPr/>
          <p:nvPr/>
        </p:nvSpPr>
        <p:spPr>
          <a:xfrm>
            <a:off x="74930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74930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04 项目的价值</a:t>
            </a:r>
            <a:endParaRPr lang="en-US" sz="1100"/>
          </a:p>
        </p:txBody>
      </p:sp>
      <p:sp>
        <p:nvSpPr>
          <p:cNvPr id="17" name="AutoShape 17"/>
          <p:cNvSpPr/>
          <p:nvPr/>
        </p:nvSpPr>
        <p:spPr>
          <a:xfrm>
            <a:off x="86106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6106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05 系统演示</a:t>
            </a:r>
            <a:endParaRPr lang="en-US" sz="1100"/>
          </a:p>
        </p:txBody>
      </p:sp>
      <p:sp>
        <p:nvSpPr>
          <p:cNvPr id="19" name="AutoShape 19"/>
          <p:cNvSpPr/>
          <p:nvPr/>
        </p:nvSpPr>
        <p:spPr>
          <a:xfrm>
            <a:off x="9728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728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06 未来规划</a:t>
            </a:r>
            <a:endParaRPr lang="en-US" sz="1100"/>
          </a:p>
        </p:txBody>
      </p:sp>
      <p:sp>
        <p:nvSpPr>
          <p:cNvPr id="21" name="AutoShape 21"/>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6E7E8A"/>
                </a:solidFill>
                <a:latin typeface="Noto Sans SC"/>
                <a:ea typeface="Noto Sans SC"/>
                <a:cs typeface="Noto Sans SC"/>
                <a:sym typeface="Noto Sans SC"/>
              </a:rPr>
              <a:t>Nivis · 基于大语言模型的代码安全分析系统</a:t>
            </a:r>
            <a:endParaRPr lang="en-US" sz="1100"/>
          </a:p>
        </p:txBody>
      </p:sp>
      <p:sp>
        <p:nvSpPr>
          <p:cNvPr id="22" name="AutoShape 22"/>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6E7E8A"/>
                </a:solidFill>
                <a:latin typeface="Roboto Mono"/>
                <a:ea typeface="Roboto Mono"/>
                <a:cs typeface="Roboto Mono"/>
                <a:sym typeface="Roboto Mono"/>
              </a:rPr>
              <a:t>07 / 30</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02 研究目标</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从“安全专用模型”出发：一条被真实问题逼出来的路线</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08 / 30</a:t>
            </a:r>
            <a:endParaRPr lang="en-US" sz="1100"/>
          </a:p>
        </p:txBody>
      </p:sp>
      <p:sp>
        <p:nvSpPr>
          <p:cNvPr id="8" name="AutoShape 8"/>
          <p:cNvSpPr/>
          <p:nvPr/>
        </p:nvSpPr>
        <p:spPr>
          <a:xfrm>
            <a:off x="685800" y="1397000"/>
            <a:ext cx="7620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D9962E"/>
                </a:solidFill>
                <a:latin typeface="Roboto Mono"/>
                <a:ea typeface="Roboto Mono"/>
                <a:cs typeface="Roboto Mono"/>
                <a:sym typeface="Roboto Mono"/>
              </a:rPr>
              <a:t>立项判断 · 漏洞检测的三代技术路线</a:t>
            </a:r>
            <a:endParaRPr lang="en-US" sz="1100"/>
          </a:p>
        </p:txBody>
      </p:sp>
      <p:sp>
        <p:nvSpPr>
          <p:cNvPr id="9" name="AutoShape 9"/>
          <p:cNvSpPr/>
          <p:nvPr/>
        </p:nvSpPr>
        <p:spPr>
          <a:xfrm>
            <a:off x="685800" y="1625600"/>
            <a:ext cx="3276600" cy="1092200"/>
          </a:xfrm>
          <a:prstGeom prst="roundRect">
            <a:avLst>
              <a:gd name="adj" fmla="val 9302"/>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85800" y="1625600"/>
            <a:ext cx="50800" cy="10922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63600" y="1752600"/>
            <a:ext cx="2946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第一代 · 规则 SAST</a:t>
            </a:r>
            <a:endParaRPr lang="en-US" sz="1100"/>
          </a:p>
        </p:txBody>
      </p:sp>
      <p:sp>
        <p:nvSpPr>
          <p:cNvPr id="12" name="AutoShape 12"/>
          <p:cNvSpPr/>
          <p:nvPr/>
        </p:nvSpPr>
        <p:spPr>
          <a:xfrm>
            <a:off x="863600" y="2006600"/>
            <a:ext cx="29464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5B6770"/>
                </a:solidFill>
                <a:latin typeface="Roboto Mono"/>
                <a:ea typeface="Roboto Mono"/>
                <a:cs typeface="Roboto Mono"/>
                <a:sym typeface="Roboto Mono"/>
              </a:rPr>
              <a:t>AST / 正则 / 污点分析（Bandit、Semgrep）</a:t>
            </a:r>
            <a:endParaRPr lang="en-US" sz="1100"/>
          </a:p>
        </p:txBody>
      </p:sp>
      <p:sp>
        <p:nvSpPr>
          <p:cNvPr id="13" name="AutoShape 13"/>
          <p:cNvSpPr/>
          <p:nvPr/>
        </p:nvSpPr>
        <p:spPr>
          <a:xfrm>
            <a:off x="863600" y="2235200"/>
            <a:ext cx="2946400" cy="431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0" i="0" u="none" strike="noStrike">
                <a:solidFill>
                  <a:srgbClr val="5B6770"/>
                </a:solidFill>
                <a:latin typeface="Noto Sans SC"/>
                <a:ea typeface="Noto Sans SC"/>
                <a:cs typeface="Noto Sans SC"/>
                <a:sym typeface="Noto Sans SC"/>
              </a:rPr>
              <a:t>确定、可解释、零成本</a:t>
            </a:r>
            <a:endParaRPr lang="en-US" sz="1100"/>
          </a:p>
          <a:p>
            <a:pPr marL="0" indent="0" algn="l">
              <a:lnSpc>
                <a:spcPct val="116666"/>
              </a:lnSpc>
            </a:pPr>
            <a:r>
              <a:rPr lang="en-US" sz="1000" b="0" i="0" u="none" strike="noStrike">
                <a:solidFill>
                  <a:srgbClr val="5B6770"/>
                </a:solidFill>
                <a:latin typeface="Noto Sans SC"/>
                <a:ea typeface="Noto Sans SC"/>
                <a:cs typeface="Noto Sans SC"/>
                <a:sym typeface="Noto Sans SC"/>
              </a:rPr>
              <a:t>但不懂语义，规则覆盖有限</a:t>
            </a:r>
          </a:p>
        </p:txBody>
      </p:sp>
      <p:sp>
        <p:nvSpPr>
          <p:cNvPr id="14" name="AutoShape 14"/>
          <p:cNvSpPr/>
          <p:nvPr/>
        </p:nvSpPr>
        <p:spPr>
          <a:xfrm>
            <a:off x="4521200" y="1625600"/>
            <a:ext cx="3276600" cy="1092200"/>
          </a:xfrm>
          <a:prstGeom prst="roundRect">
            <a:avLst>
              <a:gd name="adj" fmla="val 9302"/>
            </a:avLst>
          </a:prstGeom>
          <a:solidFill>
            <a:srgbClr val="E9F2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4521200" y="1625600"/>
            <a:ext cx="50800" cy="10922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4699000" y="1752600"/>
            <a:ext cx="2946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第二代 · 深度学习</a:t>
            </a:r>
            <a:endParaRPr lang="en-US" sz="1100"/>
          </a:p>
        </p:txBody>
      </p:sp>
      <p:sp>
        <p:nvSpPr>
          <p:cNvPr id="17" name="AutoShape 17"/>
          <p:cNvSpPr/>
          <p:nvPr/>
        </p:nvSpPr>
        <p:spPr>
          <a:xfrm>
            <a:off x="4699000" y="2006600"/>
            <a:ext cx="29464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5B6770"/>
                </a:solidFill>
                <a:latin typeface="Roboto Mono"/>
                <a:ea typeface="Roboto Mono"/>
                <a:cs typeface="Roboto Mono"/>
                <a:sym typeface="Roboto Mono"/>
              </a:rPr>
              <a:t>GNN / CodeBERT 系检测（Devign、LineVul）</a:t>
            </a:r>
            <a:endParaRPr lang="en-US" sz="1100"/>
          </a:p>
        </p:txBody>
      </p:sp>
      <p:sp>
        <p:nvSpPr>
          <p:cNvPr id="18" name="AutoShape 18"/>
          <p:cNvSpPr/>
          <p:nvPr/>
        </p:nvSpPr>
        <p:spPr>
          <a:xfrm>
            <a:off x="4699000" y="2235200"/>
            <a:ext cx="2946400" cy="431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0" i="0" u="none" strike="noStrike">
                <a:solidFill>
                  <a:srgbClr val="5B6770"/>
                </a:solidFill>
                <a:latin typeface="Noto Sans SC"/>
                <a:ea typeface="Noto Sans SC"/>
                <a:cs typeface="Noto Sans SC"/>
                <a:sym typeface="Noto Sans SC"/>
              </a:rPr>
              <a:t>免人工规则</a:t>
            </a:r>
            <a:endParaRPr lang="en-US" sz="1100"/>
          </a:p>
          <a:p>
            <a:pPr marL="0" indent="0" algn="l">
              <a:lnSpc>
                <a:spcPct val="116666"/>
              </a:lnSpc>
            </a:pPr>
            <a:r>
              <a:rPr lang="en-US" sz="1000" b="0" i="0" u="none" strike="noStrike">
                <a:solidFill>
                  <a:srgbClr val="5B6770"/>
                </a:solidFill>
                <a:latin typeface="Noto Sans SC"/>
                <a:ea typeface="Noto Sans SC"/>
                <a:cs typeface="Noto Sans SC"/>
                <a:sym typeface="Noto Sans SC"/>
              </a:rPr>
              <a:t>但依赖大量标注，跨项目泛化差、黑盒</a:t>
            </a:r>
          </a:p>
        </p:txBody>
      </p:sp>
      <p:sp>
        <p:nvSpPr>
          <p:cNvPr id="19" name="AutoShape 19"/>
          <p:cNvSpPr/>
          <p:nvPr/>
        </p:nvSpPr>
        <p:spPr>
          <a:xfrm>
            <a:off x="8356600" y="1625600"/>
            <a:ext cx="3276600" cy="1092200"/>
          </a:xfrm>
          <a:prstGeom prst="roundRect">
            <a:avLst>
              <a:gd name="adj" fmla="val 9302"/>
            </a:avLst>
          </a:prstGeom>
          <a:solidFill>
            <a:srgbClr val="FAF0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356600" y="1625600"/>
            <a:ext cx="50800" cy="10922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8534400" y="1752600"/>
            <a:ext cx="2946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第三代 · 大语言模型</a:t>
            </a:r>
            <a:endParaRPr lang="en-US" sz="1100"/>
          </a:p>
        </p:txBody>
      </p:sp>
      <p:sp>
        <p:nvSpPr>
          <p:cNvPr id="22" name="AutoShape 22"/>
          <p:cNvSpPr/>
          <p:nvPr/>
        </p:nvSpPr>
        <p:spPr>
          <a:xfrm>
            <a:off x="8534400" y="2006600"/>
            <a:ext cx="29464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5B6770"/>
                </a:solidFill>
                <a:latin typeface="Roboto Mono"/>
                <a:ea typeface="Roboto Mono"/>
                <a:cs typeface="Roboto Mono"/>
                <a:sym typeface="Roboto Mono"/>
              </a:rPr>
              <a:t>语义理解与风险推理</a:t>
            </a:r>
            <a:endParaRPr lang="en-US" sz="1100"/>
          </a:p>
        </p:txBody>
      </p:sp>
      <p:sp>
        <p:nvSpPr>
          <p:cNvPr id="23" name="AutoShape 23"/>
          <p:cNvSpPr/>
          <p:nvPr/>
        </p:nvSpPr>
        <p:spPr>
          <a:xfrm>
            <a:off x="8534400" y="2235200"/>
            <a:ext cx="2946400" cy="431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0" i="0" u="none" strike="noStrike">
                <a:solidFill>
                  <a:srgbClr val="5B6770"/>
                </a:solidFill>
                <a:latin typeface="Noto Sans SC"/>
                <a:ea typeface="Noto Sans SC"/>
                <a:cs typeface="Noto Sans SC"/>
                <a:sym typeface="Noto Sans SC"/>
              </a:rPr>
              <a:t>能力足够强，但开放生成不可控</a:t>
            </a:r>
            <a:endParaRPr lang="en-US" sz="1100"/>
          </a:p>
          <a:p>
            <a:pPr marL="0" indent="0" algn="l">
              <a:lnSpc>
                <a:spcPct val="116666"/>
              </a:lnSpc>
            </a:pPr>
            <a:r>
              <a:rPr lang="en-US" sz="1000" b="0" i="0" u="none" strike="noStrike">
                <a:solidFill>
                  <a:srgbClr val="5B6770"/>
                </a:solidFill>
                <a:latin typeface="Noto Sans SC"/>
                <a:ea typeface="Noto Sans SC"/>
                <a:cs typeface="Noto Sans SC"/>
                <a:sym typeface="Noto Sans SC"/>
              </a:rPr>
              <a:t>云端贵、代码不能出域——我们的机会</a:t>
            </a:r>
          </a:p>
        </p:txBody>
      </p:sp>
      <p:sp>
        <p:nvSpPr>
          <p:cNvPr id="24" name="AutoShape 24"/>
          <p:cNvSpPr/>
          <p:nvPr/>
        </p:nvSpPr>
        <p:spPr>
          <a:xfrm>
            <a:off x="685800" y="2844800"/>
            <a:ext cx="10820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345E80"/>
                </a:solidFill>
                <a:latin typeface="Noto Sans SC"/>
                <a:ea typeface="Noto Sans SC"/>
                <a:cs typeface="Noto Sans SC"/>
                <a:sym typeface="Noto Sans SC"/>
              </a:rPr>
              <a:t>我们的起点：训练一个 16GB 显存可跑的安全专用 8B 模型；随后每一步都由上一阶段暴露的真实问题驱动</a:t>
            </a:r>
            <a:endParaRPr lang="en-US" sz="1100"/>
          </a:p>
        </p:txBody>
      </p:sp>
      <p:cxnSp>
        <p:nvCxnSpPr>
          <p:cNvPr id="25" name="Connector 25"/>
          <p:cNvCxnSpPr/>
          <p:nvPr/>
        </p:nvCxnSpPr>
        <p:spPr>
          <a:xfrm rot="-4499">
            <a:off x="1219204" y="4006850"/>
            <a:ext cx="9702800" cy="12700"/>
          </a:xfrm>
          <a:prstGeom prst="straightConnector1">
            <a:avLst/>
          </a:prstGeom>
          <a:solidFill>
            <a:srgbClr val="DEE0E3">
              <a:alpha val="100000"/>
            </a:srgbClr>
          </a:solidFill>
          <a:ln w="25400" cap="flat" cmpd="sng">
            <a:solidFill>
              <a:srgbClr val="C4CED6">
                <a:alpha val="100000"/>
              </a:srgbClr>
            </a:solidFill>
            <a:prstDash val="solid"/>
            <a:round/>
            <a:headEnd type="none" w="lg" len="lg"/>
            <a:tailEnd type="none" w="lg" len="lg"/>
          </a:ln>
        </p:spPr>
      </p:cxnSp>
      <p:sp>
        <p:nvSpPr>
          <p:cNvPr id="26" name="AutoShape 26"/>
          <p:cNvSpPr/>
          <p:nvPr/>
        </p:nvSpPr>
        <p:spPr>
          <a:xfrm>
            <a:off x="1117600" y="3911600"/>
            <a:ext cx="203200" cy="203200"/>
          </a:xfrm>
          <a:prstGeom prst="ellipse">
            <a:avLst/>
          </a:prstGeom>
          <a:solidFill>
            <a:srgbClr val="6FA39B">
              <a:alpha val="100000"/>
            </a:srgbClr>
          </a:solidFill>
          <a:ln w="25400" cap="flat" cmpd="sng">
            <a:solidFill>
              <a:srgbClr val="FAF8F3">
                <a:alpha val="100000"/>
              </a:srgbClr>
            </a:solid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127000" y="3098800"/>
            <a:ext cx="2184400" cy="685800"/>
          </a:xfrm>
          <a:prstGeom prst="roundRect">
            <a:avLst>
              <a:gd name="adj" fmla="val 1111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254000" y="3175000"/>
            <a:ext cx="20066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50" b="1" i="0" u="none" strike="noStrike">
                <a:solidFill>
                  <a:srgbClr val="6FA39B"/>
                </a:solidFill>
                <a:latin typeface="Roboto Mono"/>
                <a:ea typeface="Roboto Mono"/>
                <a:cs typeface="Roboto Mono"/>
                <a:sym typeface="Roboto Mono"/>
              </a:rPr>
              <a:t>起点</a:t>
            </a:r>
            <a:endParaRPr lang="en-US" sz="1100"/>
          </a:p>
        </p:txBody>
      </p:sp>
      <p:sp>
        <p:nvSpPr>
          <p:cNvPr id="29" name="AutoShape 29"/>
          <p:cNvSpPr/>
          <p:nvPr/>
        </p:nvSpPr>
        <p:spPr>
          <a:xfrm>
            <a:off x="254000" y="3352800"/>
            <a:ext cx="2006600" cy="203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安全专用 8B</a:t>
            </a:r>
            <a:endParaRPr lang="en-US" sz="1100"/>
          </a:p>
        </p:txBody>
      </p:sp>
      <p:sp>
        <p:nvSpPr>
          <p:cNvPr id="30" name="AutoShape 30"/>
          <p:cNvSpPr/>
          <p:nvPr/>
        </p:nvSpPr>
        <p:spPr>
          <a:xfrm>
            <a:off x="254000" y="3581400"/>
            <a:ext cx="2006600" cy="203200"/>
          </a:xfrm>
          <a:prstGeom prst="rect">
            <a:avLst/>
          </a:prstGeom>
          <a:noFill/>
          <a:ln w="12700" cap="flat" cmpd="sng">
            <a:noFill/>
            <a:prstDash val="solid"/>
            <a:round/>
          </a:ln>
        </p:spPr>
        <p:txBody>
          <a:bodyPr vert="horz" wrap="square" lIns="0" tIns="0" rIns="0" bIns="0" rtlCol="0" anchor="t" anchorCtr="0"/>
          <a:lstStyle/>
          <a:p>
            <a:pPr marL="0" indent="0" algn="l">
              <a:lnSpc>
                <a:spcPct val="108333"/>
              </a:lnSpc>
              <a:defRPr/>
            </a:pPr>
            <a:r>
              <a:rPr lang="en-US" sz="850" b="0" i="0" u="none" strike="noStrike">
                <a:solidFill>
                  <a:srgbClr val="5B6770"/>
                </a:solidFill>
                <a:latin typeface="Noto Sans SC"/>
                <a:ea typeface="Noto Sans SC"/>
                <a:cs typeface="Noto Sans SC"/>
                <a:sym typeface="Noto Sans SC"/>
              </a:rPr>
              <a:t>本地可跑、补通用模型安全短板</a:t>
            </a:r>
            <a:endParaRPr lang="en-US" sz="1100"/>
          </a:p>
        </p:txBody>
      </p:sp>
      <p:sp>
        <p:nvSpPr>
          <p:cNvPr id="31" name="AutoShape 31"/>
          <p:cNvSpPr/>
          <p:nvPr/>
        </p:nvSpPr>
        <p:spPr>
          <a:xfrm>
            <a:off x="127000" y="4191000"/>
            <a:ext cx="2184400" cy="914400"/>
          </a:xfrm>
          <a:prstGeom prst="roundRect">
            <a:avLst>
              <a:gd name="adj" fmla="val 8333"/>
            </a:avLst>
          </a:prstGeom>
          <a:solidFill>
            <a:srgbClr val="E9F2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254000" y="4292600"/>
            <a:ext cx="20066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50" b="1" i="0" u="none" strike="noStrike">
                <a:solidFill>
                  <a:srgbClr val="6FA39B"/>
                </a:solidFill>
                <a:latin typeface="Roboto Mono"/>
                <a:ea typeface="Roboto Mono"/>
                <a:cs typeface="Roboto Mono"/>
                <a:sym typeface="Roboto Mono"/>
              </a:rPr>
              <a:t>目标</a:t>
            </a:r>
            <a:endParaRPr lang="en-US" sz="1100"/>
          </a:p>
        </p:txBody>
      </p:sp>
      <p:sp>
        <p:nvSpPr>
          <p:cNvPr id="33" name="AutoShape 33"/>
          <p:cNvSpPr/>
          <p:nvPr/>
        </p:nvSpPr>
        <p:spPr>
          <a:xfrm>
            <a:off x="254000" y="4470400"/>
            <a:ext cx="2006600" cy="558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1" i="0" u="none" strike="noStrike">
                <a:solidFill>
                  <a:srgbClr val="2B2F36"/>
                </a:solidFill>
                <a:latin typeface="Noto Sans SC"/>
                <a:ea typeface="Noto Sans SC"/>
                <a:cs typeface="Noto Sans SC"/>
                <a:sym typeface="Noto Sans SC"/>
              </a:rPr>
              <a:t>精准检测 · 自动化 · 本地部署，三条硬目标贯穿始终</a:t>
            </a:r>
            <a:endParaRPr lang="en-US" sz="1100"/>
          </a:p>
        </p:txBody>
      </p:sp>
      <p:sp>
        <p:nvSpPr>
          <p:cNvPr id="34" name="AutoShape 34"/>
          <p:cNvSpPr/>
          <p:nvPr/>
        </p:nvSpPr>
        <p:spPr>
          <a:xfrm>
            <a:off x="3543300" y="3911600"/>
            <a:ext cx="203200" cy="203200"/>
          </a:xfrm>
          <a:prstGeom prst="ellipse">
            <a:avLst/>
          </a:prstGeom>
          <a:solidFill>
            <a:srgbClr val="4A7FA5">
              <a:alpha val="100000"/>
            </a:srgbClr>
          </a:solidFill>
          <a:ln w="25400" cap="flat" cmpd="sng">
            <a:solidFill>
              <a:srgbClr val="FAF8F3">
                <a:alpha val="100000"/>
              </a:srgbClr>
            </a:solid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2552700" y="3098800"/>
            <a:ext cx="2184400" cy="685800"/>
          </a:xfrm>
          <a:prstGeom prst="roundRect">
            <a:avLst>
              <a:gd name="adj" fmla="val 1111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2679700" y="3175000"/>
            <a:ext cx="20066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50" b="1" i="0" u="none" strike="noStrike">
                <a:solidFill>
                  <a:srgbClr val="4A7FA5"/>
                </a:solidFill>
                <a:latin typeface="Roboto Mono"/>
                <a:ea typeface="Roboto Mono"/>
                <a:cs typeface="Roboto Mono"/>
                <a:sym typeface="Roboto Mono"/>
              </a:rPr>
              <a:t>问题 1</a:t>
            </a:r>
            <a:endParaRPr lang="en-US" sz="1100"/>
          </a:p>
        </p:txBody>
      </p:sp>
      <p:sp>
        <p:nvSpPr>
          <p:cNvPr id="37" name="AutoShape 37"/>
          <p:cNvSpPr/>
          <p:nvPr/>
        </p:nvSpPr>
        <p:spPr>
          <a:xfrm>
            <a:off x="2679700" y="3352800"/>
            <a:ext cx="2006600" cy="203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开放生成失控</a:t>
            </a:r>
            <a:endParaRPr lang="en-US" sz="1100"/>
          </a:p>
        </p:txBody>
      </p:sp>
      <p:sp>
        <p:nvSpPr>
          <p:cNvPr id="38" name="AutoShape 38"/>
          <p:cNvSpPr/>
          <p:nvPr/>
        </p:nvSpPr>
        <p:spPr>
          <a:xfrm>
            <a:off x="2679700" y="3581400"/>
            <a:ext cx="2006600" cy="203200"/>
          </a:xfrm>
          <a:prstGeom prst="rect">
            <a:avLst/>
          </a:prstGeom>
          <a:noFill/>
          <a:ln w="12700" cap="flat" cmpd="sng">
            <a:noFill/>
            <a:prstDash val="solid"/>
            <a:round/>
          </a:ln>
        </p:spPr>
        <p:txBody>
          <a:bodyPr vert="horz" wrap="square" lIns="0" tIns="0" rIns="0" bIns="0" rtlCol="0" anchor="t" anchorCtr="0"/>
          <a:lstStyle/>
          <a:p>
            <a:pPr marL="0" indent="0" algn="l">
              <a:lnSpc>
                <a:spcPct val="108333"/>
              </a:lnSpc>
              <a:defRPr/>
            </a:pPr>
            <a:r>
              <a:rPr lang="en-US" sz="850" b="0" i="0" u="none" strike="noStrike">
                <a:solidFill>
                  <a:srgbClr val="5B6770"/>
                </a:solidFill>
                <a:latin typeface="Noto Sans SC"/>
                <a:ea typeface="Noto Sans SC"/>
                <a:cs typeface="Noto Sans SC"/>
                <a:sym typeface="Noto Sans SC"/>
              </a:rPr>
              <a:t>高误报 0.154、不可复现、成本高</a:t>
            </a:r>
            <a:endParaRPr lang="en-US" sz="1100"/>
          </a:p>
        </p:txBody>
      </p:sp>
      <p:sp>
        <p:nvSpPr>
          <p:cNvPr id="39" name="AutoShape 39"/>
          <p:cNvSpPr/>
          <p:nvPr/>
        </p:nvSpPr>
        <p:spPr>
          <a:xfrm>
            <a:off x="2552700" y="4191000"/>
            <a:ext cx="2184400" cy="914400"/>
          </a:xfrm>
          <a:prstGeom prst="roundRect">
            <a:avLst>
              <a:gd name="adj" fmla="val 8333"/>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AutoShape 40"/>
          <p:cNvSpPr/>
          <p:nvPr/>
        </p:nvSpPr>
        <p:spPr>
          <a:xfrm>
            <a:off x="2679700" y="4292600"/>
            <a:ext cx="20066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50" b="1" i="0" u="none" strike="noStrike">
                <a:solidFill>
                  <a:srgbClr val="345E80"/>
                </a:solidFill>
                <a:latin typeface="Roboto Mono"/>
                <a:ea typeface="Roboto Mono"/>
                <a:cs typeface="Roboto Mono"/>
                <a:sym typeface="Roboto Mono"/>
              </a:rPr>
              <a:t>应对</a:t>
            </a:r>
            <a:endParaRPr lang="en-US" sz="1100"/>
          </a:p>
        </p:txBody>
      </p:sp>
      <p:sp>
        <p:nvSpPr>
          <p:cNvPr id="41" name="AutoShape 41"/>
          <p:cNvSpPr/>
          <p:nvPr/>
        </p:nvSpPr>
        <p:spPr>
          <a:xfrm>
            <a:off x="2679700" y="4470400"/>
            <a:ext cx="2006600" cy="558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1" i="0" u="none" strike="noStrike">
                <a:solidFill>
                  <a:srgbClr val="2B2F36"/>
                </a:solidFill>
                <a:latin typeface="Noto Sans SC"/>
                <a:ea typeface="Noto Sans SC"/>
                <a:cs typeface="Noto Sans SC"/>
                <a:sym typeface="Noto Sans SC"/>
              </a:rPr>
              <a:t>两阶段：工具召回 + 封闭裁决</a:t>
            </a:r>
            <a:endParaRPr lang="en-US" sz="1100"/>
          </a:p>
        </p:txBody>
      </p:sp>
      <p:sp>
        <p:nvSpPr>
          <p:cNvPr id="42" name="AutoShape 42"/>
          <p:cNvSpPr/>
          <p:nvPr/>
        </p:nvSpPr>
        <p:spPr>
          <a:xfrm>
            <a:off x="5969000" y="3911600"/>
            <a:ext cx="203200" cy="203200"/>
          </a:xfrm>
          <a:prstGeom prst="ellipse">
            <a:avLst/>
          </a:prstGeom>
          <a:solidFill>
            <a:srgbClr val="4A7FA5">
              <a:alpha val="100000"/>
            </a:srgbClr>
          </a:solidFill>
          <a:ln w="25400" cap="flat" cmpd="sng">
            <a:solidFill>
              <a:srgbClr val="FAF8F3">
                <a:alpha val="100000"/>
              </a:srgbClr>
            </a:solidFill>
            <a:prstDash val="solid"/>
            <a:round/>
          </a:ln>
        </p:spPr>
        <p:txBody>
          <a:bodyPr vert="horz" wrap="square" lIns="63500" tIns="63500" rIns="63500" bIns="63500" rtlCol="0" anchor="ctr"/>
          <a:lstStyle/>
          <a:p>
            <a:pPr algn="ctr">
              <a:defRPr/>
            </a:pPr>
            <a:endParaRPr/>
          </a:p>
        </p:txBody>
      </p:sp>
      <p:sp>
        <p:nvSpPr>
          <p:cNvPr id="43" name="AutoShape 43"/>
          <p:cNvSpPr/>
          <p:nvPr/>
        </p:nvSpPr>
        <p:spPr>
          <a:xfrm>
            <a:off x="4978400" y="3098800"/>
            <a:ext cx="2184400" cy="685800"/>
          </a:xfrm>
          <a:prstGeom prst="roundRect">
            <a:avLst>
              <a:gd name="adj" fmla="val 1111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4" name="AutoShape 44"/>
          <p:cNvSpPr/>
          <p:nvPr/>
        </p:nvSpPr>
        <p:spPr>
          <a:xfrm>
            <a:off x="5105400" y="3175000"/>
            <a:ext cx="20066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50" b="1" i="0" u="none" strike="noStrike">
                <a:solidFill>
                  <a:srgbClr val="4A7FA5"/>
                </a:solidFill>
                <a:latin typeface="Roboto Mono"/>
                <a:ea typeface="Roboto Mono"/>
                <a:cs typeface="Roboto Mono"/>
                <a:sym typeface="Roboto Mono"/>
              </a:rPr>
              <a:t>问题 2</a:t>
            </a:r>
            <a:endParaRPr lang="en-US" sz="1100"/>
          </a:p>
        </p:txBody>
      </p:sp>
      <p:sp>
        <p:nvSpPr>
          <p:cNvPr id="45" name="AutoShape 45"/>
          <p:cNvSpPr/>
          <p:nvPr/>
        </p:nvSpPr>
        <p:spPr>
          <a:xfrm>
            <a:off x="5105400" y="3352800"/>
            <a:ext cx="2006600" cy="203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训练不涨归因</a:t>
            </a:r>
            <a:endParaRPr lang="en-US" sz="1100"/>
          </a:p>
        </p:txBody>
      </p:sp>
      <p:sp>
        <p:nvSpPr>
          <p:cNvPr id="46" name="AutoShape 46"/>
          <p:cNvSpPr/>
          <p:nvPr/>
        </p:nvSpPr>
        <p:spPr>
          <a:xfrm>
            <a:off x="5105400" y="3581400"/>
            <a:ext cx="2006600" cy="203200"/>
          </a:xfrm>
          <a:prstGeom prst="rect">
            <a:avLst/>
          </a:prstGeom>
          <a:noFill/>
          <a:ln w="12700" cap="flat" cmpd="sng">
            <a:noFill/>
            <a:prstDash val="solid"/>
            <a:round/>
          </a:ln>
        </p:spPr>
        <p:txBody>
          <a:bodyPr vert="horz" wrap="square" lIns="0" tIns="0" rIns="0" bIns="0" rtlCol="0" anchor="t" anchorCtr="0"/>
          <a:lstStyle/>
          <a:p>
            <a:pPr marL="0" indent="0" algn="l">
              <a:lnSpc>
                <a:spcPct val="108333"/>
              </a:lnSpc>
              <a:defRPr/>
            </a:pPr>
            <a:r>
              <a:rPr lang="en-US" sz="850" b="0" i="0" u="none" strike="noStrike">
                <a:solidFill>
                  <a:srgbClr val="5B6770"/>
                </a:solidFill>
                <a:latin typeface="Noto Sans SC"/>
                <a:ea typeface="Noto Sans SC"/>
                <a:cs typeface="Noto Sans SC"/>
                <a:sym typeface="Noto Sans SC"/>
              </a:rPr>
              <a:t>SFT 只学会格式，CPT 知识注入负迁移</a:t>
            </a:r>
            <a:endParaRPr lang="en-US" sz="1100"/>
          </a:p>
        </p:txBody>
      </p:sp>
      <p:sp>
        <p:nvSpPr>
          <p:cNvPr id="47" name="AutoShape 47"/>
          <p:cNvSpPr/>
          <p:nvPr/>
        </p:nvSpPr>
        <p:spPr>
          <a:xfrm>
            <a:off x="4978400" y="4191000"/>
            <a:ext cx="2184400" cy="914400"/>
          </a:xfrm>
          <a:prstGeom prst="roundRect">
            <a:avLst>
              <a:gd name="adj" fmla="val 8333"/>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AutoShape 48"/>
          <p:cNvSpPr/>
          <p:nvPr/>
        </p:nvSpPr>
        <p:spPr>
          <a:xfrm>
            <a:off x="5105400" y="4292600"/>
            <a:ext cx="20066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50" b="1" i="0" u="none" strike="noStrike">
                <a:solidFill>
                  <a:srgbClr val="345E80"/>
                </a:solidFill>
                <a:latin typeface="Roboto Mono"/>
                <a:ea typeface="Roboto Mono"/>
                <a:cs typeface="Roboto Mono"/>
                <a:sym typeface="Roboto Mono"/>
              </a:rPr>
              <a:t>应对</a:t>
            </a:r>
            <a:endParaRPr lang="en-US" sz="1100"/>
          </a:p>
        </p:txBody>
      </p:sp>
      <p:sp>
        <p:nvSpPr>
          <p:cNvPr id="49" name="AutoShape 49"/>
          <p:cNvSpPr/>
          <p:nvPr/>
        </p:nvSpPr>
        <p:spPr>
          <a:xfrm>
            <a:off x="5105400" y="4470400"/>
            <a:ext cx="2006600" cy="558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1" i="0" u="none" strike="noStrike">
                <a:solidFill>
                  <a:srgbClr val="2B2F36"/>
                </a:solidFill>
                <a:latin typeface="Noto Sans SC"/>
                <a:ea typeface="Noto Sans SC"/>
                <a:cs typeface="Noto Sans SC"/>
                <a:sym typeface="Noto Sans SC"/>
              </a:rPr>
              <a:t>方法分层：知识走 RAG、判别走证据</a:t>
            </a:r>
            <a:endParaRPr lang="en-US" sz="1100"/>
          </a:p>
        </p:txBody>
      </p:sp>
      <p:sp>
        <p:nvSpPr>
          <p:cNvPr id="50" name="AutoShape 50"/>
          <p:cNvSpPr/>
          <p:nvPr/>
        </p:nvSpPr>
        <p:spPr>
          <a:xfrm>
            <a:off x="8394700" y="3911600"/>
            <a:ext cx="203200" cy="203200"/>
          </a:xfrm>
          <a:prstGeom prst="ellipse">
            <a:avLst/>
          </a:prstGeom>
          <a:solidFill>
            <a:srgbClr val="4A7FA5">
              <a:alpha val="100000"/>
            </a:srgbClr>
          </a:solidFill>
          <a:ln w="25400" cap="flat" cmpd="sng">
            <a:solidFill>
              <a:srgbClr val="FAF8F3">
                <a:alpha val="100000"/>
              </a:srgbClr>
            </a:solidFill>
            <a:prstDash val="solid"/>
            <a:round/>
          </a:ln>
        </p:spPr>
        <p:txBody>
          <a:bodyPr vert="horz" wrap="square" lIns="63500" tIns="63500" rIns="63500" bIns="63500" rtlCol="0" anchor="ctr"/>
          <a:lstStyle/>
          <a:p>
            <a:pPr algn="ctr">
              <a:defRPr/>
            </a:pPr>
            <a:endParaRPr/>
          </a:p>
        </p:txBody>
      </p:sp>
      <p:sp>
        <p:nvSpPr>
          <p:cNvPr id="51" name="AutoShape 51"/>
          <p:cNvSpPr/>
          <p:nvPr/>
        </p:nvSpPr>
        <p:spPr>
          <a:xfrm>
            <a:off x="7404100" y="3098800"/>
            <a:ext cx="2184400" cy="685800"/>
          </a:xfrm>
          <a:prstGeom prst="roundRect">
            <a:avLst>
              <a:gd name="adj" fmla="val 1111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AutoShape 52"/>
          <p:cNvSpPr/>
          <p:nvPr/>
        </p:nvSpPr>
        <p:spPr>
          <a:xfrm>
            <a:off x="7531100" y="3175000"/>
            <a:ext cx="20066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50" b="1" i="0" u="none" strike="noStrike">
                <a:solidFill>
                  <a:srgbClr val="4A7FA5"/>
                </a:solidFill>
                <a:latin typeface="Roboto Mono"/>
                <a:ea typeface="Roboto Mono"/>
                <a:cs typeface="Roboto Mono"/>
                <a:sym typeface="Roboto Mono"/>
              </a:rPr>
              <a:t>问题 3</a:t>
            </a:r>
            <a:endParaRPr lang="en-US" sz="1100"/>
          </a:p>
        </p:txBody>
      </p:sp>
      <p:sp>
        <p:nvSpPr>
          <p:cNvPr id="53" name="AutoShape 53"/>
          <p:cNvSpPr/>
          <p:nvPr/>
        </p:nvSpPr>
        <p:spPr>
          <a:xfrm>
            <a:off x="7531100" y="3352800"/>
            <a:ext cx="2006600" cy="203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云端依赖</a:t>
            </a:r>
            <a:endParaRPr lang="en-US" sz="1100"/>
          </a:p>
        </p:txBody>
      </p:sp>
      <p:sp>
        <p:nvSpPr>
          <p:cNvPr id="54" name="AutoShape 54"/>
          <p:cNvSpPr/>
          <p:nvPr/>
        </p:nvSpPr>
        <p:spPr>
          <a:xfrm>
            <a:off x="7531100" y="3581400"/>
            <a:ext cx="2006600" cy="203200"/>
          </a:xfrm>
          <a:prstGeom prst="rect">
            <a:avLst/>
          </a:prstGeom>
          <a:noFill/>
          <a:ln w="12700" cap="flat" cmpd="sng">
            <a:noFill/>
            <a:prstDash val="solid"/>
            <a:round/>
          </a:ln>
        </p:spPr>
        <p:txBody>
          <a:bodyPr vert="horz" wrap="square" lIns="0" tIns="0" rIns="0" bIns="0" rtlCol="0" anchor="t" anchorCtr="0"/>
          <a:lstStyle/>
          <a:p>
            <a:pPr marL="0" indent="0" algn="l">
              <a:lnSpc>
                <a:spcPct val="108333"/>
              </a:lnSpc>
              <a:defRPr/>
            </a:pPr>
            <a:r>
              <a:rPr lang="en-US" sz="850" b="0" i="0" u="none" strike="noStrike">
                <a:solidFill>
                  <a:srgbClr val="5B6770"/>
                </a:solidFill>
                <a:latin typeface="Noto Sans SC"/>
                <a:ea typeface="Noto Sans SC"/>
                <a:cs typeface="Noto Sans SC"/>
                <a:sym typeface="Noto Sans SC"/>
              </a:rPr>
              <a:t>隐私出域、调用昂贵</a:t>
            </a:r>
            <a:endParaRPr lang="en-US" sz="1100"/>
          </a:p>
        </p:txBody>
      </p:sp>
      <p:sp>
        <p:nvSpPr>
          <p:cNvPr id="55" name="AutoShape 55"/>
          <p:cNvSpPr/>
          <p:nvPr/>
        </p:nvSpPr>
        <p:spPr>
          <a:xfrm>
            <a:off x="7404100" y="4191000"/>
            <a:ext cx="2184400" cy="914400"/>
          </a:xfrm>
          <a:prstGeom prst="roundRect">
            <a:avLst>
              <a:gd name="adj" fmla="val 8333"/>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AutoShape 56"/>
          <p:cNvSpPr/>
          <p:nvPr/>
        </p:nvSpPr>
        <p:spPr>
          <a:xfrm>
            <a:off x="7531100" y="4292600"/>
            <a:ext cx="20066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50" b="1" i="0" u="none" strike="noStrike">
                <a:solidFill>
                  <a:srgbClr val="345E80"/>
                </a:solidFill>
                <a:latin typeface="Roboto Mono"/>
                <a:ea typeface="Roboto Mono"/>
                <a:cs typeface="Roboto Mono"/>
                <a:sym typeface="Roboto Mono"/>
              </a:rPr>
              <a:t>应对</a:t>
            </a:r>
            <a:endParaRPr lang="en-US" sz="1100"/>
          </a:p>
        </p:txBody>
      </p:sp>
      <p:sp>
        <p:nvSpPr>
          <p:cNvPr id="57" name="AutoShape 57"/>
          <p:cNvSpPr/>
          <p:nvPr/>
        </p:nvSpPr>
        <p:spPr>
          <a:xfrm>
            <a:off x="7531100" y="4470400"/>
            <a:ext cx="2006600" cy="558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1" i="0" u="none" strike="noStrike">
                <a:solidFill>
                  <a:srgbClr val="2B2F36"/>
                </a:solidFill>
                <a:latin typeface="Noto Sans SC"/>
                <a:ea typeface="Noto Sans SC"/>
                <a:cs typeface="Noto Sans SC"/>
                <a:sym typeface="Noto Sans SC"/>
              </a:rPr>
              <a:t>双教师蒸馏 8B，百元本地跑</a:t>
            </a:r>
            <a:endParaRPr lang="en-US" sz="1100"/>
          </a:p>
        </p:txBody>
      </p:sp>
      <p:sp>
        <p:nvSpPr>
          <p:cNvPr id="58" name="AutoShape 58"/>
          <p:cNvSpPr/>
          <p:nvPr/>
        </p:nvSpPr>
        <p:spPr>
          <a:xfrm>
            <a:off x="10820400" y="3911600"/>
            <a:ext cx="203200" cy="203200"/>
          </a:xfrm>
          <a:prstGeom prst="ellipse">
            <a:avLst/>
          </a:prstGeom>
          <a:solidFill>
            <a:srgbClr val="D9962E">
              <a:alpha val="100000"/>
            </a:srgbClr>
          </a:solidFill>
          <a:ln w="25400" cap="flat" cmpd="sng">
            <a:solidFill>
              <a:srgbClr val="FAF8F3">
                <a:alpha val="100000"/>
              </a:srgbClr>
            </a:solidFill>
            <a:prstDash val="solid"/>
            <a:round/>
          </a:ln>
        </p:spPr>
        <p:txBody>
          <a:bodyPr vert="horz" wrap="square" lIns="63500" tIns="63500" rIns="63500" bIns="63500" rtlCol="0" anchor="ctr"/>
          <a:lstStyle/>
          <a:p>
            <a:pPr algn="ctr">
              <a:defRPr/>
            </a:pPr>
            <a:endParaRPr/>
          </a:p>
        </p:txBody>
      </p:sp>
      <p:sp>
        <p:nvSpPr>
          <p:cNvPr id="59" name="AutoShape 59"/>
          <p:cNvSpPr/>
          <p:nvPr/>
        </p:nvSpPr>
        <p:spPr>
          <a:xfrm>
            <a:off x="9829800" y="3098800"/>
            <a:ext cx="2184400" cy="685800"/>
          </a:xfrm>
          <a:prstGeom prst="roundRect">
            <a:avLst>
              <a:gd name="adj" fmla="val 1111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0" name="AutoShape 60"/>
          <p:cNvSpPr/>
          <p:nvPr/>
        </p:nvSpPr>
        <p:spPr>
          <a:xfrm>
            <a:off x="9956800" y="3175000"/>
            <a:ext cx="20066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50" b="1" i="0" u="none" strike="noStrike">
                <a:solidFill>
                  <a:srgbClr val="D9962E"/>
                </a:solidFill>
                <a:latin typeface="Roboto Mono"/>
                <a:ea typeface="Roboto Mono"/>
                <a:cs typeface="Roboto Mono"/>
                <a:sym typeface="Roboto Mono"/>
              </a:rPr>
              <a:t>问题 4</a:t>
            </a:r>
            <a:endParaRPr lang="en-US" sz="1100"/>
          </a:p>
        </p:txBody>
      </p:sp>
      <p:sp>
        <p:nvSpPr>
          <p:cNvPr id="61" name="AutoShape 61"/>
          <p:cNvSpPr/>
          <p:nvPr/>
        </p:nvSpPr>
        <p:spPr>
          <a:xfrm>
            <a:off x="9956800" y="3352800"/>
            <a:ext cx="2006600" cy="203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信任与落地</a:t>
            </a:r>
            <a:endParaRPr lang="en-US" sz="1100"/>
          </a:p>
        </p:txBody>
      </p:sp>
      <p:sp>
        <p:nvSpPr>
          <p:cNvPr id="62" name="AutoShape 62"/>
          <p:cNvSpPr/>
          <p:nvPr/>
        </p:nvSpPr>
        <p:spPr>
          <a:xfrm>
            <a:off x="9956800" y="3581400"/>
            <a:ext cx="2006600" cy="203200"/>
          </a:xfrm>
          <a:prstGeom prst="rect">
            <a:avLst/>
          </a:prstGeom>
          <a:noFill/>
          <a:ln w="12700" cap="flat" cmpd="sng">
            <a:noFill/>
            <a:prstDash val="solid"/>
            <a:round/>
          </a:ln>
        </p:spPr>
        <p:txBody>
          <a:bodyPr vert="horz" wrap="square" lIns="0" tIns="0" rIns="0" bIns="0" rtlCol="0" anchor="t" anchorCtr="0"/>
          <a:lstStyle/>
          <a:p>
            <a:pPr marL="0" indent="0" algn="l">
              <a:lnSpc>
                <a:spcPct val="108333"/>
              </a:lnSpc>
              <a:defRPr/>
            </a:pPr>
            <a:r>
              <a:rPr lang="en-US" sz="850" b="0" i="0" u="none" strike="noStrike">
                <a:solidFill>
                  <a:srgbClr val="5B6770"/>
                </a:solidFill>
                <a:latin typeface="Noto Sans SC"/>
                <a:ea typeface="Noto Sans SC"/>
                <a:cs typeface="Noto Sans SC"/>
                <a:sym typeface="Noto Sans SC"/>
              </a:rPr>
              <a:t>误报回填污染、无候选会漏网</a:t>
            </a:r>
            <a:endParaRPr lang="en-US" sz="1100"/>
          </a:p>
        </p:txBody>
      </p:sp>
      <p:sp>
        <p:nvSpPr>
          <p:cNvPr id="63" name="AutoShape 63"/>
          <p:cNvSpPr/>
          <p:nvPr/>
        </p:nvSpPr>
        <p:spPr>
          <a:xfrm>
            <a:off x="9829800" y="4191000"/>
            <a:ext cx="2184400" cy="914400"/>
          </a:xfrm>
          <a:prstGeom prst="roundRect">
            <a:avLst>
              <a:gd name="adj" fmla="val 8333"/>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4" name="AutoShape 64"/>
          <p:cNvSpPr/>
          <p:nvPr/>
        </p:nvSpPr>
        <p:spPr>
          <a:xfrm>
            <a:off x="9956800" y="4292600"/>
            <a:ext cx="20066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50" b="1" i="0" u="none" strike="noStrike">
                <a:solidFill>
                  <a:srgbClr val="345E80"/>
                </a:solidFill>
                <a:latin typeface="Roboto Mono"/>
                <a:ea typeface="Roboto Mono"/>
                <a:cs typeface="Roboto Mono"/>
                <a:sym typeface="Roboto Mono"/>
              </a:rPr>
              <a:t>应对</a:t>
            </a:r>
            <a:endParaRPr lang="en-US" sz="1100"/>
          </a:p>
        </p:txBody>
      </p:sp>
      <p:sp>
        <p:nvSpPr>
          <p:cNvPr id="65" name="AutoShape 65"/>
          <p:cNvSpPr/>
          <p:nvPr/>
        </p:nvSpPr>
        <p:spPr>
          <a:xfrm>
            <a:off x="9956800" y="4470400"/>
            <a:ext cx="2006600" cy="558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1" i="0" u="none" strike="noStrike">
                <a:solidFill>
                  <a:srgbClr val="2B2F36"/>
                </a:solidFill>
                <a:latin typeface="Noto Sans SC"/>
                <a:ea typeface="Noto Sans SC"/>
                <a:cs typeface="Noto Sans SC"/>
                <a:sym typeface="Noto Sans SC"/>
              </a:rPr>
              <a:t>信任层 + 全栈产品化</a:t>
            </a:r>
            <a:endParaRPr lang="en-US" sz="1100"/>
          </a:p>
        </p:txBody>
      </p:sp>
      <p:sp>
        <p:nvSpPr>
          <p:cNvPr id="66" name="AutoShape 66"/>
          <p:cNvSpPr/>
          <p:nvPr/>
        </p:nvSpPr>
        <p:spPr>
          <a:xfrm>
            <a:off x="685800" y="5384800"/>
            <a:ext cx="10820400" cy="711200"/>
          </a:xfrm>
          <a:prstGeom prst="roundRect">
            <a:avLst>
              <a:gd name="adj" fmla="val 14285"/>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7" name="AutoShape 67"/>
          <p:cNvSpPr/>
          <p:nvPr/>
        </p:nvSpPr>
        <p:spPr>
          <a:xfrm>
            <a:off x="685800" y="5384800"/>
            <a:ext cx="50800" cy="7112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8" name="AutoShape 68"/>
          <p:cNvSpPr/>
          <p:nvPr/>
        </p:nvSpPr>
        <p:spPr>
          <a:xfrm>
            <a:off x="990600" y="5511800"/>
            <a:ext cx="508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1" i="0" u="none" strike="noStrike">
                <a:solidFill>
                  <a:srgbClr val="D9962E"/>
                </a:solidFill>
                <a:latin typeface="Roboto Mono"/>
                <a:ea typeface="Roboto Mono"/>
                <a:cs typeface="Roboto Mono"/>
                <a:sym typeface="Roboto Mono"/>
              </a:rPr>
              <a:t>META-METHOD · 贯穿全程的元方法</a:t>
            </a:r>
            <a:endParaRPr lang="en-US" sz="1100"/>
          </a:p>
        </p:txBody>
      </p:sp>
      <p:sp>
        <p:nvSpPr>
          <p:cNvPr id="69" name="AutoShape 69"/>
          <p:cNvSpPr/>
          <p:nvPr/>
        </p:nvSpPr>
        <p:spPr>
          <a:xfrm>
            <a:off x="990600" y="5765800"/>
            <a:ext cx="10414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FFFFFF"/>
                </a:solidFill>
                <a:latin typeface="Noto Sans SC"/>
                <a:ea typeface="Noto Sans SC"/>
                <a:cs typeface="Noto Sans SC"/>
                <a:sym typeface="Noto Sans SC"/>
              </a:rPr>
              <a:t>路线不是先验规划：先判问题属于数据、模型、架构还是工程哪一层，再选对应方法——而不是换模型、堆参数碰运气。</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1F2E38">
                <a:alpha val="100000"/>
              </a:srgbClr>
            </a:gs>
            <a:gs pos="100000">
              <a:srgbClr val="16222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85800" y="5080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8C9CA8"/>
                </a:solidFill>
                <a:latin typeface="Roboto Mono"/>
                <a:ea typeface="Roboto Mono"/>
                <a:cs typeface="Roboto Mono"/>
                <a:sym typeface="Roboto Mono"/>
              </a:rPr>
              <a:t>NIVIS · GRADUATION DEFENSE</a:t>
            </a:r>
            <a:endParaRPr lang="en-US" sz="1100"/>
          </a:p>
        </p:txBody>
      </p:sp>
      <p:sp>
        <p:nvSpPr>
          <p:cNvPr id="4" name="AutoShape 4"/>
          <p:cNvSpPr/>
          <p:nvPr/>
        </p:nvSpPr>
        <p:spPr>
          <a:xfrm>
            <a:off x="635000" y="1905000"/>
            <a:ext cx="3302000" cy="2540000"/>
          </a:xfrm>
          <a:prstGeom prst="rect">
            <a:avLst/>
          </a:prstGeom>
          <a:noFill/>
          <a:ln w="12700" cap="flat" cmpd="sng">
            <a:noFill/>
            <a:prstDash val="solid"/>
            <a:round/>
          </a:ln>
        </p:spPr>
        <p:txBody>
          <a:bodyPr vert="horz" wrap="none" lIns="0" tIns="0" rIns="0" bIns="0" rtlCol="0" anchor="ctr" anchorCtr="0"/>
          <a:lstStyle/>
          <a:p>
            <a:pPr marL="0" indent="0" algn="l">
              <a:lnSpc>
                <a:spcPct val="112500"/>
              </a:lnSpc>
              <a:defRPr/>
            </a:pPr>
            <a:r>
              <a:rPr lang="en-US" sz="15000" b="1" i="0" u="none" strike="noStrike">
                <a:solidFill>
                  <a:srgbClr val="4A7FA5">
                    <a:alpha val="54902"/>
                  </a:srgbClr>
                </a:solidFill>
                <a:latin typeface="Roboto Mono"/>
                <a:ea typeface="Roboto Mono"/>
                <a:cs typeface="Roboto Mono"/>
                <a:sym typeface="Roboto Mono"/>
              </a:rPr>
              <a:t>03</a:t>
            </a:r>
            <a:endParaRPr lang="en-US" sz="1100"/>
          </a:p>
        </p:txBody>
      </p:sp>
      <p:sp>
        <p:nvSpPr>
          <p:cNvPr id="5" name="AutoShape 5"/>
          <p:cNvSpPr/>
          <p:nvPr/>
        </p:nvSpPr>
        <p:spPr>
          <a:xfrm>
            <a:off x="3810000" y="2768600"/>
            <a:ext cx="50800" cy="812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4114800" y="2641600"/>
            <a:ext cx="7112000" cy="635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4000" b="1" i="0" u="none" strike="noStrike">
                <a:solidFill>
                  <a:srgbClr val="FFFFFF"/>
                </a:solidFill>
                <a:latin typeface="Noto Sans SC"/>
                <a:ea typeface="Noto Sans SC"/>
                <a:cs typeface="Noto Sans SC"/>
                <a:sym typeface="Noto Sans SC"/>
              </a:rPr>
              <a:t>我们的价值</a:t>
            </a:r>
            <a:endParaRPr lang="en-US" sz="1100"/>
          </a:p>
        </p:txBody>
      </p:sp>
      <p:sp>
        <p:nvSpPr>
          <p:cNvPr id="7" name="AutoShape 7"/>
          <p:cNvSpPr/>
          <p:nvPr/>
        </p:nvSpPr>
        <p:spPr>
          <a:xfrm>
            <a:off x="4140200" y="3276600"/>
            <a:ext cx="7112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0" i="0" u="none" strike="noStrike">
                <a:solidFill>
                  <a:srgbClr val="8296A2"/>
                </a:solidFill>
                <a:latin typeface="Roboto Mono"/>
                <a:ea typeface="Roboto Mono"/>
                <a:cs typeface="Roboto Mono"/>
                <a:sym typeface="Roboto Mono"/>
              </a:rPr>
              <a:t>OUR REAL VALUE · FOUR LAYERS OF TRANSFERABLE CAPABILITY</a:t>
            </a:r>
            <a:endParaRPr lang="en-US" sz="1100"/>
          </a:p>
        </p:txBody>
      </p:sp>
      <p:sp>
        <p:nvSpPr>
          <p:cNvPr id="8" name="AutoShape 8"/>
          <p:cNvSpPr/>
          <p:nvPr/>
        </p:nvSpPr>
        <p:spPr>
          <a:xfrm>
            <a:off x="4140200" y="3708400"/>
            <a:ext cx="7112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C6D2DA"/>
                </a:solidFill>
                <a:latin typeface="Noto Sans SC"/>
                <a:ea typeface="Noto Sans SC"/>
                <a:cs typeface="Noto Sans SC"/>
                <a:sym typeface="Noto Sans SC"/>
              </a:rPr>
              <a:t>比最终系统更可迁移的，是四层能力：数据 · 工程 · 训练 · 实验——让不可靠的东西变可靠。</a:t>
            </a:r>
            <a:endParaRPr lang="en-US" sz="1100"/>
          </a:p>
        </p:txBody>
      </p:sp>
      <p:sp>
        <p:nvSpPr>
          <p:cNvPr id="9" name="AutoShape 9"/>
          <p:cNvSpPr/>
          <p:nvPr/>
        </p:nvSpPr>
        <p:spPr>
          <a:xfrm>
            <a:off x="4140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140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01 研究背景</a:t>
            </a:r>
            <a:endParaRPr lang="en-US" sz="1100"/>
          </a:p>
        </p:txBody>
      </p:sp>
      <p:sp>
        <p:nvSpPr>
          <p:cNvPr id="11" name="AutoShape 11"/>
          <p:cNvSpPr/>
          <p:nvPr/>
        </p:nvSpPr>
        <p:spPr>
          <a:xfrm>
            <a:off x="52578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2578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02 研究目标</a:t>
            </a:r>
            <a:endParaRPr lang="en-US" sz="1100"/>
          </a:p>
        </p:txBody>
      </p:sp>
      <p:sp>
        <p:nvSpPr>
          <p:cNvPr id="13" name="AutoShape 13"/>
          <p:cNvSpPr/>
          <p:nvPr/>
        </p:nvSpPr>
        <p:spPr>
          <a:xfrm>
            <a:off x="6375400" y="4902200"/>
            <a:ext cx="508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3754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E8DEC8"/>
                </a:solidFill>
                <a:latin typeface="Noto Sans SC"/>
                <a:ea typeface="Noto Sans SC"/>
                <a:cs typeface="Noto Sans SC"/>
                <a:sym typeface="Noto Sans SC"/>
              </a:rPr>
              <a:t>03 我们的价值</a:t>
            </a:r>
            <a:endParaRPr lang="en-US" sz="1100"/>
          </a:p>
        </p:txBody>
      </p:sp>
      <p:sp>
        <p:nvSpPr>
          <p:cNvPr id="15" name="AutoShape 15"/>
          <p:cNvSpPr/>
          <p:nvPr/>
        </p:nvSpPr>
        <p:spPr>
          <a:xfrm>
            <a:off x="74930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74930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04 项目的价值</a:t>
            </a:r>
            <a:endParaRPr lang="en-US" sz="1100"/>
          </a:p>
        </p:txBody>
      </p:sp>
      <p:sp>
        <p:nvSpPr>
          <p:cNvPr id="17" name="AutoShape 17"/>
          <p:cNvSpPr/>
          <p:nvPr/>
        </p:nvSpPr>
        <p:spPr>
          <a:xfrm>
            <a:off x="86106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6106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05 系统演示</a:t>
            </a:r>
            <a:endParaRPr lang="en-US" sz="1100"/>
          </a:p>
        </p:txBody>
      </p:sp>
      <p:sp>
        <p:nvSpPr>
          <p:cNvPr id="19" name="AutoShape 19"/>
          <p:cNvSpPr/>
          <p:nvPr/>
        </p:nvSpPr>
        <p:spPr>
          <a:xfrm>
            <a:off x="9728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728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06 未来规划</a:t>
            </a:r>
            <a:endParaRPr lang="en-US" sz="1100"/>
          </a:p>
        </p:txBody>
      </p:sp>
      <p:sp>
        <p:nvSpPr>
          <p:cNvPr id="21" name="AutoShape 21"/>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6E7E8A"/>
                </a:solidFill>
                <a:latin typeface="Noto Sans SC"/>
                <a:ea typeface="Noto Sans SC"/>
                <a:cs typeface="Noto Sans SC"/>
                <a:sym typeface="Noto Sans SC"/>
              </a:rPr>
              <a:t>Nivis · 基于大语言模型的代码安全分析系统</a:t>
            </a:r>
            <a:endParaRPr lang="en-US" sz="1100"/>
          </a:p>
        </p:txBody>
      </p:sp>
      <p:sp>
        <p:nvSpPr>
          <p:cNvPr id="22" name="AutoShape 22"/>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6E7E8A"/>
                </a:solidFill>
                <a:latin typeface="Roboto Mono"/>
                <a:ea typeface="Roboto Mono"/>
                <a:cs typeface="Roboto Mono"/>
                <a:sym typeface="Roboto Mono"/>
              </a:rPr>
              <a:t>09 / 30</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03 我们的价值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四层可迁移能力：一套让“不可靠”变“可靠”的方法论</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10 / 30</a:t>
            </a:r>
            <a:endParaRPr lang="en-US" sz="1100"/>
          </a:p>
        </p:txBody>
      </p:sp>
      <p:sp>
        <p:nvSpPr>
          <p:cNvPr id="8" name="AutoShape 8"/>
          <p:cNvSpPr/>
          <p:nvPr/>
        </p:nvSpPr>
        <p:spPr>
          <a:xfrm>
            <a:off x="685800" y="1498600"/>
            <a:ext cx="2628900" cy="3327400"/>
          </a:xfrm>
          <a:prstGeom prst="roundRect">
            <a:avLst>
              <a:gd name="adj" fmla="val 3864"/>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85800" y="1498600"/>
            <a:ext cx="2628900" cy="508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9000" y="1727200"/>
            <a:ext cx="330200" cy="330200"/>
          </a:xfrm>
          <a:prstGeom prst="rect">
            <a:avLst/>
          </a:prstGeom>
        </p:spPr>
      </p:pic>
      <p:sp>
        <p:nvSpPr>
          <p:cNvPr id="11" name="AutoShape 11"/>
          <p:cNvSpPr/>
          <p:nvPr/>
        </p:nvSpPr>
        <p:spPr>
          <a:xfrm>
            <a:off x="1346200" y="1701800"/>
            <a:ext cx="1778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500" b="1" i="0" u="none" strike="noStrike">
                <a:solidFill>
                  <a:srgbClr val="2B2F36"/>
                </a:solidFill>
                <a:latin typeface="Noto Sans SC"/>
                <a:ea typeface="Noto Sans SC"/>
                <a:cs typeface="Noto Sans SC"/>
                <a:sym typeface="Noto Sans SC"/>
              </a:rPr>
              <a:t>数据层</a:t>
            </a:r>
            <a:endParaRPr lang="en-US" sz="1100"/>
          </a:p>
        </p:txBody>
      </p:sp>
      <p:sp>
        <p:nvSpPr>
          <p:cNvPr id="12" name="AutoShape 12"/>
          <p:cNvSpPr/>
          <p:nvPr/>
        </p:nvSpPr>
        <p:spPr>
          <a:xfrm>
            <a:off x="1346200" y="2006600"/>
            <a:ext cx="17780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00" b="1" i="0" u="none" strike="noStrike">
                <a:solidFill>
                  <a:srgbClr val="4A7FA5"/>
                </a:solidFill>
                <a:latin typeface="Roboto Mono"/>
                <a:ea typeface="Roboto Mono"/>
                <a:cs typeface="Roboto Mono"/>
                <a:sym typeface="Roboto Mono"/>
              </a:rPr>
              <a:t>LAYER 01 · DATA</a:t>
            </a:r>
            <a:endParaRPr lang="en-US" sz="1100"/>
          </a:p>
        </p:txBody>
      </p:sp>
      <p:cxnSp>
        <p:nvCxnSpPr>
          <p:cNvPr id="13" name="Connector 13"/>
          <p:cNvCxnSpPr/>
          <p:nvPr/>
        </p:nvCxnSpPr>
        <p:spPr>
          <a:xfrm rot="-19205">
            <a:off x="863618" y="2254250"/>
            <a:ext cx="22733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14" name="AutoShape 14"/>
          <p:cNvSpPr/>
          <p:nvPr/>
        </p:nvSpPr>
        <p:spPr>
          <a:xfrm>
            <a:off x="863600" y="2362200"/>
            <a:ext cx="22860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50" b="1" i="0" u="none" strike="noStrike">
                <a:solidFill>
                  <a:srgbClr val="4A7FA5"/>
                </a:solidFill>
                <a:latin typeface="Roboto Mono"/>
                <a:ea typeface="Roboto Mono"/>
                <a:cs typeface="Roboto Mono"/>
                <a:sym typeface="Roboto Mono"/>
              </a:rPr>
              <a:t>会什么 · CAPABILITY</a:t>
            </a:r>
            <a:endParaRPr lang="en-US" sz="1100"/>
          </a:p>
        </p:txBody>
      </p:sp>
      <p:sp>
        <p:nvSpPr>
          <p:cNvPr id="15" name="AutoShape 15"/>
          <p:cNvSpPr/>
          <p:nvPr/>
        </p:nvSpPr>
        <p:spPr>
          <a:xfrm>
            <a:off x="863600" y="2654300"/>
            <a:ext cx="63500" cy="635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1016000" y="2590800"/>
            <a:ext cx="2120900" cy="5334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950" b="0" i="0" u="none" strike="noStrike">
                <a:solidFill>
                  <a:srgbClr val="2B2F36"/>
                </a:solidFill>
                <a:latin typeface="Noto Sans SC"/>
                <a:ea typeface="Noto Sans SC"/>
                <a:cs typeface="Noto Sans SC"/>
                <a:sym typeface="Noto Sans SC"/>
              </a:rPr>
              <a:t>给标签找最高权威：MITRE / NVD / GHSA 官方对齐</a:t>
            </a:r>
            <a:endParaRPr lang="en-US" sz="1100"/>
          </a:p>
        </p:txBody>
      </p:sp>
      <p:sp>
        <p:nvSpPr>
          <p:cNvPr id="17" name="AutoShape 17"/>
          <p:cNvSpPr/>
          <p:nvPr/>
        </p:nvSpPr>
        <p:spPr>
          <a:xfrm>
            <a:off x="863600" y="3263900"/>
            <a:ext cx="63500" cy="635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1016000" y="3200400"/>
            <a:ext cx="2120900" cy="5334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950" b="0" i="0" u="none" strike="noStrike">
                <a:solidFill>
                  <a:srgbClr val="2B2F36"/>
                </a:solidFill>
                <a:latin typeface="Noto Sans SC"/>
                <a:ea typeface="Noto Sans SC"/>
                <a:cs typeface="Noto Sans SC"/>
                <a:sym typeface="Noto Sans SC"/>
              </a:rPr>
              <a:t>先摸清失败模式，再按弱点定向补数据</a:t>
            </a:r>
            <a:endParaRPr lang="en-US" sz="1100"/>
          </a:p>
        </p:txBody>
      </p:sp>
      <p:sp>
        <p:nvSpPr>
          <p:cNvPr id="19" name="AutoShape 19"/>
          <p:cNvSpPr/>
          <p:nvPr/>
        </p:nvSpPr>
        <p:spPr>
          <a:xfrm>
            <a:off x="863600" y="3873500"/>
            <a:ext cx="63500" cy="635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016000" y="3810000"/>
            <a:ext cx="2120900" cy="5334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950" b="0" i="0" u="none" strike="noStrike">
                <a:solidFill>
                  <a:srgbClr val="2B2F36"/>
                </a:solidFill>
                <a:latin typeface="Noto Sans SC"/>
                <a:ea typeface="Noto Sans SC"/>
                <a:cs typeface="Noto Sans SC"/>
                <a:sym typeface="Noto Sans SC"/>
              </a:rPr>
              <a:t>AI 审查 AI：双分区防合谋、六步协议、26 类错误分级</a:t>
            </a:r>
            <a:endParaRPr lang="en-US" sz="1100"/>
          </a:p>
        </p:txBody>
      </p:sp>
      <p:sp>
        <p:nvSpPr>
          <p:cNvPr id="21" name="AutoShape 21"/>
          <p:cNvSpPr/>
          <p:nvPr/>
        </p:nvSpPr>
        <p:spPr>
          <a:xfrm>
            <a:off x="838200" y="4267200"/>
            <a:ext cx="2324100" cy="457200"/>
          </a:xfrm>
          <a:prstGeom prst="roundRect">
            <a:avLst>
              <a:gd name="adj" fmla="val 16666"/>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965200" y="4343400"/>
            <a:ext cx="2070100" cy="3556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850" b="1" i="0" u="none" strike="noStrike">
                <a:solidFill>
                  <a:srgbClr val="2B2F36"/>
                </a:solidFill>
                <a:latin typeface="Noto Sans SC"/>
                <a:ea typeface="Noto Sans SC"/>
                <a:cs typeface="Noto Sans SC"/>
                <a:sym typeface="Noto Sans SC"/>
              </a:rPr>
              <a:t>15 个审计版本 · 6 轮泄漏审计 · 68 个真实 CVE 对齐修 11 处</a:t>
            </a:r>
            <a:endParaRPr lang="en-US" sz="1100"/>
          </a:p>
        </p:txBody>
      </p:sp>
      <p:sp>
        <p:nvSpPr>
          <p:cNvPr id="23" name="AutoShape 23"/>
          <p:cNvSpPr/>
          <p:nvPr/>
        </p:nvSpPr>
        <p:spPr>
          <a:xfrm>
            <a:off x="3416300" y="1498600"/>
            <a:ext cx="2628900" cy="3327400"/>
          </a:xfrm>
          <a:prstGeom prst="roundRect">
            <a:avLst>
              <a:gd name="adj" fmla="val 3864"/>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3416300" y="1498600"/>
            <a:ext cx="2628900" cy="508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19500" y="1727200"/>
            <a:ext cx="330200" cy="330200"/>
          </a:xfrm>
          <a:prstGeom prst="rect">
            <a:avLst/>
          </a:prstGeom>
        </p:spPr>
      </p:pic>
      <p:sp>
        <p:nvSpPr>
          <p:cNvPr id="26" name="AutoShape 26"/>
          <p:cNvSpPr/>
          <p:nvPr/>
        </p:nvSpPr>
        <p:spPr>
          <a:xfrm>
            <a:off x="4076700" y="1701800"/>
            <a:ext cx="1778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500" b="1" i="0" u="none" strike="noStrike">
                <a:solidFill>
                  <a:srgbClr val="2B2F36"/>
                </a:solidFill>
                <a:latin typeface="Noto Sans SC"/>
                <a:ea typeface="Noto Sans SC"/>
                <a:cs typeface="Noto Sans SC"/>
                <a:sym typeface="Noto Sans SC"/>
              </a:rPr>
              <a:t>工程层</a:t>
            </a:r>
            <a:endParaRPr lang="en-US" sz="1100"/>
          </a:p>
        </p:txBody>
      </p:sp>
      <p:sp>
        <p:nvSpPr>
          <p:cNvPr id="27" name="AutoShape 27"/>
          <p:cNvSpPr/>
          <p:nvPr/>
        </p:nvSpPr>
        <p:spPr>
          <a:xfrm>
            <a:off x="4076700" y="2006600"/>
            <a:ext cx="17780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00" b="1" i="0" u="none" strike="noStrike">
                <a:solidFill>
                  <a:srgbClr val="6FA39B"/>
                </a:solidFill>
                <a:latin typeface="Roboto Mono"/>
                <a:ea typeface="Roboto Mono"/>
                <a:cs typeface="Roboto Mono"/>
                <a:sym typeface="Roboto Mono"/>
              </a:rPr>
              <a:t>LAYER 02 · ENGINEERING</a:t>
            </a:r>
            <a:endParaRPr lang="en-US" sz="1100"/>
          </a:p>
        </p:txBody>
      </p:sp>
      <p:cxnSp>
        <p:nvCxnSpPr>
          <p:cNvPr id="28" name="Connector 28"/>
          <p:cNvCxnSpPr/>
          <p:nvPr/>
        </p:nvCxnSpPr>
        <p:spPr>
          <a:xfrm rot="-19205">
            <a:off x="3594118" y="2254250"/>
            <a:ext cx="22733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29" name="AutoShape 29"/>
          <p:cNvSpPr/>
          <p:nvPr/>
        </p:nvSpPr>
        <p:spPr>
          <a:xfrm>
            <a:off x="3594100" y="2362200"/>
            <a:ext cx="22860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50" b="1" i="0" u="none" strike="noStrike">
                <a:solidFill>
                  <a:srgbClr val="6FA39B"/>
                </a:solidFill>
                <a:latin typeface="Roboto Mono"/>
                <a:ea typeface="Roboto Mono"/>
                <a:cs typeface="Roboto Mono"/>
                <a:sym typeface="Roboto Mono"/>
              </a:rPr>
              <a:t>会什么 · CAPABILITY</a:t>
            </a:r>
            <a:endParaRPr lang="en-US" sz="1100"/>
          </a:p>
        </p:txBody>
      </p:sp>
      <p:sp>
        <p:nvSpPr>
          <p:cNvPr id="30" name="AutoShape 30"/>
          <p:cNvSpPr/>
          <p:nvPr/>
        </p:nvSpPr>
        <p:spPr>
          <a:xfrm>
            <a:off x="3594100" y="2654300"/>
            <a:ext cx="63500" cy="635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3746500" y="2590800"/>
            <a:ext cx="2120900" cy="5334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950" b="0" i="0" u="none" strike="noStrike">
                <a:solidFill>
                  <a:srgbClr val="2B2F36"/>
                </a:solidFill>
                <a:latin typeface="Noto Sans SC"/>
                <a:ea typeface="Noto Sans SC"/>
                <a:cs typeface="Noto Sans SC"/>
                <a:sym typeface="Noto Sans SC"/>
              </a:rPr>
              <a:t>把模型注意力当预算：两级调度，先预筛后精审</a:t>
            </a:r>
            <a:endParaRPr lang="en-US" sz="1100"/>
          </a:p>
        </p:txBody>
      </p:sp>
      <p:sp>
        <p:nvSpPr>
          <p:cNvPr id="32" name="AutoShape 32"/>
          <p:cNvSpPr/>
          <p:nvPr/>
        </p:nvSpPr>
        <p:spPr>
          <a:xfrm>
            <a:off x="3594100" y="3263900"/>
            <a:ext cx="63500" cy="635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3746500" y="3200400"/>
            <a:ext cx="2120900" cy="5334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950" b="0" i="0" u="none" strike="noStrike">
                <a:solidFill>
                  <a:srgbClr val="2B2F36"/>
                </a:solidFill>
                <a:latin typeface="Noto Sans SC"/>
                <a:ea typeface="Noto Sans SC"/>
                <a:cs typeface="Noto Sans SC"/>
                <a:sym typeface="Noto Sans SC"/>
              </a:rPr>
              <a:t>划清“提示”与“判定”的边界，机制替代许愿</a:t>
            </a:r>
            <a:endParaRPr lang="en-US" sz="1100"/>
          </a:p>
        </p:txBody>
      </p:sp>
      <p:sp>
        <p:nvSpPr>
          <p:cNvPr id="34" name="AutoShape 34"/>
          <p:cNvSpPr/>
          <p:nvPr/>
        </p:nvSpPr>
        <p:spPr>
          <a:xfrm>
            <a:off x="3594100" y="3873500"/>
            <a:ext cx="63500" cy="635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3746500" y="3810000"/>
            <a:ext cx="2120900" cy="5334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950" b="0" i="0" u="none" strike="noStrike">
                <a:solidFill>
                  <a:srgbClr val="2B2F36"/>
                </a:solidFill>
                <a:latin typeface="Noto Sans SC"/>
                <a:ea typeface="Noto Sans SC"/>
                <a:cs typeface="Noto Sans SC"/>
                <a:sym typeface="Noto Sans SC"/>
              </a:rPr>
              <a:t>确定性优先：正则/AST 能解决的不调 LLM</a:t>
            </a:r>
            <a:endParaRPr lang="en-US" sz="1100"/>
          </a:p>
        </p:txBody>
      </p:sp>
      <p:sp>
        <p:nvSpPr>
          <p:cNvPr id="36" name="AutoShape 36"/>
          <p:cNvSpPr/>
          <p:nvPr/>
        </p:nvSpPr>
        <p:spPr>
          <a:xfrm>
            <a:off x="3568700" y="4267200"/>
            <a:ext cx="2324100" cy="457200"/>
          </a:xfrm>
          <a:prstGeom prst="roundRect">
            <a:avLst>
              <a:gd name="adj" fmla="val 16666"/>
            </a:avLst>
          </a:prstGeom>
          <a:solidFill>
            <a:srgbClr val="E9F2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3695700" y="4343400"/>
            <a:ext cx="2070100" cy="3556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850" b="1" i="0" u="none" strike="noStrike">
                <a:solidFill>
                  <a:srgbClr val="2B2F36"/>
                </a:solidFill>
                <a:latin typeface="Noto Sans SC"/>
                <a:ea typeface="Noto Sans SC"/>
                <a:cs typeface="Noto Sans SC"/>
                <a:sym typeface="Noto Sans SC"/>
              </a:rPr>
              <a:t>送审 5,575→285 字符 · 调用 216→65，约降 70%</a:t>
            </a:r>
            <a:endParaRPr lang="en-US" sz="1100"/>
          </a:p>
        </p:txBody>
      </p:sp>
      <p:sp>
        <p:nvSpPr>
          <p:cNvPr id="38" name="AutoShape 38"/>
          <p:cNvSpPr/>
          <p:nvPr/>
        </p:nvSpPr>
        <p:spPr>
          <a:xfrm>
            <a:off x="6146800" y="1498600"/>
            <a:ext cx="2628900" cy="3327400"/>
          </a:xfrm>
          <a:prstGeom prst="roundRect">
            <a:avLst>
              <a:gd name="adj" fmla="val 3864"/>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6146800" y="1498600"/>
            <a:ext cx="2628900" cy="508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0" name="Picture 4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0" y="1727200"/>
            <a:ext cx="330200" cy="330200"/>
          </a:xfrm>
          <a:prstGeom prst="rect">
            <a:avLst/>
          </a:prstGeom>
        </p:spPr>
      </p:pic>
      <p:sp>
        <p:nvSpPr>
          <p:cNvPr id="41" name="AutoShape 41"/>
          <p:cNvSpPr/>
          <p:nvPr/>
        </p:nvSpPr>
        <p:spPr>
          <a:xfrm>
            <a:off x="6807200" y="1701800"/>
            <a:ext cx="1778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500" b="1" i="0" u="none" strike="noStrike">
                <a:solidFill>
                  <a:srgbClr val="2B2F36"/>
                </a:solidFill>
                <a:latin typeface="Noto Sans SC"/>
                <a:ea typeface="Noto Sans SC"/>
                <a:cs typeface="Noto Sans SC"/>
                <a:sym typeface="Noto Sans SC"/>
              </a:rPr>
              <a:t>训练层</a:t>
            </a:r>
            <a:endParaRPr lang="en-US" sz="1100"/>
          </a:p>
        </p:txBody>
      </p:sp>
      <p:sp>
        <p:nvSpPr>
          <p:cNvPr id="42" name="AutoShape 42"/>
          <p:cNvSpPr/>
          <p:nvPr/>
        </p:nvSpPr>
        <p:spPr>
          <a:xfrm>
            <a:off x="6807200" y="2006600"/>
            <a:ext cx="17780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00" b="1" i="0" u="none" strike="noStrike">
                <a:solidFill>
                  <a:srgbClr val="D9962E"/>
                </a:solidFill>
                <a:latin typeface="Roboto Mono"/>
                <a:ea typeface="Roboto Mono"/>
                <a:cs typeface="Roboto Mono"/>
                <a:sym typeface="Roboto Mono"/>
              </a:rPr>
              <a:t>LAYER 03 · TRAINING</a:t>
            </a:r>
            <a:endParaRPr lang="en-US" sz="1100"/>
          </a:p>
        </p:txBody>
      </p:sp>
      <p:cxnSp>
        <p:nvCxnSpPr>
          <p:cNvPr id="43" name="Connector 43"/>
          <p:cNvCxnSpPr/>
          <p:nvPr/>
        </p:nvCxnSpPr>
        <p:spPr>
          <a:xfrm rot="-19205">
            <a:off x="6324618" y="2254250"/>
            <a:ext cx="22733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44" name="AutoShape 44"/>
          <p:cNvSpPr/>
          <p:nvPr/>
        </p:nvSpPr>
        <p:spPr>
          <a:xfrm>
            <a:off x="6324600" y="2362200"/>
            <a:ext cx="22860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50" b="1" i="0" u="none" strike="noStrike">
                <a:solidFill>
                  <a:srgbClr val="D9962E"/>
                </a:solidFill>
                <a:latin typeface="Roboto Mono"/>
                <a:ea typeface="Roboto Mono"/>
                <a:cs typeface="Roboto Mono"/>
                <a:sym typeface="Roboto Mono"/>
              </a:rPr>
              <a:t>会什么 · CAPABILITY</a:t>
            </a:r>
            <a:endParaRPr lang="en-US" sz="1100"/>
          </a:p>
        </p:txBody>
      </p:sp>
      <p:sp>
        <p:nvSpPr>
          <p:cNvPr id="45" name="AutoShape 45"/>
          <p:cNvSpPr/>
          <p:nvPr/>
        </p:nvSpPr>
        <p:spPr>
          <a:xfrm>
            <a:off x="6324600" y="2654300"/>
            <a:ext cx="63500" cy="635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AutoShape 46"/>
          <p:cNvSpPr/>
          <p:nvPr/>
        </p:nvSpPr>
        <p:spPr>
          <a:xfrm>
            <a:off x="6477000" y="2590800"/>
            <a:ext cx="2120900" cy="5334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950" b="0" i="0" u="none" strike="noStrike">
                <a:solidFill>
                  <a:srgbClr val="2B2F36"/>
                </a:solidFill>
                <a:latin typeface="Noto Sans SC"/>
                <a:ea typeface="Noto Sans SC"/>
                <a:cs typeface="Noto Sans SC"/>
                <a:sym typeface="Noto Sans SC"/>
              </a:rPr>
              <a:t>先判任务需要基座的什么能力，再选训练手段</a:t>
            </a:r>
            <a:endParaRPr lang="en-US" sz="1100"/>
          </a:p>
        </p:txBody>
      </p:sp>
      <p:sp>
        <p:nvSpPr>
          <p:cNvPr id="47" name="AutoShape 47"/>
          <p:cNvSpPr/>
          <p:nvPr/>
        </p:nvSpPr>
        <p:spPr>
          <a:xfrm>
            <a:off x="6324600" y="3263900"/>
            <a:ext cx="63500" cy="635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AutoShape 48"/>
          <p:cNvSpPr/>
          <p:nvPr/>
        </p:nvSpPr>
        <p:spPr>
          <a:xfrm>
            <a:off x="6477000" y="3200400"/>
            <a:ext cx="2120900" cy="5334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950" b="0" i="0" u="none" strike="noStrike">
                <a:solidFill>
                  <a:srgbClr val="2B2F36"/>
                </a:solidFill>
                <a:latin typeface="Noto Sans SC"/>
                <a:ea typeface="Noto Sans SC"/>
                <a:cs typeface="Noto Sans SC"/>
                <a:sym typeface="Noto Sans SC"/>
              </a:rPr>
              <a:t>分得清什么能训、什么不能硬训（CPT 两次失败后果断放弃）</a:t>
            </a:r>
            <a:endParaRPr lang="en-US" sz="1100"/>
          </a:p>
        </p:txBody>
      </p:sp>
      <p:sp>
        <p:nvSpPr>
          <p:cNvPr id="49" name="AutoShape 49"/>
          <p:cNvSpPr/>
          <p:nvPr/>
        </p:nvSpPr>
        <p:spPr>
          <a:xfrm>
            <a:off x="6324600" y="3873500"/>
            <a:ext cx="63500" cy="635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50"/>
          <p:cNvSpPr/>
          <p:nvPr/>
        </p:nvSpPr>
        <p:spPr>
          <a:xfrm>
            <a:off x="6477000" y="3810000"/>
            <a:ext cx="2120900" cy="5334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950" b="0" i="0" u="none" strike="noStrike">
                <a:solidFill>
                  <a:srgbClr val="2B2F36"/>
                </a:solidFill>
                <a:latin typeface="Noto Sans SC"/>
                <a:ea typeface="Noto Sans SC"/>
                <a:cs typeface="Noto Sans SC"/>
                <a:sym typeface="Noto Sans SC"/>
              </a:rPr>
              <a:t>为泛化设计变体数据，每轮只动一个变量</a:t>
            </a:r>
            <a:endParaRPr lang="en-US" sz="1100"/>
          </a:p>
        </p:txBody>
      </p:sp>
      <p:sp>
        <p:nvSpPr>
          <p:cNvPr id="51" name="AutoShape 51"/>
          <p:cNvSpPr/>
          <p:nvPr/>
        </p:nvSpPr>
        <p:spPr>
          <a:xfrm>
            <a:off x="6299200" y="4267200"/>
            <a:ext cx="2324100" cy="457200"/>
          </a:xfrm>
          <a:prstGeom prst="roundRect">
            <a:avLst>
              <a:gd name="adj" fmla="val 16666"/>
            </a:avLst>
          </a:prstGeom>
          <a:solidFill>
            <a:srgbClr val="FAF0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AutoShape 52"/>
          <p:cNvSpPr/>
          <p:nvPr/>
        </p:nvSpPr>
        <p:spPr>
          <a:xfrm>
            <a:off x="6426200" y="4343400"/>
            <a:ext cx="2070100" cy="3556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850" b="1" i="0" u="none" strike="noStrike">
                <a:solidFill>
                  <a:srgbClr val="2B2F36"/>
                </a:solidFill>
                <a:latin typeface="Noto Sans SC"/>
                <a:ea typeface="Noto Sans SC"/>
                <a:cs typeface="Noto Sans SC"/>
                <a:sym typeface="Noto Sans SC"/>
              </a:rPr>
              <a:t>双教师蒸馏 8B、约百元成本 · 10,167 条语料冻结待训</a:t>
            </a:r>
            <a:endParaRPr lang="en-US" sz="1100"/>
          </a:p>
        </p:txBody>
      </p:sp>
      <p:sp>
        <p:nvSpPr>
          <p:cNvPr id="53" name="AutoShape 53"/>
          <p:cNvSpPr/>
          <p:nvPr/>
        </p:nvSpPr>
        <p:spPr>
          <a:xfrm>
            <a:off x="8877300" y="1498600"/>
            <a:ext cx="2628900" cy="3327400"/>
          </a:xfrm>
          <a:prstGeom prst="roundRect">
            <a:avLst>
              <a:gd name="adj" fmla="val 3864"/>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4" name="AutoShape 54"/>
          <p:cNvSpPr/>
          <p:nvPr/>
        </p:nvSpPr>
        <p:spPr>
          <a:xfrm>
            <a:off x="8877300" y="1498600"/>
            <a:ext cx="2628900" cy="50800"/>
          </a:xfrm>
          <a:prstGeom prst="roundRect">
            <a:avLst>
              <a:gd name="adj" fmla="val 5000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5" name="Picture 5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080500" y="1727200"/>
            <a:ext cx="330200" cy="330200"/>
          </a:xfrm>
          <a:prstGeom prst="rect">
            <a:avLst/>
          </a:prstGeom>
        </p:spPr>
      </p:pic>
      <p:sp>
        <p:nvSpPr>
          <p:cNvPr id="56" name="AutoShape 56"/>
          <p:cNvSpPr/>
          <p:nvPr/>
        </p:nvSpPr>
        <p:spPr>
          <a:xfrm>
            <a:off x="9537700" y="1701800"/>
            <a:ext cx="1778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500" b="1" i="0" u="none" strike="noStrike">
                <a:solidFill>
                  <a:srgbClr val="2B2F36"/>
                </a:solidFill>
                <a:latin typeface="Noto Sans SC"/>
                <a:ea typeface="Noto Sans SC"/>
                <a:cs typeface="Noto Sans SC"/>
                <a:sym typeface="Noto Sans SC"/>
              </a:rPr>
              <a:t>实验层</a:t>
            </a:r>
            <a:endParaRPr lang="en-US" sz="1100"/>
          </a:p>
        </p:txBody>
      </p:sp>
      <p:sp>
        <p:nvSpPr>
          <p:cNvPr id="57" name="AutoShape 57"/>
          <p:cNvSpPr/>
          <p:nvPr/>
        </p:nvSpPr>
        <p:spPr>
          <a:xfrm>
            <a:off x="9537700" y="2006600"/>
            <a:ext cx="17780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00" b="1" i="0" u="none" strike="noStrike">
                <a:solidFill>
                  <a:srgbClr val="345E80"/>
                </a:solidFill>
                <a:latin typeface="Roboto Mono"/>
                <a:ea typeface="Roboto Mono"/>
                <a:cs typeface="Roboto Mono"/>
                <a:sym typeface="Roboto Mono"/>
              </a:rPr>
              <a:t>LAYER 04 · EXPERIMENT</a:t>
            </a:r>
            <a:endParaRPr lang="en-US" sz="1100"/>
          </a:p>
        </p:txBody>
      </p:sp>
      <p:cxnSp>
        <p:nvCxnSpPr>
          <p:cNvPr id="58" name="Connector 58"/>
          <p:cNvCxnSpPr/>
          <p:nvPr/>
        </p:nvCxnSpPr>
        <p:spPr>
          <a:xfrm rot="-19205">
            <a:off x="9055118" y="2254250"/>
            <a:ext cx="22733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59" name="AutoShape 59"/>
          <p:cNvSpPr/>
          <p:nvPr/>
        </p:nvSpPr>
        <p:spPr>
          <a:xfrm>
            <a:off x="9055100" y="2362200"/>
            <a:ext cx="2286000" cy="152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850" b="1" i="0" u="none" strike="noStrike">
                <a:solidFill>
                  <a:srgbClr val="345E80"/>
                </a:solidFill>
                <a:latin typeface="Roboto Mono"/>
                <a:ea typeface="Roboto Mono"/>
                <a:cs typeface="Roboto Mono"/>
                <a:sym typeface="Roboto Mono"/>
              </a:rPr>
              <a:t>会什么 · CAPABILITY</a:t>
            </a:r>
            <a:endParaRPr lang="en-US" sz="1100"/>
          </a:p>
        </p:txBody>
      </p:sp>
      <p:sp>
        <p:nvSpPr>
          <p:cNvPr id="60" name="AutoShape 60"/>
          <p:cNvSpPr/>
          <p:nvPr/>
        </p:nvSpPr>
        <p:spPr>
          <a:xfrm>
            <a:off x="9055100" y="2654300"/>
            <a:ext cx="63500" cy="63500"/>
          </a:xfrm>
          <a:prstGeom prst="roundRect">
            <a:avLst>
              <a:gd name="adj" fmla="val 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1" name="AutoShape 61"/>
          <p:cNvSpPr/>
          <p:nvPr/>
        </p:nvSpPr>
        <p:spPr>
          <a:xfrm>
            <a:off x="9207500" y="2590800"/>
            <a:ext cx="2120900" cy="5334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950" b="0" i="0" u="none" strike="noStrike">
                <a:solidFill>
                  <a:srgbClr val="2B2F36"/>
                </a:solidFill>
                <a:latin typeface="Noto Sans SC"/>
                <a:ea typeface="Noto Sans SC"/>
                <a:cs typeface="Noto Sans SC"/>
                <a:sym typeface="Noto Sans SC"/>
              </a:rPr>
              <a:t>主动设计能证伪自己的实验</a:t>
            </a:r>
            <a:endParaRPr lang="en-US" sz="1100"/>
          </a:p>
        </p:txBody>
      </p:sp>
      <p:sp>
        <p:nvSpPr>
          <p:cNvPr id="62" name="AutoShape 62"/>
          <p:cNvSpPr/>
          <p:nvPr/>
        </p:nvSpPr>
        <p:spPr>
          <a:xfrm>
            <a:off x="9055100" y="3263900"/>
            <a:ext cx="63500" cy="63500"/>
          </a:xfrm>
          <a:prstGeom prst="roundRect">
            <a:avLst>
              <a:gd name="adj" fmla="val 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3" name="AutoShape 63"/>
          <p:cNvSpPr/>
          <p:nvPr/>
        </p:nvSpPr>
        <p:spPr>
          <a:xfrm>
            <a:off x="9207500" y="3200400"/>
            <a:ext cx="2120900" cy="5334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950" b="0" i="0" u="none" strike="noStrike">
                <a:solidFill>
                  <a:srgbClr val="2B2F36"/>
                </a:solidFill>
                <a:latin typeface="Noto Sans SC"/>
                <a:ea typeface="Noto Sans SC"/>
                <a:cs typeface="Noto Sans SC"/>
                <a:sym typeface="Noto Sans SC"/>
              </a:rPr>
              <a:t>loose/strict + micro/加权双口径，测量与自举隔离</a:t>
            </a:r>
            <a:endParaRPr lang="en-US" sz="1100"/>
          </a:p>
        </p:txBody>
      </p:sp>
      <p:sp>
        <p:nvSpPr>
          <p:cNvPr id="64" name="AutoShape 64"/>
          <p:cNvSpPr/>
          <p:nvPr/>
        </p:nvSpPr>
        <p:spPr>
          <a:xfrm>
            <a:off x="9055100" y="3873500"/>
            <a:ext cx="63500" cy="63500"/>
          </a:xfrm>
          <a:prstGeom prst="roundRect">
            <a:avLst>
              <a:gd name="adj" fmla="val 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5" name="AutoShape 65"/>
          <p:cNvSpPr/>
          <p:nvPr/>
        </p:nvSpPr>
        <p:spPr>
          <a:xfrm>
            <a:off x="9207500" y="3810000"/>
            <a:ext cx="2120900" cy="5334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950" b="0" i="0" u="none" strike="noStrike">
                <a:solidFill>
                  <a:srgbClr val="2B2F36"/>
                </a:solidFill>
                <a:latin typeface="Noto Sans SC"/>
                <a:ea typeface="Noto Sans SC"/>
                <a:cs typeface="Noto Sans SC"/>
                <a:sym typeface="Noto Sans SC"/>
              </a:rPr>
              <a:t>归因分流记账，把每次失败沉淀成检查制度</a:t>
            </a:r>
            <a:endParaRPr lang="en-US" sz="1100"/>
          </a:p>
        </p:txBody>
      </p:sp>
      <p:sp>
        <p:nvSpPr>
          <p:cNvPr id="66" name="AutoShape 66"/>
          <p:cNvSpPr/>
          <p:nvPr/>
        </p:nvSpPr>
        <p:spPr>
          <a:xfrm>
            <a:off x="9029700" y="4267200"/>
            <a:ext cx="2324100" cy="457200"/>
          </a:xfrm>
          <a:prstGeom prst="roundRect">
            <a:avLst>
              <a:gd name="adj" fmla="val 16666"/>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7" name="AutoShape 67"/>
          <p:cNvSpPr/>
          <p:nvPr/>
        </p:nvSpPr>
        <p:spPr>
          <a:xfrm>
            <a:off x="9156700" y="4343400"/>
            <a:ext cx="2070100" cy="3556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850" b="1" i="0" u="none" strike="noStrike">
                <a:solidFill>
                  <a:srgbClr val="2B2F36"/>
                </a:solidFill>
                <a:latin typeface="Noto Sans SC"/>
                <a:ea typeface="Noto Sans SC"/>
                <a:cs typeface="Noto Sans SC"/>
                <a:sym typeface="Noto Sans SC"/>
              </a:rPr>
              <a:t>N=3 + Bootstrap · score_batch 一键复算 · 三层测试面</a:t>
            </a:r>
            <a:endParaRPr lang="en-US" sz="1100"/>
          </a:p>
        </p:txBody>
      </p:sp>
      <p:sp>
        <p:nvSpPr>
          <p:cNvPr id="68" name="AutoShape 68"/>
          <p:cNvSpPr/>
          <p:nvPr/>
        </p:nvSpPr>
        <p:spPr>
          <a:xfrm>
            <a:off x="685800" y="5029200"/>
            <a:ext cx="10820400" cy="1041400"/>
          </a:xfrm>
          <a:prstGeom prst="roundRect">
            <a:avLst>
              <a:gd name="adj" fmla="val 9756"/>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9" name="AutoShape 69"/>
          <p:cNvSpPr/>
          <p:nvPr/>
        </p:nvSpPr>
        <p:spPr>
          <a:xfrm>
            <a:off x="685800" y="5029200"/>
            <a:ext cx="50800" cy="10414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0" name="AutoShape 70"/>
          <p:cNvSpPr/>
          <p:nvPr/>
        </p:nvSpPr>
        <p:spPr>
          <a:xfrm>
            <a:off x="990600" y="5181600"/>
            <a:ext cx="508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1" i="0" u="none" strike="noStrike">
                <a:solidFill>
                  <a:srgbClr val="D9962E"/>
                </a:solidFill>
                <a:latin typeface="Roboto Mono"/>
                <a:ea typeface="Roboto Mono"/>
                <a:cs typeface="Roboto Mono"/>
                <a:sym typeface="Roboto Mono"/>
              </a:rPr>
              <a:t>META-CAPABILITY · 贯穿四层的元能力</a:t>
            </a:r>
            <a:endParaRPr lang="en-US" sz="1100"/>
          </a:p>
        </p:txBody>
      </p:sp>
      <p:sp>
        <p:nvSpPr>
          <p:cNvPr id="71" name="AutoShape 71"/>
          <p:cNvSpPr/>
          <p:nvPr/>
        </p:nvSpPr>
        <p:spPr>
          <a:xfrm>
            <a:off x="990600" y="5435600"/>
            <a:ext cx="10363200" cy="5588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250" b="1" i="0" u="none" strike="noStrike">
                <a:solidFill>
                  <a:srgbClr val="FFFFFF"/>
                </a:solidFill>
                <a:latin typeface="Noto Sans SC"/>
                <a:ea typeface="Noto Sans SC"/>
                <a:cs typeface="Noto Sans SC"/>
                <a:sym typeface="Noto Sans SC"/>
              </a:rPr>
              <a:t>主动寻找并验证方法论：遇到新问题，先判断它属于数据、工程、训练还是实验层，再选对应工具——</a:t>
            </a:r>
            <a:endParaRPr lang="en-US" sz="1100"/>
          </a:p>
          <a:p>
            <a:pPr marL="0" indent="0" algn="l">
              <a:lnSpc>
                <a:spcPct val="125000"/>
              </a:lnSpc>
            </a:pPr>
            <a:r>
              <a:rPr lang="en-US" sz="1250" b="1" i="0" u="none" strike="noStrike">
                <a:solidFill>
                  <a:srgbClr val="FFFFFF"/>
                </a:solidFill>
                <a:latin typeface="Noto Sans SC"/>
                <a:ea typeface="Noto Sans SC"/>
                <a:cs typeface="Noto Sans SC"/>
                <a:sym typeface="Noto Sans SC"/>
              </a:rPr>
              <a:t>方法论本身就是可迁移能力。终点不是训出一个模型，而是知道怎么让不可靠的东西变得可靠。</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03 我们的价值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能力一 · 数据层：让每一条数据都经得起追问</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11 / 30</a:t>
            </a:r>
            <a:endParaRPr lang="en-US" sz="1100"/>
          </a:p>
        </p:txBody>
      </p:sp>
      <p:sp>
        <p:nvSpPr>
          <p:cNvPr id="8" name="AutoShape 8"/>
          <p:cNvSpPr/>
          <p:nvPr/>
        </p:nvSpPr>
        <p:spPr>
          <a:xfrm>
            <a:off x="685800" y="1498600"/>
            <a:ext cx="50800" cy="2286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38200" y="1498600"/>
            <a:ext cx="4826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方法 · 我们会什么</a:t>
            </a:r>
            <a:endParaRPr lang="en-US" sz="1100"/>
          </a:p>
        </p:txBody>
      </p:sp>
      <p:sp>
        <p:nvSpPr>
          <p:cNvPr id="10" name="AutoShape 10"/>
          <p:cNvSpPr/>
          <p:nvPr/>
        </p:nvSpPr>
        <p:spPr>
          <a:xfrm>
            <a:off x="685800" y="1879600"/>
            <a:ext cx="381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4A7FA5"/>
                </a:solidFill>
                <a:latin typeface="Roboto Mono"/>
                <a:ea typeface="Roboto Mono"/>
                <a:cs typeface="Roboto Mono"/>
                <a:sym typeface="Roboto Mono"/>
              </a:rPr>
              <a:t>01</a:t>
            </a:r>
            <a:endParaRPr lang="en-US" sz="1100"/>
          </a:p>
        </p:txBody>
      </p:sp>
      <p:sp>
        <p:nvSpPr>
          <p:cNvPr id="11" name="AutoShape 11"/>
          <p:cNvSpPr/>
          <p:nvPr/>
        </p:nvSpPr>
        <p:spPr>
          <a:xfrm>
            <a:off x="1143000" y="18923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给标签找最高权威背书</a:t>
            </a:r>
            <a:endParaRPr lang="en-US" sz="1100"/>
          </a:p>
        </p:txBody>
      </p:sp>
      <p:sp>
        <p:nvSpPr>
          <p:cNvPr id="12" name="AutoShape 12"/>
          <p:cNvSpPr/>
          <p:nvPr/>
        </p:nvSpPr>
        <p:spPr>
          <a:xfrm>
            <a:off x="1143000" y="2133600"/>
            <a:ext cx="4876800" cy="558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00" b="0" i="0" u="none" strike="noStrike">
                <a:solidFill>
                  <a:srgbClr val="5B6770"/>
                </a:solidFill>
                <a:latin typeface="Noto Sans SC"/>
                <a:ea typeface="Noto Sans SC"/>
                <a:cs typeface="Noto Sans SC"/>
                <a:sym typeface="Noto Sans SC"/>
              </a:rPr>
              <a:t>68 个真实 CVE 全部对齐 MITRE CWE v4.20 与 NVD/GHSA 官方描述，修正 11 处映射，标签不靠模型自说自话。</a:t>
            </a:r>
            <a:endParaRPr lang="en-US" sz="1100"/>
          </a:p>
        </p:txBody>
      </p:sp>
      <p:sp>
        <p:nvSpPr>
          <p:cNvPr id="13" name="AutoShape 13"/>
          <p:cNvSpPr/>
          <p:nvPr/>
        </p:nvSpPr>
        <p:spPr>
          <a:xfrm>
            <a:off x="685800" y="2819400"/>
            <a:ext cx="381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4A7FA5"/>
                </a:solidFill>
                <a:latin typeface="Roboto Mono"/>
                <a:ea typeface="Roboto Mono"/>
                <a:cs typeface="Roboto Mono"/>
                <a:sym typeface="Roboto Mono"/>
              </a:rPr>
              <a:t>02</a:t>
            </a:r>
            <a:endParaRPr lang="en-US" sz="1100"/>
          </a:p>
        </p:txBody>
      </p:sp>
      <p:sp>
        <p:nvSpPr>
          <p:cNvPr id="14" name="AutoShape 14"/>
          <p:cNvSpPr/>
          <p:nvPr/>
        </p:nvSpPr>
        <p:spPr>
          <a:xfrm>
            <a:off x="1143000" y="28321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先摸失败模式，再定向补数据</a:t>
            </a:r>
            <a:endParaRPr lang="en-US" sz="1100"/>
          </a:p>
        </p:txBody>
      </p:sp>
      <p:sp>
        <p:nvSpPr>
          <p:cNvPr id="15" name="AutoShape 15"/>
          <p:cNvSpPr/>
          <p:nvPr/>
        </p:nvSpPr>
        <p:spPr>
          <a:xfrm>
            <a:off x="1143000" y="3073400"/>
            <a:ext cx="4876800" cy="558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00" b="0" i="0" u="none" strike="noStrike">
                <a:solidFill>
                  <a:srgbClr val="5B6770"/>
                </a:solidFill>
                <a:latin typeface="Noto Sans SC"/>
                <a:ea typeface="Noto Sans SC"/>
                <a:cs typeface="Noto Sans SC"/>
                <a:sym typeface="Noto Sans SC"/>
              </a:rPr>
              <a:t>归纳 12 种失败模式，按弱点造改名 / 换控制流 / 换语法糖的变体，而不是无脑堆量。</a:t>
            </a:r>
            <a:endParaRPr lang="en-US" sz="1100"/>
          </a:p>
        </p:txBody>
      </p:sp>
      <p:sp>
        <p:nvSpPr>
          <p:cNvPr id="16" name="AutoShape 16"/>
          <p:cNvSpPr/>
          <p:nvPr/>
        </p:nvSpPr>
        <p:spPr>
          <a:xfrm>
            <a:off x="685800" y="3759200"/>
            <a:ext cx="381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4A7FA5"/>
                </a:solidFill>
                <a:latin typeface="Roboto Mono"/>
                <a:ea typeface="Roboto Mono"/>
                <a:cs typeface="Roboto Mono"/>
                <a:sym typeface="Roboto Mono"/>
              </a:rPr>
              <a:t>03</a:t>
            </a:r>
            <a:endParaRPr lang="en-US" sz="1100"/>
          </a:p>
        </p:txBody>
      </p:sp>
      <p:sp>
        <p:nvSpPr>
          <p:cNvPr id="17" name="AutoShape 17"/>
          <p:cNvSpPr/>
          <p:nvPr/>
        </p:nvSpPr>
        <p:spPr>
          <a:xfrm>
            <a:off x="1143000" y="37719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AI 审查 AI，防止合谋</a:t>
            </a:r>
            <a:endParaRPr lang="en-US" sz="1100"/>
          </a:p>
        </p:txBody>
      </p:sp>
      <p:sp>
        <p:nvSpPr>
          <p:cNvPr id="18" name="AutoShape 18"/>
          <p:cNvSpPr/>
          <p:nvPr/>
        </p:nvSpPr>
        <p:spPr>
          <a:xfrm>
            <a:off x="1143000" y="4013200"/>
            <a:ext cx="4876800" cy="558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00" b="0" i="0" u="none" strike="noStrike">
                <a:solidFill>
                  <a:srgbClr val="5B6770"/>
                </a:solidFill>
                <a:latin typeface="Noto Sans SC"/>
                <a:ea typeface="Noto Sans SC"/>
                <a:cs typeface="Noto Sans SC"/>
                <a:sym typeface="Noto Sans SC"/>
              </a:rPr>
              <a:t>生产模型与审计模型不同家族、双分区隔离；六步审查协议；26 种错误类型按 critical/major/minor 分级。</a:t>
            </a:r>
            <a:endParaRPr lang="en-US" sz="1100"/>
          </a:p>
        </p:txBody>
      </p:sp>
      <p:sp>
        <p:nvSpPr>
          <p:cNvPr id="19" name="AutoShape 19"/>
          <p:cNvSpPr/>
          <p:nvPr/>
        </p:nvSpPr>
        <p:spPr>
          <a:xfrm>
            <a:off x="685800" y="4699000"/>
            <a:ext cx="381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4A7FA5"/>
                </a:solidFill>
                <a:latin typeface="Roboto Mono"/>
                <a:ea typeface="Roboto Mono"/>
                <a:cs typeface="Roboto Mono"/>
                <a:sym typeface="Roboto Mono"/>
              </a:rPr>
              <a:t>04</a:t>
            </a:r>
            <a:endParaRPr lang="en-US" sz="1100"/>
          </a:p>
        </p:txBody>
      </p:sp>
      <p:sp>
        <p:nvSpPr>
          <p:cNvPr id="20" name="AutoShape 20"/>
          <p:cNvSpPr/>
          <p:nvPr/>
        </p:nvSpPr>
        <p:spPr>
          <a:xfrm>
            <a:off x="1143000" y="47117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质量闸门不为产量让路</a:t>
            </a:r>
            <a:endParaRPr lang="en-US" sz="1100"/>
          </a:p>
        </p:txBody>
      </p:sp>
      <p:sp>
        <p:nvSpPr>
          <p:cNvPr id="21" name="AutoShape 21"/>
          <p:cNvSpPr/>
          <p:nvPr/>
        </p:nvSpPr>
        <p:spPr>
          <a:xfrm>
            <a:off x="1143000" y="4953000"/>
            <a:ext cx="4876800" cy="558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00" b="0" i="0" u="none" strike="noStrike">
                <a:solidFill>
                  <a:srgbClr val="5B6770"/>
                </a:solidFill>
                <a:latin typeface="Noto Sans SC"/>
                <a:ea typeface="Noto Sans SC"/>
                <a:cs typeface="Noto Sans SC"/>
                <a:sym typeface="Noto Sans SC"/>
              </a:rPr>
              <a:t>v2_0 → v2_15 共 15 个审计版本，错误率不达标不进下一轮，宁缺毋滥。</a:t>
            </a:r>
            <a:endParaRPr lang="en-US" sz="1100"/>
          </a:p>
        </p:txBody>
      </p:sp>
      <p:sp>
        <p:nvSpPr>
          <p:cNvPr id="22" name="AutoShape 22"/>
          <p:cNvSpPr/>
          <p:nvPr/>
        </p:nvSpPr>
        <p:spPr>
          <a:xfrm>
            <a:off x="6299200" y="1498600"/>
            <a:ext cx="50800" cy="2286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451600" y="14986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应对 · 这些方法解决过什么</a:t>
            </a:r>
            <a:endParaRPr lang="en-US" sz="1100"/>
          </a:p>
        </p:txBody>
      </p:sp>
      <p:sp>
        <p:nvSpPr>
          <p:cNvPr id="24" name="AutoShape 24"/>
          <p:cNvSpPr/>
          <p:nvPr/>
        </p:nvSpPr>
        <p:spPr>
          <a:xfrm>
            <a:off x="6299200" y="1879600"/>
            <a:ext cx="52070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299200" y="18796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527800" y="20066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合成集虚高 59.2pp → 双测试集制度</a:t>
            </a:r>
            <a:endParaRPr lang="en-US" sz="1100"/>
          </a:p>
        </p:txBody>
      </p:sp>
      <p:sp>
        <p:nvSpPr>
          <p:cNvPr id="27" name="AutoShape 27"/>
          <p:cNvSpPr/>
          <p:nvPr/>
        </p:nvSpPr>
        <p:spPr>
          <a:xfrm>
            <a:off x="6527800" y="2286000"/>
            <a:ext cx="48006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合成集召回 0.967、真实 CVE-fix 仅 0.375；此后任何结论必须合成 + 真实双轨验证。</a:t>
            </a:r>
            <a:endParaRPr lang="en-US" sz="1100"/>
          </a:p>
        </p:txBody>
      </p:sp>
      <p:sp>
        <p:nvSpPr>
          <p:cNvPr id="28" name="AutoShape 28"/>
          <p:cNvSpPr/>
          <p:nvPr/>
        </p:nvSpPr>
        <p:spPr>
          <a:xfrm>
            <a:off x="6299200" y="3149600"/>
            <a:ext cx="52070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6299200" y="31496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6527800" y="32766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蒸馏语料规模爆炸 → 三次清洗收敛</a:t>
            </a:r>
            <a:endParaRPr lang="en-US" sz="1100"/>
          </a:p>
        </p:txBody>
      </p:sp>
      <p:sp>
        <p:nvSpPr>
          <p:cNvPr id="31" name="AutoShape 31"/>
          <p:cNvSpPr/>
          <p:nvPr/>
        </p:nvSpPr>
        <p:spPr>
          <a:xfrm>
            <a:off x="6527800" y="3556000"/>
            <a:ext cx="48006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10,700 条双教师产出，经清洗与 Jaccard 行级审计收敛到 7,692 条，质量优先于数量。</a:t>
            </a:r>
            <a:endParaRPr lang="en-US" sz="1100"/>
          </a:p>
        </p:txBody>
      </p:sp>
      <p:sp>
        <p:nvSpPr>
          <p:cNvPr id="32" name="AutoShape 32"/>
          <p:cNvSpPr/>
          <p:nvPr/>
        </p:nvSpPr>
        <p:spPr>
          <a:xfrm>
            <a:off x="6299200" y="4419600"/>
            <a:ext cx="52070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6299200" y="44196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6527800" y="45466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答案泄漏隐患 → 六轮泄漏审计</a:t>
            </a:r>
            <a:endParaRPr lang="en-US" sz="1100"/>
          </a:p>
        </p:txBody>
      </p:sp>
      <p:sp>
        <p:nvSpPr>
          <p:cNvPr id="35" name="AutoShape 35"/>
          <p:cNvSpPr/>
          <p:nvPr/>
        </p:nvSpPr>
        <p:spPr>
          <a:xfrm>
            <a:off x="6527800" y="4826000"/>
            <a:ext cx="48006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文件名 / 注释含答案、训练-测试重叠全部拦截；parse_fail 计漏报，统计口径全项目统一。</a:t>
            </a:r>
            <a:endParaRPr lang="en-US" sz="1100"/>
          </a:p>
        </p:txBody>
      </p:sp>
      <p:sp>
        <p:nvSpPr>
          <p:cNvPr id="36" name="AutoShape 36"/>
          <p:cNvSpPr/>
          <p:nvPr/>
        </p:nvSpPr>
        <p:spPr>
          <a:xfrm>
            <a:off x="685800" y="5689600"/>
            <a:ext cx="10820400" cy="736600"/>
          </a:xfrm>
          <a:prstGeom prst="roundRect">
            <a:avLst>
              <a:gd name="adj" fmla="val 13793"/>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685800" y="5689600"/>
            <a:ext cx="50800" cy="7366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990600" y="5816600"/>
            <a:ext cx="508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D9962E"/>
                </a:solidFill>
                <a:latin typeface="Roboto Mono"/>
                <a:ea typeface="Roboto Mono"/>
                <a:cs typeface="Roboto Mono"/>
                <a:sym typeface="Roboto Mono"/>
              </a:rPr>
              <a:t>IRON RULE · 铁律</a:t>
            </a:r>
            <a:endParaRPr lang="en-US" sz="1100"/>
          </a:p>
        </p:txBody>
      </p:sp>
      <p:sp>
        <p:nvSpPr>
          <p:cNvPr id="39" name="AutoShape 39"/>
          <p:cNvSpPr/>
          <p:nvPr/>
        </p:nvSpPr>
        <p:spPr>
          <a:xfrm>
            <a:off x="990600" y="6032500"/>
            <a:ext cx="10312400" cy="3556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250" b="1" i="0" u="none" strike="noStrike">
                <a:solidFill>
                  <a:srgbClr val="FFFFFF"/>
                </a:solidFill>
                <a:latin typeface="Noto Sans SC"/>
                <a:ea typeface="Noto Sans SC"/>
                <a:cs typeface="Noto Sans SC"/>
                <a:sym typeface="Noto Sans SC"/>
              </a:rPr>
              <a:t>先问“数据对不对”，再问“模型强不强”——数据可信度是一切指标的前提。</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03 我们的价值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能力二 · 工程层：把注意力当预算，把不确定性关进机制</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12 / 30</a:t>
            </a:r>
            <a:endParaRPr lang="en-US" sz="1100"/>
          </a:p>
        </p:txBody>
      </p:sp>
      <p:sp>
        <p:nvSpPr>
          <p:cNvPr id="8" name="AutoShape 8"/>
          <p:cNvSpPr/>
          <p:nvPr/>
        </p:nvSpPr>
        <p:spPr>
          <a:xfrm>
            <a:off x="685800" y="1498600"/>
            <a:ext cx="50800" cy="2286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38200" y="1498600"/>
            <a:ext cx="4826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方法 · 我们会什么</a:t>
            </a:r>
            <a:endParaRPr lang="en-US" sz="1100"/>
          </a:p>
        </p:txBody>
      </p:sp>
      <p:sp>
        <p:nvSpPr>
          <p:cNvPr id="10" name="AutoShape 10"/>
          <p:cNvSpPr/>
          <p:nvPr/>
        </p:nvSpPr>
        <p:spPr>
          <a:xfrm>
            <a:off x="685800" y="1879600"/>
            <a:ext cx="381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6FA39B"/>
                </a:solidFill>
                <a:latin typeface="Roboto Mono"/>
                <a:ea typeface="Roboto Mono"/>
                <a:cs typeface="Roboto Mono"/>
                <a:sym typeface="Roboto Mono"/>
              </a:rPr>
              <a:t>01</a:t>
            </a:r>
            <a:endParaRPr lang="en-US" sz="1100"/>
          </a:p>
        </p:txBody>
      </p:sp>
      <p:sp>
        <p:nvSpPr>
          <p:cNvPr id="11" name="AutoShape 11"/>
          <p:cNvSpPr/>
          <p:nvPr/>
        </p:nvSpPr>
        <p:spPr>
          <a:xfrm>
            <a:off x="1143000" y="18923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两级注意力预算调度</a:t>
            </a:r>
            <a:endParaRPr lang="en-US" sz="1100"/>
          </a:p>
        </p:txBody>
      </p:sp>
      <p:sp>
        <p:nvSpPr>
          <p:cNvPr id="12" name="AutoShape 12"/>
          <p:cNvSpPr/>
          <p:nvPr/>
        </p:nvSpPr>
        <p:spPr>
          <a:xfrm>
            <a:off x="1143000" y="2133600"/>
            <a:ext cx="4876800" cy="558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00" b="0" i="0" u="none" strike="noStrike">
                <a:solidFill>
                  <a:srgbClr val="5B6770"/>
                </a:solidFill>
                <a:latin typeface="Noto Sans SC"/>
                <a:ea typeface="Noto Sans SC"/>
                <a:cs typeface="Noto Sans SC"/>
                <a:sym typeface="Noto Sans SC"/>
              </a:rPr>
              <a:t>文件级正则预筛 → 函数级精审；单次送审 5,575 → 285 字符，模型调用 216 → 65 次，约降 70%。</a:t>
            </a:r>
            <a:endParaRPr lang="en-US" sz="1100"/>
          </a:p>
        </p:txBody>
      </p:sp>
      <p:sp>
        <p:nvSpPr>
          <p:cNvPr id="13" name="AutoShape 13"/>
          <p:cNvSpPr/>
          <p:nvPr/>
        </p:nvSpPr>
        <p:spPr>
          <a:xfrm>
            <a:off x="685800" y="2819400"/>
            <a:ext cx="381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6FA39B"/>
                </a:solidFill>
                <a:latin typeface="Roboto Mono"/>
                <a:ea typeface="Roboto Mono"/>
                <a:cs typeface="Roboto Mono"/>
                <a:sym typeface="Roboto Mono"/>
              </a:rPr>
              <a:t>02</a:t>
            </a:r>
            <a:endParaRPr lang="en-US" sz="1100"/>
          </a:p>
        </p:txBody>
      </p:sp>
      <p:sp>
        <p:nvSpPr>
          <p:cNvPr id="14" name="AutoShape 14"/>
          <p:cNvSpPr/>
          <p:nvPr/>
        </p:nvSpPr>
        <p:spPr>
          <a:xfrm>
            <a:off x="1143000" y="28321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划清“提示”与“判定”的边界</a:t>
            </a:r>
            <a:endParaRPr lang="en-US" sz="1100"/>
          </a:p>
        </p:txBody>
      </p:sp>
      <p:sp>
        <p:nvSpPr>
          <p:cNvPr id="15" name="AutoShape 15"/>
          <p:cNvSpPr/>
          <p:nvPr/>
        </p:nvSpPr>
        <p:spPr>
          <a:xfrm>
            <a:off x="1143000" y="3073400"/>
            <a:ext cx="4876800" cy="558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00" b="0" i="0" u="none" strike="noStrike">
                <a:solidFill>
                  <a:srgbClr val="5B6770"/>
                </a:solidFill>
                <a:latin typeface="Noto Sans SC"/>
                <a:ea typeface="Noto Sans SC"/>
                <a:cs typeface="Noto Sans SC"/>
                <a:sym typeface="Noto Sans SC"/>
              </a:rPr>
              <a:t>提示只能约束格式与流程，判不了真伪；真伪交给 N=3 投票、门控回填、证据接地等机制。</a:t>
            </a:r>
            <a:endParaRPr lang="en-US" sz="1100"/>
          </a:p>
        </p:txBody>
      </p:sp>
      <p:sp>
        <p:nvSpPr>
          <p:cNvPr id="16" name="AutoShape 16"/>
          <p:cNvSpPr/>
          <p:nvPr/>
        </p:nvSpPr>
        <p:spPr>
          <a:xfrm>
            <a:off x="685800" y="3759200"/>
            <a:ext cx="381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6FA39B"/>
                </a:solidFill>
                <a:latin typeface="Roboto Mono"/>
                <a:ea typeface="Roboto Mono"/>
                <a:cs typeface="Roboto Mono"/>
                <a:sym typeface="Roboto Mono"/>
              </a:rPr>
              <a:t>03</a:t>
            </a:r>
            <a:endParaRPr lang="en-US" sz="1100"/>
          </a:p>
        </p:txBody>
      </p:sp>
      <p:sp>
        <p:nvSpPr>
          <p:cNvPr id="17" name="AutoShape 17"/>
          <p:cNvSpPr/>
          <p:nvPr/>
        </p:nvSpPr>
        <p:spPr>
          <a:xfrm>
            <a:off x="1143000" y="37719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每个自写机制配守卫用例</a:t>
            </a:r>
            <a:endParaRPr lang="en-US" sz="1100"/>
          </a:p>
        </p:txBody>
      </p:sp>
      <p:sp>
        <p:nvSpPr>
          <p:cNvPr id="18" name="AutoShape 18"/>
          <p:cNvSpPr/>
          <p:nvPr/>
        </p:nvSpPr>
        <p:spPr>
          <a:xfrm>
            <a:off x="1143000" y="4013200"/>
            <a:ext cx="4876800" cy="558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00" b="0" i="0" u="none" strike="noStrike">
                <a:solidFill>
                  <a:srgbClr val="5B6770"/>
                </a:solidFill>
                <a:latin typeface="Noto Sans SC"/>
                <a:ea typeface="Noto Sans SC"/>
                <a:cs typeface="Noto Sans SC"/>
                <a:sym typeface="Noto Sans SC"/>
              </a:rPr>
              <a:t>guard test 先写：机制一旦失效测试先红，杜绝“以为系统在保护你”。</a:t>
            </a:r>
            <a:endParaRPr lang="en-US" sz="1100"/>
          </a:p>
        </p:txBody>
      </p:sp>
      <p:sp>
        <p:nvSpPr>
          <p:cNvPr id="19" name="AutoShape 19"/>
          <p:cNvSpPr/>
          <p:nvPr/>
        </p:nvSpPr>
        <p:spPr>
          <a:xfrm>
            <a:off x="685800" y="4699000"/>
            <a:ext cx="381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6FA39B"/>
                </a:solidFill>
                <a:latin typeface="Roboto Mono"/>
                <a:ea typeface="Roboto Mono"/>
                <a:cs typeface="Roboto Mono"/>
                <a:sym typeface="Roboto Mono"/>
              </a:rPr>
              <a:t>04</a:t>
            </a:r>
            <a:endParaRPr lang="en-US" sz="1100"/>
          </a:p>
        </p:txBody>
      </p:sp>
      <p:sp>
        <p:nvSpPr>
          <p:cNvPr id="20" name="AutoShape 20"/>
          <p:cNvSpPr/>
          <p:nvPr/>
        </p:nvSpPr>
        <p:spPr>
          <a:xfrm>
            <a:off x="1143000" y="47117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确定性优先</a:t>
            </a:r>
            <a:endParaRPr lang="en-US" sz="1100"/>
          </a:p>
        </p:txBody>
      </p:sp>
      <p:sp>
        <p:nvSpPr>
          <p:cNvPr id="21" name="AutoShape 21"/>
          <p:cNvSpPr/>
          <p:nvPr/>
        </p:nvSpPr>
        <p:spPr>
          <a:xfrm>
            <a:off x="1143000" y="4953000"/>
            <a:ext cx="4876800" cy="558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00" b="0" i="0" u="none" strike="noStrike">
                <a:solidFill>
                  <a:srgbClr val="5B6770"/>
                </a:solidFill>
                <a:latin typeface="Noto Sans SC"/>
                <a:ea typeface="Noto Sans SC"/>
                <a:cs typeface="Noto Sans SC"/>
                <a:sym typeface="Noto Sans SC"/>
              </a:rPr>
              <a:t>正则 / AST / 规则能判的绝不调 LLM：零成本、可复现、无幻觉，把模型调用花在刀刃上。</a:t>
            </a:r>
            <a:endParaRPr lang="en-US" sz="1100"/>
          </a:p>
        </p:txBody>
      </p:sp>
      <p:sp>
        <p:nvSpPr>
          <p:cNvPr id="22" name="AutoShape 22"/>
          <p:cNvSpPr/>
          <p:nvPr/>
        </p:nvSpPr>
        <p:spPr>
          <a:xfrm>
            <a:off x="6299200" y="1498600"/>
            <a:ext cx="50800" cy="2286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451600" y="14986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应对 · 这些方法解决过什么</a:t>
            </a:r>
            <a:endParaRPr lang="en-US" sz="1100"/>
          </a:p>
        </p:txBody>
      </p:sp>
      <p:sp>
        <p:nvSpPr>
          <p:cNvPr id="24" name="AutoShape 24"/>
          <p:cNvSpPr/>
          <p:nvPr/>
        </p:nvSpPr>
        <p:spPr>
          <a:xfrm>
            <a:off x="6299200" y="1879600"/>
            <a:ext cx="52070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299200" y="1879600"/>
            <a:ext cx="50800" cy="11176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527800" y="20066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整文件投喂 token 爆炸 → 切片 + 四路召回</a:t>
            </a:r>
            <a:endParaRPr lang="en-US" sz="1100"/>
          </a:p>
        </p:txBody>
      </p:sp>
      <p:sp>
        <p:nvSpPr>
          <p:cNvPr id="27" name="AutoShape 27"/>
          <p:cNvSpPr/>
          <p:nvPr/>
        </p:nvSpPr>
        <p:spPr>
          <a:xfrm>
            <a:off x="6527800" y="2286000"/>
            <a:ext cx="48006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CodeSlicer 切最小相关上下文，四路工具并行召回，只把带行号的证据送裁决。</a:t>
            </a:r>
            <a:endParaRPr lang="en-US" sz="1100"/>
          </a:p>
        </p:txBody>
      </p:sp>
      <p:sp>
        <p:nvSpPr>
          <p:cNvPr id="28" name="AutoShape 28"/>
          <p:cNvSpPr/>
          <p:nvPr/>
        </p:nvSpPr>
        <p:spPr>
          <a:xfrm>
            <a:off x="6299200" y="3149600"/>
            <a:ext cx="52070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6299200" y="3149600"/>
            <a:ext cx="50800" cy="11176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6527800" y="32766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单次输出会“飘” → 门控与可回滚</a:t>
            </a:r>
            <a:endParaRPr lang="en-US" sz="1100"/>
          </a:p>
        </p:txBody>
      </p:sp>
      <p:sp>
        <p:nvSpPr>
          <p:cNvPr id="31" name="AutoShape 31"/>
          <p:cNvSpPr/>
          <p:nvPr/>
        </p:nvSpPr>
        <p:spPr>
          <a:xfrm>
            <a:off x="6527800" y="3556000"/>
            <a:ext cx="48006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N=3 全票门控、抑制池双向可撤销，每条结论带置信度与投票一致性。</a:t>
            </a:r>
            <a:endParaRPr lang="en-US" sz="1100"/>
          </a:p>
        </p:txBody>
      </p:sp>
      <p:sp>
        <p:nvSpPr>
          <p:cNvPr id="32" name="AutoShape 32"/>
          <p:cNvSpPr/>
          <p:nvPr/>
        </p:nvSpPr>
        <p:spPr>
          <a:xfrm>
            <a:off x="6299200" y="4419600"/>
            <a:ext cx="52070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6299200" y="4419600"/>
            <a:ext cx="50800" cy="11176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6527800" y="45466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四后端 × 五硬件碎片化 → 兼容矩阵实测</a:t>
            </a:r>
            <a:endParaRPr lang="en-US" sz="1100"/>
          </a:p>
        </p:txBody>
      </p:sp>
      <p:sp>
        <p:nvSpPr>
          <p:cNvPr id="35" name="AutoShape 35"/>
          <p:cNvSpPr/>
          <p:nvPr/>
        </p:nvSpPr>
        <p:spPr>
          <a:xfrm>
            <a:off x="6527800" y="4826000"/>
            <a:ext cx="48006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6×5 矩阵逐格真跑，不支持就明确标注，不写“理论上兼容”。</a:t>
            </a:r>
            <a:endParaRPr lang="en-US" sz="1100"/>
          </a:p>
        </p:txBody>
      </p:sp>
      <p:sp>
        <p:nvSpPr>
          <p:cNvPr id="36" name="AutoShape 36"/>
          <p:cNvSpPr/>
          <p:nvPr/>
        </p:nvSpPr>
        <p:spPr>
          <a:xfrm>
            <a:off x="685800" y="5689600"/>
            <a:ext cx="10820400" cy="736600"/>
          </a:xfrm>
          <a:prstGeom prst="roundRect">
            <a:avLst>
              <a:gd name="adj" fmla="val 13793"/>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685800" y="5689600"/>
            <a:ext cx="50800" cy="7366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990600" y="5816600"/>
            <a:ext cx="508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D9962E"/>
                </a:solidFill>
                <a:latin typeface="Roboto Mono"/>
                <a:ea typeface="Roboto Mono"/>
                <a:cs typeface="Roboto Mono"/>
                <a:sym typeface="Roboto Mono"/>
              </a:rPr>
              <a:t>CORE PRINCIPLE</a:t>
            </a:r>
            <a:endParaRPr lang="en-US" sz="1100"/>
          </a:p>
        </p:txBody>
      </p:sp>
      <p:sp>
        <p:nvSpPr>
          <p:cNvPr id="39" name="AutoShape 39"/>
          <p:cNvSpPr/>
          <p:nvPr/>
        </p:nvSpPr>
        <p:spPr>
          <a:xfrm>
            <a:off x="990600" y="6032500"/>
            <a:ext cx="10312400" cy="3556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250" b="1" i="0" u="none" strike="noStrike">
                <a:solidFill>
                  <a:srgbClr val="FFFFFF"/>
                </a:solidFill>
                <a:latin typeface="Noto Sans SC"/>
                <a:ea typeface="Noto Sans SC"/>
                <a:cs typeface="Noto Sans SC"/>
                <a:sym typeface="Noto Sans SC"/>
              </a:rPr>
              <a:t>不向模型许愿：把每一个不确定性，都变成一个可测试、可回滚的机制。</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03 我们的价值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能力三 · 训练层：先判任务需要什么能力，再决定怎么训</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13 / 30</a:t>
            </a:r>
            <a:endParaRPr lang="en-US" sz="1100"/>
          </a:p>
        </p:txBody>
      </p:sp>
      <p:sp>
        <p:nvSpPr>
          <p:cNvPr id="8" name="AutoShape 8"/>
          <p:cNvSpPr/>
          <p:nvPr/>
        </p:nvSpPr>
        <p:spPr>
          <a:xfrm>
            <a:off x="685800" y="1498600"/>
            <a:ext cx="50800" cy="2286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38200" y="1498600"/>
            <a:ext cx="4826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方法 · 我们会什么</a:t>
            </a:r>
            <a:endParaRPr lang="en-US" sz="1100"/>
          </a:p>
        </p:txBody>
      </p:sp>
      <p:sp>
        <p:nvSpPr>
          <p:cNvPr id="10" name="AutoShape 10"/>
          <p:cNvSpPr/>
          <p:nvPr/>
        </p:nvSpPr>
        <p:spPr>
          <a:xfrm>
            <a:off x="685800" y="1879600"/>
            <a:ext cx="381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D9962E"/>
                </a:solidFill>
                <a:latin typeface="Roboto Mono"/>
                <a:ea typeface="Roboto Mono"/>
                <a:cs typeface="Roboto Mono"/>
                <a:sym typeface="Roboto Mono"/>
              </a:rPr>
              <a:t>01</a:t>
            </a:r>
            <a:endParaRPr lang="en-US" sz="1100"/>
          </a:p>
        </p:txBody>
      </p:sp>
      <p:sp>
        <p:nvSpPr>
          <p:cNvPr id="11" name="AutoShape 11"/>
          <p:cNvSpPr/>
          <p:nvPr/>
        </p:nvSpPr>
        <p:spPr>
          <a:xfrm>
            <a:off x="1143000" y="18923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任务-能力匹配分析</a:t>
            </a:r>
            <a:endParaRPr lang="en-US" sz="1100"/>
          </a:p>
        </p:txBody>
      </p:sp>
      <p:sp>
        <p:nvSpPr>
          <p:cNvPr id="12" name="AutoShape 12"/>
          <p:cNvSpPr/>
          <p:nvPr/>
        </p:nvSpPr>
        <p:spPr>
          <a:xfrm>
            <a:off x="1143000" y="2133600"/>
            <a:ext cx="4876800" cy="558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00" b="0" i="0" u="none" strike="noStrike">
                <a:solidFill>
                  <a:srgbClr val="5B6770"/>
                </a:solidFill>
                <a:latin typeface="Noto Sans SC"/>
                <a:ea typeface="Noto Sans SC"/>
                <a:cs typeface="Noto Sans SC"/>
                <a:sym typeface="Noto Sans SC"/>
              </a:rPr>
              <a:t>格式遵循靠 SFT、知识靠 RAG 检索、判别靠证据约束、偏好靠 DPO/GRPO——不迷信“继续训练解决一切”。</a:t>
            </a:r>
            <a:endParaRPr lang="en-US" sz="1100"/>
          </a:p>
        </p:txBody>
      </p:sp>
      <p:sp>
        <p:nvSpPr>
          <p:cNvPr id="13" name="AutoShape 13"/>
          <p:cNvSpPr/>
          <p:nvPr/>
        </p:nvSpPr>
        <p:spPr>
          <a:xfrm>
            <a:off x="685800" y="2819400"/>
            <a:ext cx="381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D9962E"/>
                </a:solidFill>
                <a:latin typeface="Roboto Mono"/>
                <a:ea typeface="Roboto Mono"/>
                <a:cs typeface="Roboto Mono"/>
                <a:sym typeface="Roboto Mono"/>
              </a:rPr>
              <a:t>02</a:t>
            </a:r>
            <a:endParaRPr lang="en-US" sz="1100"/>
          </a:p>
        </p:txBody>
      </p:sp>
      <p:sp>
        <p:nvSpPr>
          <p:cNvPr id="14" name="AutoShape 14"/>
          <p:cNvSpPr/>
          <p:nvPr/>
        </p:nvSpPr>
        <p:spPr>
          <a:xfrm>
            <a:off x="1143000" y="28321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分得清能训什么、不能硬训什么</a:t>
            </a:r>
            <a:endParaRPr lang="en-US" sz="1100"/>
          </a:p>
        </p:txBody>
      </p:sp>
      <p:sp>
        <p:nvSpPr>
          <p:cNvPr id="15" name="AutoShape 15"/>
          <p:cNvSpPr/>
          <p:nvPr/>
        </p:nvSpPr>
        <p:spPr>
          <a:xfrm>
            <a:off x="1143000" y="3073400"/>
            <a:ext cx="4876800" cy="558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00" b="0" i="0" u="none" strike="noStrike">
                <a:solidFill>
                  <a:srgbClr val="5B6770"/>
                </a:solidFill>
                <a:latin typeface="Noto Sans SC"/>
                <a:ea typeface="Noto Sans SC"/>
                <a:cs typeface="Noto Sans SC"/>
                <a:sym typeface="Noto Sans SC"/>
              </a:rPr>
              <a:t>CPT 知识注入两次“训练成功、评估爆炸”，判定为知识负迁移后果断放弃，不沉没成本。</a:t>
            </a:r>
            <a:endParaRPr lang="en-US" sz="1100"/>
          </a:p>
        </p:txBody>
      </p:sp>
      <p:sp>
        <p:nvSpPr>
          <p:cNvPr id="16" name="AutoShape 16"/>
          <p:cNvSpPr/>
          <p:nvPr/>
        </p:nvSpPr>
        <p:spPr>
          <a:xfrm>
            <a:off x="685800" y="3759200"/>
            <a:ext cx="381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D9962E"/>
                </a:solidFill>
                <a:latin typeface="Roboto Mono"/>
                <a:ea typeface="Roboto Mono"/>
                <a:cs typeface="Roboto Mono"/>
                <a:sym typeface="Roboto Mono"/>
              </a:rPr>
              <a:t>03</a:t>
            </a:r>
            <a:endParaRPr lang="en-US" sz="1100"/>
          </a:p>
        </p:txBody>
      </p:sp>
      <p:sp>
        <p:nvSpPr>
          <p:cNvPr id="17" name="AutoShape 17"/>
          <p:cNvSpPr/>
          <p:nvPr/>
        </p:nvSpPr>
        <p:spPr>
          <a:xfrm>
            <a:off x="1143000" y="37719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为泛化设计数据</a:t>
            </a:r>
            <a:endParaRPr lang="en-US" sz="1100"/>
          </a:p>
        </p:txBody>
      </p:sp>
      <p:sp>
        <p:nvSpPr>
          <p:cNvPr id="18" name="AutoShape 18"/>
          <p:cNvSpPr/>
          <p:nvPr/>
        </p:nvSpPr>
        <p:spPr>
          <a:xfrm>
            <a:off x="1143000" y="4013200"/>
            <a:ext cx="4876800" cy="558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00" b="0" i="0" u="none" strike="noStrike">
                <a:solidFill>
                  <a:srgbClr val="5B6770"/>
                </a:solidFill>
                <a:latin typeface="Noto Sans SC"/>
                <a:ea typeface="Noto Sans SC"/>
                <a:cs typeface="Noto Sans SC"/>
                <a:sym typeface="Noto Sans SC"/>
              </a:rPr>
              <a:t>同一弱点造改名 / 换控制流 / 换框架写法的多变体，防止模型背下训练题。</a:t>
            </a:r>
            <a:endParaRPr lang="en-US" sz="1100"/>
          </a:p>
        </p:txBody>
      </p:sp>
      <p:sp>
        <p:nvSpPr>
          <p:cNvPr id="19" name="AutoShape 19"/>
          <p:cNvSpPr/>
          <p:nvPr/>
        </p:nvSpPr>
        <p:spPr>
          <a:xfrm>
            <a:off x="685800" y="4699000"/>
            <a:ext cx="381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D9962E"/>
                </a:solidFill>
                <a:latin typeface="Roboto Mono"/>
                <a:ea typeface="Roboto Mono"/>
                <a:cs typeface="Roboto Mono"/>
                <a:sym typeface="Roboto Mono"/>
              </a:rPr>
              <a:t>04</a:t>
            </a:r>
            <a:endParaRPr lang="en-US" sz="1100"/>
          </a:p>
        </p:txBody>
      </p:sp>
      <p:sp>
        <p:nvSpPr>
          <p:cNvPr id="20" name="AutoShape 20"/>
          <p:cNvSpPr/>
          <p:nvPr/>
        </p:nvSpPr>
        <p:spPr>
          <a:xfrm>
            <a:off x="1143000" y="47117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单变量控制</a:t>
            </a:r>
            <a:endParaRPr lang="en-US" sz="1100"/>
          </a:p>
        </p:txBody>
      </p:sp>
      <p:sp>
        <p:nvSpPr>
          <p:cNvPr id="21" name="AutoShape 21"/>
          <p:cNvSpPr/>
          <p:nvPr/>
        </p:nvSpPr>
        <p:spPr>
          <a:xfrm>
            <a:off x="1143000" y="4953000"/>
            <a:ext cx="4876800" cy="558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00" b="0" i="0" u="none" strike="noStrike">
                <a:solidFill>
                  <a:srgbClr val="5B6770"/>
                </a:solidFill>
                <a:latin typeface="Noto Sans SC"/>
                <a:ea typeface="Noto Sans SC"/>
                <a:cs typeface="Noto Sans SC"/>
                <a:sym typeface="Noto Sans SC"/>
              </a:rPr>
              <a:t>每轮只动一个变量，效果才可归因、失败才可定位，多个变量一起动等于没做实验。</a:t>
            </a:r>
            <a:endParaRPr lang="en-US" sz="1100"/>
          </a:p>
        </p:txBody>
      </p:sp>
      <p:sp>
        <p:nvSpPr>
          <p:cNvPr id="22" name="AutoShape 22"/>
          <p:cNvSpPr/>
          <p:nvPr/>
        </p:nvSpPr>
        <p:spPr>
          <a:xfrm>
            <a:off x="6299200" y="1498600"/>
            <a:ext cx="50800" cy="228600"/>
          </a:xfrm>
          <a:prstGeom prst="roundRect">
            <a:avLst>
              <a:gd name="adj" fmla="val 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451600" y="14986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应对 · 这些方法解决过什么</a:t>
            </a:r>
            <a:endParaRPr lang="en-US" sz="1100"/>
          </a:p>
        </p:txBody>
      </p:sp>
      <p:sp>
        <p:nvSpPr>
          <p:cNvPr id="24" name="AutoShape 24"/>
          <p:cNvSpPr/>
          <p:nvPr/>
        </p:nvSpPr>
        <p:spPr>
          <a:xfrm>
            <a:off x="6299200" y="1879600"/>
            <a:ext cx="52070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299200" y="1879600"/>
            <a:ext cx="50800" cy="1117600"/>
          </a:xfrm>
          <a:prstGeom prst="roundRect">
            <a:avLst>
              <a:gd name="adj" fmla="val 5000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527800" y="20066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零样本 → SFT：什么真的涨了</a:t>
            </a:r>
            <a:endParaRPr lang="en-US" sz="1100"/>
          </a:p>
        </p:txBody>
      </p:sp>
      <p:sp>
        <p:nvSpPr>
          <p:cNvPr id="27" name="AutoShape 27"/>
          <p:cNvSpPr/>
          <p:nvPr/>
        </p:nvSpPr>
        <p:spPr>
          <a:xfrm>
            <a:off x="6527800" y="2286000"/>
            <a:ext cx="48006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qwen3-8b 零样本 CVE-fix 召回 0.375，SFT 后 α0.5 到 0.850——格式与判别确实可训。</a:t>
            </a:r>
            <a:endParaRPr lang="en-US" sz="1100"/>
          </a:p>
        </p:txBody>
      </p:sp>
      <p:sp>
        <p:nvSpPr>
          <p:cNvPr id="28" name="AutoShape 28"/>
          <p:cNvSpPr/>
          <p:nvPr/>
        </p:nvSpPr>
        <p:spPr>
          <a:xfrm>
            <a:off x="6299200" y="3149600"/>
            <a:ext cx="52070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6299200" y="3149600"/>
            <a:ext cx="50800" cy="1117600"/>
          </a:xfrm>
          <a:prstGeom prst="roundRect">
            <a:avLst>
              <a:gd name="adj" fmla="val 5000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6527800" y="32766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strict/micro 不涨 → 归给架构</a:t>
            </a:r>
            <a:endParaRPr lang="en-US" sz="1100"/>
          </a:p>
        </p:txBody>
      </p:sp>
      <p:sp>
        <p:nvSpPr>
          <p:cNvPr id="31" name="AutoShape 31"/>
          <p:cNvSpPr/>
          <p:nvPr/>
        </p:nvSpPr>
        <p:spPr>
          <a:xfrm>
            <a:off x="6527800" y="3556000"/>
            <a:ext cx="48006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继续训练不涨严格归因，判断是架构问题而非模型问题，由两阶段与信任层补齐。</a:t>
            </a:r>
            <a:endParaRPr lang="en-US" sz="1100"/>
          </a:p>
        </p:txBody>
      </p:sp>
      <p:sp>
        <p:nvSpPr>
          <p:cNvPr id="32" name="AutoShape 32"/>
          <p:cNvSpPr/>
          <p:nvPr/>
        </p:nvSpPr>
        <p:spPr>
          <a:xfrm>
            <a:off x="6299200" y="4419600"/>
            <a:ext cx="52070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6299200" y="4419600"/>
            <a:ext cx="50800" cy="1117600"/>
          </a:xfrm>
          <a:prstGeom prst="roundRect">
            <a:avLst>
              <a:gd name="adj" fmla="val 5000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6527800" y="45466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偏好优化失败 → 双轨策略</a:t>
            </a:r>
            <a:endParaRPr lang="en-US" sz="1100"/>
          </a:p>
        </p:txBody>
      </p:sp>
      <p:sp>
        <p:nvSpPr>
          <p:cNvPr id="35" name="AutoShape 35"/>
          <p:cNvSpPr/>
          <p:nvPr/>
        </p:nvSpPr>
        <p:spPr>
          <a:xfrm>
            <a:off x="6527800" y="4826000"/>
            <a:ext cx="48006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三次失败后划清 16GB 硬件边界：本地验证方法、云端放大；双教师蒸馏约百元建成万条语料。</a:t>
            </a:r>
            <a:endParaRPr lang="en-US" sz="1100"/>
          </a:p>
        </p:txBody>
      </p:sp>
      <p:sp>
        <p:nvSpPr>
          <p:cNvPr id="36" name="AutoShape 36"/>
          <p:cNvSpPr/>
          <p:nvPr/>
        </p:nvSpPr>
        <p:spPr>
          <a:xfrm>
            <a:off x="685800" y="5689600"/>
            <a:ext cx="10820400" cy="736600"/>
          </a:xfrm>
          <a:prstGeom prst="roundRect">
            <a:avLst>
              <a:gd name="adj" fmla="val 13793"/>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685800" y="5689600"/>
            <a:ext cx="50800" cy="7366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990600" y="5816600"/>
            <a:ext cx="508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D9962E"/>
                </a:solidFill>
                <a:latin typeface="Roboto Mono"/>
                <a:ea typeface="Roboto Mono"/>
                <a:cs typeface="Roboto Mono"/>
                <a:sym typeface="Roboto Mono"/>
              </a:rPr>
              <a:t>CORE PRINCIPLE</a:t>
            </a:r>
            <a:endParaRPr lang="en-US" sz="1100"/>
          </a:p>
        </p:txBody>
      </p:sp>
      <p:sp>
        <p:nvSpPr>
          <p:cNvPr id="39" name="AutoShape 39"/>
          <p:cNvSpPr/>
          <p:nvPr/>
        </p:nvSpPr>
        <p:spPr>
          <a:xfrm>
            <a:off x="990600" y="6032500"/>
            <a:ext cx="10312400" cy="3556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250" b="1" i="0" u="none" strike="noStrike">
                <a:solidFill>
                  <a:srgbClr val="FFFFFF"/>
                </a:solidFill>
                <a:latin typeface="Noto Sans SC"/>
                <a:ea typeface="Noto Sans SC"/>
                <a:cs typeface="Noto Sans SC"/>
                <a:sym typeface="Noto Sans SC"/>
              </a:rPr>
              <a:t>知道“不训什么”和知道“训什么”同样重要——训练不是堆参数，是匹配任务与能力。</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03 我们的价值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能力四 · 实验层：设计能证伪自己的实验，把失败沉淀成制度</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14 / 30</a:t>
            </a:r>
            <a:endParaRPr lang="en-US" sz="1100"/>
          </a:p>
        </p:txBody>
      </p:sp>
      <p:sp>
        <p:nvSpPr>
          <p:cNvPr id="8" name="AutoShape 8"/>
          <p:cNvSpPr/>
          <p:nvPr/>
        </p:nvSpPr>
        <p:spPr>
          <a:xfrm>
            <a:off x="685800" y="1498600"/>
            <a:ext cx="50800" cy="228600"/>
          </a:xfrm>
          <a:prstGeom prst="roundRect">
            <a:avLst>
              <a:gd name="adj" fmla="val 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38200" y="1498600"/>
            <a:ext cx="4826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方法 · 我们会什么</a:t>
            </a:r>
            <a:endParaRPr lang="en-US" sz="1100"/>
          </a:p>
        </p:txBody>
      </p:sp>
      <p:sp>
        <p:nvSpPr>
          <p:cNvPr id="10" name="AutoShape 10"/>
          <p:cNvSpPr/>
          <p:nvPr/>
        </p:nvSpPr>
        <p:spPr>
          <a:xfrm>
            <a:off x="685800" y="1879600"/>
            <a:ext cx="381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345E80"/>
                </a:solidFill>
                <a:latin typeface="Roboto Mono"/>
                <a:ea typeface="Roboto Mono"/>
                <a:cs typeface="Roboto Mono"/>
                <a:sym typeface="Roboto Mono"/>
              </a:rPr>
              <a:t>01</a:t>
            </a:r>
            <a:endParaRPr lang="en-US" sz="1100"/>
          </a:p>
        </p:txBody>
      </p:sp>
      <p:sp>
        <p:nvSpPr>
          <p:cNvPr id="11" name="AutoShape 11"/>
          <p:cNvSpPr/>
          <p:nvPr/>
        </p:nvSpPr>
        <p:spPr>
          <a:xfrm>
            <a:off x="1143000" y="18923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双口径测量</a:t>
            </a:r>
            <a:endParaRPr lang="en-US" sz="1100"/>
          </a:p>
        </p:txBody>
      </p:sp>
      <p:sp>
        <p:nvSpPr>
          <p:cNvPr id="12" name="AutoShape 12"/>
          <p:cNvSpPr/>
          <p:nvPr/>
        </p:nvSpPr>
        <p:spPr>
          <a:xfrm>
            <a:off x="1143000" y="2133600"/>
            <a:ext cx="4876800" cy="558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00" b="0" i="0" u="none" strike="noStrike">
                <a:solidFill>
                  <a:srgbClr val="5B6770"/>
                </a:solidFill>
                <a:latin typeface="Noto Sans SC"/>
                <a:ea typeface="Noto Sans SC"/>
                <a:cs typeface="Noto Sans SC"/>
                <a:sym typeface="Noto Sans SC"/>
              </a:rPr>
              <a:t>loose/strict 双严格度 + micro/macro/风险加权分；未决率与准确率成对呈现，单一指标不许报喜。</a:t>
            </a:r>
            <a:endParaRPr lang="en-US" sz="1100"/>
          </a:p>
        </p:txBody>
      </p:sp>
      <p:sp>
        <p:nvSpPr>
          <p:cNvPr id="13" name="AutoShape 13"/>
          <p:cNvSpPr/>
          <p:nvPr/>
        </p:nvSpPr>
        <p:spPr>
          <a:xfrm>
            <a:off x="685800" y="2819400"/>
            <a:ext cx="381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345E80"/>
                </a:solidFill>
                <a:latin typeface="Roboto Mono"/>
                <a:ea typeface="Roboto Mono"/>
                <a:cs typeface="Roboto Mono"/>
                <a:sym typeface="Roboto Mono"/>
              </a:rPr>
              <a:t>02</a:t>
            </a:r>
            <a:endParaRPr lang="en-US" sz="1100"/>
          </a:p>
        </p:txBody>
      </p:sp>
      <p:sp>
        <p:nvSpPr>
          <p:cNvPr id="14" name="AutoShape 14"/>
          <p:cNvSpPr/>
          <p:nvPr/>
        </p:nvSpPr>
        <p:spPr>
          <a:xfrm>
            <a:off x="1143000" y="28321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测量与自举隔离</a:t>
            </a:r>
            <a:endParaRPr lang="en-US" sz="1100"/>
          </a:p>
        </p:txBody>
      </p:sp>
      <p:sp>
        <p:nvSpPr>
          <p:cNvPr id="15" name="AutoShape 15"/>
          <p:cNvSpPr/>
          <p:nvPr/>
        </p:nvSpPr>
        <p:spPr>
          <a:xfrm>
            <a:off x="1143000" y="3073400"/>
            <a:ext cx="4876800" cy="558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00" b="0" i="0" u="none" strike="noStrike">
                <a:solidFill>
                  <a:srgbClr val="5B6770"/>
                </a:solidFill>
                <a:latin typeface="Noto Sans SC"/>
                <a:ea typeface="Noto Sans SC"/>
                <a:cs typeface="Noto Sans SC"/>
                <a:sym typeface="Noto Sans SC"/>
              </a:rPr>
              <a:t>--no-signal-feedback 干净评估、共形预测用独立校准集、冻结集只读，测量动作不参与被测对象。</a:t>
            </a:r>
            <a:endParaRPr lang="en-US" sz="1100"/>
          </a:p>
        </p:txBody>
      </p:sp>
      <p:sp>
        <p:nvSpPr>
          <p:cNvPr id="16" name="AutoShape 16"/>
          <p:cNvSpPr/>
          <p:nvPr/>
        </p:nvSpPr>
        <p:spPr>
          <a:xfrm>
            <a:off x="685800" y="3759200"/>
            <a:ext cx="381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345E80"/>
                </a:solidFill>
                <a:latin typeface="Roboto Mono"/>
                <a:ea typeface="Roboto Mono"/>
                <a:cs typeface="Roboto Mono"/>
                <a:sym typeface="Roboto Mono"/>
              </a:rPr>
              <a:t>03</a:t>
            </a:r>
            <a:endParaRPr lang="en-US" sz="1100"/>
          </a:p>
        </p:txBody>
      </p:sp>
      <p:sp>
        <p:nvSpPr>
          <p:cNvPr id="17" name="AutoShape 17"/>
          <p:cNvSpPr/>
          <p:nvPr/>
        </p:nvSpPr>
        <p:spPr>
          <a:xfrm>
            <a:off x="1143000" y="37719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归因分流记账</a:t>
            </a:r>
            <a:endParaRPr lang="en-US" sz="1100"/>
          </a:p>
        </p:txBody>
      </p:sp>
      <p:sp>
        <p:nvSpPr>
          <p:cNvPr id="18" name="AutoShape 18"/>
          <p:cNvSpPr/>
          <p:nvPr/>
        </p:nvSpPr>
        <p:spPr>
          <a:xfrm>
            <a:off x="1143000" y="4013200"/>
            <a:ext cx="4876800" cy="558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00" b="0" i="0" u="none" strike="noStrike">
                <a:solidFill>
                  <a:srgbClr val="5B6770"/>
                </a:solidFill>
                <a:latin typeface="Noto Sans SC"/>
                <a:ea typeface="Noto Sans SC"/>
                <a:cs typeface="Noto Sans SC"/>
                <a:sym typeface="Noto Sans SC"/>
              </a:rPr>
              <a:t>no_candidate（工具欠召回）与 rejected（模型误否决）分开记账，优化永远打在正确的位置。</a:t>
            </a:r>
            <a:endParaRPr lang="en-US" sz="1100"/>
          </a:p>
        </p:txBody>
      </p:sp>
      <p:sp>
        <p:nvSpPr>
          <p:cNvPr id="19" name="AutoShape 19"/>
          <p:cNvSpPr/>
          <p:nvPr/>
        </p:nvSpPr>
        <p:spPr>
          <a:xfrm>
            <a:off x="685800" y="4699000"/>
            <a:ext cx="381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345E80"/>
                </a:solidFill>
                <a:latin typeface="Roboto Mono"/>
                <a:ea typeface="Roboto Mono"/>
                <a:cs typeface="Roboto Mono"/>
                <a:sym typeface="Roboto Mono"/>
              </a:rPr>
              <a:t>04</a:t>
            </a:r>
            <a:endParaRPr lang="en-US" sz="1100"/>
          </a:p>
        </p:txBody>
      </p:sp>
      <p:sp>
        <p:nvSpPr>
          <p:cNvPr id="20" name="AutoShape 20"/>
          <p:cNvSpPr/>
          <p:nvPr/>
        </p:nvSpPr>
        <p:spPr>
          <a:xfrm>
            <a:off x="1143000" y="47117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可复现优先</a:t>
            </a:r>
            <a:endParaRPr lang="en-US" sz="1100"/>
          </a:p>
        </p:txBody>
      </p:sp>
      <p:sp>
        <p:nvSpPr>
          <p:cNvPr id="21" name="AutoShape 21"/>
          <p:cNvSpPr/>
          <p:nvPr/>
        </p:nvSpPr>
        <p:spPr>
          <a:xfrm>
            <a:off x="1143000" y="4953000"/>
            <a:ext cx="4876800" cy="5588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00" b="0" i="0" u="none" strike="noStrike">
                <a:solidFill>
                  <a:srgbClr val="5B6770"/>
                </a:solidFill>
                <a:latin typeface="Noto Sans SC"/>
                <a:ea typeface="Noto Sans SC"/>
                <a:cs typeface="Noto Sans SC"/>
                <a:sym typeface="Noto Sans SC"/>
              </a:rPr>
              <a:t>score_batch.py 一键复算、N=3 采样 + Bootstrap 置信区间、答案与权重全部版本冻结。</a:t>
            </a:r>
            <a:endParaRPr lang="en-US" sz="1100"/>
          </a:p>
        </p:txBody>
      </p:sp>
      <p:sp>
        <p:nvSpPr>
          <p:cNvPr id="22" name="AutoShape 22"/>
          <p:cNvSpPr/>
          <p:nvPr/>
        </p:nvSpPr>
        <p:spPr>
          <a:xfrm>
            <a:off x="6299200" y="1498600"/>
            <a:ext cx="50800" cy="2286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451600" y="14986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应对 · 这些方法解决过什么</a:t>
            </a:r>
            <a:endParaRPr lang="en-US" sz="1100"/>
          </a:p>
        </p:txBody>
      </p:sp>
      <p:sp>
        <p:nvSpPr>
          <p:cNvPr id="24" name="AutoShape 24"/>
          <p:cNvSpPr/>
          <p:nvPr/>
        </p:nvSpPr>
        <p:spPr>
          <a:xfrm>
            <a:off x="6299200" y="1879600"/>
            <a:ext cx="52070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299200" y="18796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527800" y="20066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fixed3 → fixed5：重建测量本身</a:t>
            </a:r>
            <a:endParaRPr lang="en-US" sz="1100"/>
          </a:p>
        </p:txBody>
      </p:sp>
      <p:sp>
        <p:nvSpPr>
          <p:cNvPr id="27" name="AutoShape 27"/>
          <p:cNvSpPr/>
          <p:nvPr/>
        </p:nvSpPr>
        <p:spPr>
          <a:xfrm>
            <a:off x="6527800" y="2286000"/>
            <a:ext cx="48006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同模型、同数据只换评估方式：0.982/0.167 → 1.000/0.043，污染源正是测量过程。</a:t>
            </a:r>
            <a:endParaRPr lang="en-US" sz="1100"/>
          </a:p>
        </p:txBody>
      </p:sp>
      <p:sp>
        <p:nvSpPr>
          <p:cNvPr id="28" name="AutoShape 28"/>
          <p:cNvSpPr/>
          <p:nvPr/>
        </p:nvSpPr>
        <p:spPr>
          <a:xfrm>
            <a:off x="6299200" y="3149600"/>
            <a:ext cx="52070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6299200" y="31496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6527800" y="32766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提示五维审计：把“不好”拆成可修项</a:t>
            </a:r>
            <a:endParaRPr lang="en-US" sz="1100"/>
          </a:p>
        </p:txBody>
      </p:sp>
      <p:sp>
        <p:nvSpPr>
          <p:cNvPr id="31" name="AutoShape 31"/>
          <p:cNvSpPr/>
          <p:nvPr/>
        </p:nvSpPr>
        <p:spPr>
          <a:xfrm>
            <a:off x="6527800" y="3556000"/>
            <a:ext cx="48006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覆盖度 59.0%、到点率 86.1%、14.3% 类别缺专用规则，逐项有主、逐项可修。</a:t>
            </a:r>
            <a:endParaRPr lang="en-US" sz="1100"/>
          </a:p>
        </p:txBody>
      </p:sp>
      <p:sp>
        <p:nvSpPr>
          <p:cNvPr id="32" name="AutoShape 32"/>
          <p:cNvSpPr/>
          <p:nvPr/>
        </p:nvSpPr>
        <p:spPr>
          <a:xfrm>
            <a:off x="6299200" y="4419600"/>
            <a:ext cx="52070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6299200" y="44196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6527800" y="4546600"/>
            <a:ext cx="482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失败沉淀为制度</a:t>
            </a:r>
            <a:endParaRPr lang="en-US" sz="1100"/>
          </a:p>
        </p:txBody>
      </p:sp>
      <p:sp>
        <p:nvSpPr>
          <p:cNvPr id="35" name="AutoShape 35"/>
          <p:cNvSpPr/>
          <p:nvPr/>
        </p:nvSpPr>
        <p:spPr>
          <a:xfrm>
            <a:off x="6527800" y="4826000"/>
            <a:ext cx="48006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26 类错误清单 + 15 个审计版本：每次踩坑都变成下一轮的强制检查项，不重复交学费。</a:t>
            </a:r>
            <a:endParaRPr lang="en-US" sz="1100"/>
          </a:p>
        </p:txBody>
      </p:sp>
      <p:sp>
        <p:nvSpPr>
          <p:cNvPr id="36" name="AutoShape 36"/>
          <p:cNvSpPr/>
          <p:nvPr/>
        </p:nvSpPr>
        <p:spPr>
          <a:xfrm>
            <a:off x="685800" y="5689600"/>
            <a:ext cx="10820400" cy="736600"/>
          </a:xfrm>
          <a:prstGeom prst="roundRect">
            <a:avLst>
              <a:gd name="adj" fmla="val 13793"/>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685800" y="5689600"/>
            <a:ext cx="50800" cy="7366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990600" y="5816600"/>
            <a:ext cx="508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D9962E"/>
                </a:solidFill>
                <a:latin typeface="Roboto Mono"/>
                <a:ea typeface="Roboto Mono"/>
                <a:cs typeface="Roboto Mono"/>
                <a:sym typeface="Roboto Mono"/>
              </a:rPr>
              <a:t>CORE PRINCIPLE</a:t>
            </a:r>
            <a:endParaRPr lang="en-US" sz="1100"/>
          </a:p>
        </p:txBody>
      </p:sp>
      <p:sp>
        <p:nvSpPr>
          <p:cNvPr id="39" name="AutoShape 39"/>
          <p:cNvSpPr/>
          <p:nvPr/>
        </p:nvSpPr>
        <p:spPr>
          <a:xfrm>
            <a:off x="990600" y="6032500"/>
            <a:ext cx="10312400" cy="3556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250" b="1" i="0" u="none" strike="noStrike">
                <a:solidFill>
                  <a:srgbClr val="FFFFFF"/>
                </a:solidFill>
                <a:latin typeface="Noto Sans SC"/>
                <a:ea typeface="Noto Sans SC"/>
                <a:cs typeface="Noto Sans SC"/>
                <a:sym typeface="Noto Sans SC"/>
              </a:rPr>
              <a:t>实验的目的不是证明自己对，而是尽快、低成本地证明自己哪里不对。</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F2E38">
                <a:alpha val="100000"/>
              </a:srgbClr>
            </a:gs>
            <a:gs pos="100000">
              <a:srgbClr val="16222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85800" y="5080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8C9CA8"/>
                </a:solidFill>
                <a:latin typeface="Roboto Mono"/>
                <a:ea typeface="Roboto Mono"/>
                <a:cs typeface="Roboto Mono"/>
                <a:sym typeface="Roboto Mono"/>
              </a:rPr>
              <a:t>NIVIS · GRADUATION DEFENSE</a:t>
            </a:r>
            <a:endParaRPr lang="en-US" sz="1100"/>
          </a:p>
        </p:txBody>
      </p:sp>
      <p:sp>
        <p:nvSpPr>
          <p:cNvPr id="4" name="AutoShape 4"/>
          <p:cNvSpPr/>
          <p:nvPr/>
        </p:nvSpPr>
        <p:spPr>
          <a:xfrm>
            <a:off x="635000" y="1905000"/>
            <a:ext cx="3302000" cy="2540000"/>
          </a:xfrm>
          <a:prstGeom prst="rect">
            <a:avLst/>
          </a:prstGeom>
          <a:noFill/>
          <a:ln w="12700" cap="flat" cmpd="sng">
            <a:noFill/>
            <a:prstDash val="solid"/>
            <a:round/>
          </a:ln>
        </p:spPr>
        <p:txBody>
          <a:bodyPr vert="horz" wrap="none" lIns="0" tIns="0" rIns="0" bIns="0" rtlCol="0" anchor="ctr" anchorCtr="0"/>
          <a:lstStyle/>
          <a:p>
            <a:pPr marL="0" indent="0" algn="l">
              <a:lnSpc>
                <a:spcPct val="112500"/>
              </a:lnSpc>
              <a:defRPr/>
            </a:pPr>
            <a:r>
              <a:rPr lang="en-US" sz="15000" b="1" i="0" u="none" strike="noStrike">
                <a:solidFill>
                  <a:srgbClr val="4A7FA5">
                    <a:alpha val="54902"/>
                  </a:srgbClr>
                </a:solidFill>
                <a:latin typeface="Roboto Mono"/>
                <a:ea typeface="Roboto Mono"/>
                <a:cs typeface="Roboto Mono"/>
                <a:sym typeface="Roboto Mono"/>
              </a:rPr>
              <a:t>04</a:t>
            </a:r>
            <a:endParaRPr lang="en-US" sz="1100"/>
          </a:p>
        </p:txBody>
      </p:sp>
      <p:sp>
        <p:nvSpPr>
          <p:cNvPr id="5" name="AutoShape 5"/>
          <p:cNvSpPr/>
          <p:nvPr/>
        </p:nvSpPr>
        <p:spPr>
          <a:xfrm>
            <a:off x="3810000" y="2768600"/>
            <a:ext cx="50800" cy="812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4114800" y="2641600"/>
            <a:ext cx="7112000" cy="635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4000" b="1" i="0" u="none" strike="noStrike">
                <a:solidFill>
                  <a:srgbClr val="FFFFFF"/>
                </a:solidFill>
                <a:latin typeface="Noto Sans SC"/>
                <a:ea typeface="Noto Sans SC"/>
                <a:cs typeface="Noto Sans SC"/>
                <a:sym typeface="Noto Sans SC"/>
              </a:rPr>
              <a:t>项目的价值</a:t>
            </a:r>
            <a:endParaRPr lang="en-US" sz="1100"/>
          </a:p>
        </p:txBody>
      </p:sp>
      <p:sp>
        <p:nvSpPr>
          <p:cNvPr id="7" name="AutoShape 7"/>
          <p:cNvSpPr/>
          <p:nvPr/>
        </p:nvSpPr>
        <p:spPr>
          <a:xfrm>
            <a:off x="4140200" y="3276600"/>
            <a:ext cx="7112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0" i="0" u="none" strike="noStrike">
                <a:solidFill>
                  <a:srgbClr val="8296A2"/>
                </a:solidFill>
                <a:latin typeface="Roboto Mono"/>
                <a:ea typeface="Roboto Mono"/>
                <a:cs typeface="Roboto Mono"/>
                <a:sym typeface="Roboto Mono"/>
              </a:rPr>
              <a:t>PROJECT VALUE · ARCHITECTURE, DATA, RESULTS, ENGINEERING</a:t>
            </a:r>
            <a:endParaRPr lang="en-US" sz="1100"/>
          </a:p>
        </p:txBody>
      </p:sp>
      <p:sp>
        <p:nvSpPr>
          <p:cNvPr id="8" name="AutoShape 8"/>
          <p:cNvSpPr/>
          <p:nvPr/>
        </p:nvSpPr>
        <p:spPr>
          <a:xfrm>
            <a:off x="4140200" y="3708400"/>
            <a:ext cx="7112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C6D2DA"/>
                </a:solidFill>
                <a:latin typeface="Noto Sans SC"/>
                <a:ea typeface="Noto Sans SC"/>
                <a:cs typeface="Noto Sans SC"/>
                <a:sym typeface="Noto Sans SC"/>
              </a:rPr>
              <a:t>架构、数据、结果、工程：每一个结论背后，都有可运行的代码与可复现的实验。</a:t>
            </a:r>
            <a:endParaRPr lang="en-US" sz="1100"/>
          </a:p>
        </p:txBody>
      </p:sp>
      <p:sp>
        <p:nvSpPr>
          <p:cNvPr id="9" name="AutoShape 9"/>
          <p:cNvSpPr/>
          <p:nvPr/>
        </p:nvSpPr>
        <p:spPr>
          <a:xfrm>
            <a:off x="4140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140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01 研究背景</a:t>
            </a:r>
            <a:endParaRPr lang="en-US" sz="1100"/>
          </a:p>
        </p:txBody>
      </p:sp>
      <p:sp>
        <p:nvSpPr>
          <p:cNvPr id="11" name="AutoShape 11"/>
          <p:cNvSpPr/>
          <p:nvPr/>
        </p:nvSpPr>
        <p:spPr>
          <a:xfrm>
            <a:off x="52578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2578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02 研究目标</a:t>
            </a:r>
            <a:endParaRPr lang="en-US" sz="1100"/>
          </a:p>
        </p:txBody>
      </p:sp>
      <p:sp>
        <p:nvSpPr>
          <p:cNvPr id="13" name="AutoShape 13"/>
          <p:cNvSpPr/>
          <p:nvPr/>
        </p:nvSpPr>
        <p:spPr>
          <a:xfrm>
            <a:off x="63754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3754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03 我们的价值</a:t>
            </a:r>
            <a:endParaRPr lang="en-US" sz="1100"/>
          </a:p>
        </p:txBody>
      </p:sp>
      <p:sp>
        <p:nvSpPr>
          <p:cNvPr id="15" name="AutoShape 15"/>
          <p:cNvSpPr/>
          <p:nvPr/>
        </p:nvSpPr>
        <p:spPr>
          <a:xfrm>
            <a:off x="7493000" y="4902200"/>
            <a:ext cx="508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74930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E8DEC8"/>
                </a:solidFill>
                <a:latin typeface="Noto Sans SC"/>
                <a:ea typeface="Noto Sans SC"/>
                <a:cs typeface="Noto Sans SC"/>
                <a:sym typeface="Noto Sans SC"/>
              </a:rPr>
              <a:t>04 项目的价值</a:t>
            </a:r>
            <a:endParaRPr lang="en-US" sz="1100"/>
          </a:p>
        </p:txBody>
      </p:sp>
      <p:sp>
        <p:nvSpPr>
          <p:cNvPr id="17" name="AutoShape 17"/>
          <p:cNvSpPr/>
          <p:nvPr/>
        </p:nvSpPr>
        <p:spPr>
          <a:xfrm>
            <a:off x="86106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6106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05 系统演示</a:t>
            </a:r>
            <a:endParaRPr lang="en-US" sz="1100"/>
          </a:p>
        </p:txBody>
      </p:sp>
      <p:sp>
        <p:nvSpPr>
          <p:cNvPr id="19" name="AutoShape 19"/>
          <p:cNvSpPr/>
          <p:nvPr/>
        </p:nvSpPr>
        <p:spPr>
          <a:xfrm>
            <a:off x="9728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728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06 未来规划</a:t>
            </a:r>
            <a:endParaRPr lang="en-US" sz="1100"/>
          </a:p>
        </p:txBody>
      </p:sp>
      <p:sp>
        <p:nvSpPr>
          <p:cNvPr id="21" name="AutoShape 21"/>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6E7E8A"/>
                </a:solidFill>
                <a:latin typeface="Noto Sans SC"/>
                <a:ea typeface="Noto Sans SC"/>
                <a:cs typeface="Noto Sans SC"/>
                <a:sym typeface="Noto Sans SC"/>
              </a:rPr>
              <a:t>Nivis · 基于大语言模型的代码安全分析系统</a:t>
            </a:r>
            <a:endParaRPr lang="en-US" sz="1100"/>
          </a:p>
        </p:txBody>
      </p:sp>
      <p:sp>
        <p:nvSpPr>
          <p:cNvPr id="22" name="AutoShape 22"/>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6E7E8A"/>
                </a:solidFill>
                <a:latin typeface="Roboto Mono"/>
                <a:ea typeface="Roboto Mono"/>
                <a:cs typeface="Roboto Mono"/>
                <a:sym typeface="Roboto Mono"/>
              </a:rPr>
              <a:t>15 / 30</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04 项目的价值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总体架构：工具召回 × LLM 裁决，信任层兜底</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16 / 30</a:t>
            </a:r>
            <a:endParaRPr lang="en-US" sz="1100"/>
          </a:p>
        </p:txBody>
      </p:sp>
      <p:pic>
        <p:nvPicPr>
          <p:cNvPr id="8" name="Picture 8"/>
          <p:cNvPicPr>
            <a:picLocks noChangeAspect="1"/>
          </p:cNvPicPr>
          <p:nvPr/>
        </p:nvPicPr>
        <p:blipFill>
          <a:blip r:embed="rId3"/>
          <a:srcRect l="69" r="69"/>
          <a:stretch>
            <a:fillRect/>
          </a:stretch>
        </p:blipFill>
        <p:spPr>
          <a:xfrm>
            <a:off x="685800" y="1524000"/>
            <a:ext cx="7264400" cy="4546600"/>
          </a:xfrm>
          <a:prstGeom prst="roundRect">
            <a:avLst>
              <a:gd name="adj" fmla="val 2234"/>
            </a:avLst>
          </a:prstGeom>
          <a:noFill/>
          <a:ln w="25400" cap="flat" cmpd="sng">
            <a:noFill/>
            <a:prstDash val="solid"/>
            <a:round/>
          </a:ln>
        </p:spPr>
      </p:pic>
      <p:sp>
        <p:nvSpPr>
          <p:cNvPr id="9" name="AutoShape 9"/>
          <p:cNvSpPr/>
          <p:nvPr/>
        </p:nvSpPr>
        <p:spPr>
          <a:xfrm>
            <a:off x="685800" y="6146800"/>
            <a:ext cx="72644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49EA6"/>
                </a:solidFill>
                <a:latin typeface="Noto Sans SC"/>
                <a:ea typeface="Noto Sans SC"/>
                <a:cs typeface="Noto Sans SC"/>
                <a:sym typeface="Noto Sans SC"/>
              </a:rPr>
              <a:t>图：fixed5 两阶段总体架构与 2.5 代信任层（工程实现与本图一致）</a:t>
            </a:r>
            <a:endParaRPr lang="en-US" sz="1100"/>
          </a:p>
        </p:txBody>
      </p:sp>
      <p:sp>
        <p:nvSpPr>
          <p:cNvPr id="10" name="AutoShape 10"/>
          <p:cNvSpPr/>
          <p:nvPr/>
        </p:nvSpPr>
        <p:spPr>
          <a:xfrm>
            <a:off x="8229600" y="1549400"/>
            <a:ext cx="3302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D9962E"/>
                </a:solidFill>
                <a:latin typeface="Roboto Mono"/>
                <a:ea typeface="Roboto Mono"/>
                <a:cs typeface="Roboto Mono"/>
                <a:sym typeface="Roboto Mono"/>
              </a:rPr>
              <a:t>ARCHITECTURE · 三层结构</a:t>
            </a:r>
            <a:endParaRPr lang="en-US" sz="1100"/>
          </a:p>
        </p:txBody>
      </p:sp>
      <p:sp>
        <p:nvSpPr>
          <p:cNvPr id="11" name="AutoShape 11"/>
          <p:cNvSpPr/>
          <p:nvPr/>
        </p:nvSpPr>
        <p:spPr>
          <a:xfrm>
            <a:off x="8229600" y="1803400"/>
            <a:ext cx="3276600" cy="1117600"/>
          </a:xfrm>
          <a:prstGeom prst="roundRect">
            <a:avLst>
              <a:gd name="adj" fmla="val 9090"/>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229600" y="1803400"/>
            <a:ext cx="50800" cy="11176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8432800" y="1917700"/>
            <a:ext cx="2921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4A7FA5"/>
                </a:solidFill>
                <a:latin typeface="Roboto Mono"/>
                <a:ea typeface="Roboto Mono"/>
                <a:cs typeface="Roboto Mono"/>
                <a:sym typeface="Roboto Mono"/>
              </a:rPr>
              <a:t>STAGE 1</a:t>
            </a:r>
            <a:endParaRPr lang="en-US" sz="1100"/>
          </a:p>
        </p:txBody>
      </p:sp>
      <p:sp>
        <p:nvSpPr>
          <p:cNvPr id="14" name="AutoShape 14"/>
          <p:cNvSpPr/>
          <p:nvPr/>
        </p:nvSpPr>
        <p:spPr>
          <a:xfrm>
            <a:off x="8432800" y="2108200"/>
            <a:ext cx="292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四路并行召回</a:t>
            </a:r>
            <a:endParaRPr lang="en-US" sz="1100"/>
          </a:p>
        </p:txBody>
      </p:sp>
      <p:sp>
        <p:nvSpPr>
          <p:cNvPr id="15" name="AutoShape 15"/>
          <p:cNvSpPr/>
          <p:nvPr/>
        </p:nvSpPr>
        <p:spPr>
          <a:xfrm>
            <a:off x="8432800" y="2374900"/>
            <a:ext cx="2946400" cy="508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0" i="0" u="none" strike="noStrike">
                <a:solidFill>
                  <a:srgbClr val="5B6770"/>
                </a:solidFill>
                <a:latin typeface="Noto Sans SC"/>
                <a:ea typeface="Noto Sans SC"/>
                <a:cs typeface="Noto Sans SC"/>
                <a:sym typeface="Noto Sans SC"/>
              </a:rPr>
              <a:t>自研 TaintTracker / Prefilter 与 Semgrep、外部扫描器并行，候选带证据链与行号</a:t>
            </a:r>
            <a:endParaRPr lang="en-US" sz="1100"/>
          </a:p>
        </p:txBody>
      </p:sp>
      <p:sp>
        <p:nvSpPr>
          <p:cNvPr id="16" name="AutoShape 16"/>
          <p:cNvSpPr/>
          <p:nvPr/>
        </p:nvSpPr>
        <p:spPr>
          <a:xfrm>
            <a:off x="8229600" y="3048000"/>
            <a:ext cx="3276600" cy="1117600"/>
          </a:xfrm>
          <a:prstGeom prst="roundRect">
            <a:avLst>
              <a:gd name="adj" fmla="val 9090"/>
            </a:avLst>
          </a:prstGeom>
          <a:solidFill>
            <a:srgbClr val="E9F2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229600" y="30480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432800" y="3162300"/>
            <a:ext cx="2921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6FA39B"/>
                </a:solidFill>
                <a:latin typeface="Roboto Mono"/>
                <a:ea typeface="Roboto Mono"/>
                <a:cs typeface="Roboto Mono"/>
                <a:sym typeface="Roboto Mono"/>
              </a:rPr>
              <a:t>STAGE 2</a:t>
            </a:r>
            <a:endParaRPr lang="en-US" sz="1100"/>
          </a:p>
        </p:txBody>
      </p:sp>
      <p:sp>
        <p:nvSpPr>
          <p:cNvPr id="19" name="AutoShape 19"/>
          <p:cNvSpPr/>
          <p:nvPr/>
        </p:nvSpPr>
        <p:spPr>
          <a:xfrm>
            <a:off x="8432800" y="3352800"/>
            <a:ext cx="292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封闭裁决</a:t>
            </a:r>
            <a:endParaRPr lang="en-US" sz="1100"/>
          </a:p>
        </p:txBody>
      </p:sp>
      <p:sp>
        <p:nvSpPr>
          <p:cNvPr id="20" name="AutoShape 20"/>
          <p:cNvSpPr/>
          <p:nvPr/>
        </p:nvSpPr>
        <p:spPr>
          <a:xfrm>
            <a:off x="8432800" y="3619500"/>
            <a:ext cx="2946400" cy="508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0" i="0" u="none" strike="noStrike">
                <a:solidFill>
                  <a:srgbClr val="5B6770"/>
                </a:solidFill>
                <a:latin typeface="Noto Sans SC"/>
                <a:ea typeface="Noto Sans SC"/>
                <a:cs typeface="Noto Sans SC"/>
                <a:sym typeface="Noto Sans SC"/>
              </a:rPr>
              <a:t>RAG 注入 CWE 知识，CodeSlicer 切片，N=3 采样多数投票，只判候选真伪</a:t>
            </a:r>
            <a:endParaRPr lang="en-US" sz="1100"/>
          </a:p>
        </p:txBody>
      </p:sp>
      <p:sp>
        <p:nvSpPr>
          <p:cNvPr id="21" name="AutoShape 21"/>
          <p:cNvSpPr/>
          <p:nvPr/>
        </p:nvSpPr>
        <p:spPr>
          <a:xfrm>
            <a:off x="8229600" y="4292600"/>
            <a:ext cx="3276600" cy="1117600"/>
          </a:xfrm>
          <a:prstGeom prst="roundRect">
            <a:avLst>
              <a:gd name="adj" fmla="val 9090"/>
            </a:avLst>
          </a:prstGeom>
          <a:solidFill>
            <a:srgbClr val="FAF0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229600" y="4292600"/>
            <a:ext cx="50800" cy="11176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8432800" y="4406900"/>
            <a:ext cx="2921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D9962E"/>
                </a:solidFill>
                <a:latin typeface="Roboto Mono"/>
                <a:ea typeface="Roboto Mono"/>
                <a:cs typeface="Roboto Mono"/>
                <a:sym typeface="Roboto Mono"/>
              </a:rPr>
              <a:t>TRUST 2.5</a:t>
            </a:r>
            <a:endParaRPr lang="en-US" sz="1100"/>
          </a:p>
        </p:txBody>
      </p:sp>
      <p:sp>
        <p:nvSpPr>
          <p:cNvPr id="24" name="AutoShape 24"/>
          <p:cNvSpPr/>
          <p:nvPr/>
        </p:nvSpPr>
        <p:spPr>
          <a:xfrm>
            <a:off x="8432800" y="4597400"/>
            <a:ext cx="292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信任层兜底</a:t>
            </a:r>
            <a:endParaRPr lang="en-US" sz="1100"/>
          </a:p>
        </p:txBody>
      </p:sp>
      <p:sp>
        <p:nvSpPr>
          <p:cNvPr id="25" name="AutoShape 25"/>
          <p:cNvSpPr/>
          <p:nvPr/>
        </p:nvSpPr>
        <p:spPr>
          <a:xfrm>
            <a:off x="8432800" y="4864100"/>
            <a:ext cx="2946400" cy="508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0" i="0" u="none" strike="noStrike">
                <a:solidFill>
                  <a:srgbClr val="5B6770"/>
                </a:solidFill>
                <a:latin typeface="Noto Sans SC"/>
                <a:ea typeface="Noto Sans SC"/>
                <a:cs typeface="Noto Sans SC"/>
                <a:sym typeface="Noto Sans SC"/>
              </a:rPr>
              <a:t>A–E 分级 + 四重门控回填；无候选分支抽样 / 全量复核，绝不直接放行</a:t>
            </a:r>
            <a:endParaRPr lang="en-US" sz="1100"/>
          </a:p>
        </p:txBody>
      </p:sp>
      <p:sp>
        <p:nvSpPr>
          <p:cNvPr id="26" name="AutoShape 26"/>
          <p:cNvSpPr/>
          <p:nvPr/>
        </p:nvSpPr>
        <p:spPr>
          <a:xfrm>
            <a:off x="8229600" y="5537200"/>
            <a:ext cx="3276600" cy="762000"/>
          </a:xfrm>
          <a:prstGeom prst="roundRect">
            <a:avLst>
              <a:gd name="adj" fmla="val 13333"/>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8432800" y="5664200"/>
            <a:ext cx="2921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96A6B2"/>
                </a:solidFill>
                <a:latin typeface="Noto Sans SC"/>
                <a:ea typeface="Noto Sans SC"/>
                <a:cs typeface="Noto Sans SC"/>
                <a:sym typeface="Noto Sans SC"/>
              </a:rPr>
              <a:t>模型调用次数</a:t>
            </a:r>
            <a:endParaRPr lang="en-US" sz="1100"/>
          </a:p>
        </p:txBody>
      </p:sp>
      <p:sp>
        <p:nvSpPr>
          <p:cNvPr id="28" name="AutoShape 28"/>
          <p:cNvSpPr/>
          <p:nvPr/>
        </p:nvSpPr>
        <p:spPr>
          <a:xfrm>
            <a:off x="8432800" y="5867400"/>
            <a:ext cx="29464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2200" b="1" i="0" u="none" strike="noStrike">
                <a:solidFill>
                  <a:srgbClr val="D9962E"/>
                </a:solidFill>
                <a:latin typeface="Roboto Mono"/>
                <a:ea typeface="Roboto Mono"/>
                <a:cs typeface="Roboto Mono"/>
                <a:sym typeface="Roboto Mono"/>
              </a:rPr>
              <a:t>216 → 65</a:t>
            </a:r>
            <a:r>
              <a:rPr lang="en-US" sz="1100" b="0" i="0" u="none" strike="noStrike">
                <a:solidFill>
                  <a:srgbClr val="FFFFFF"/>
                </a:solidFill>
                <a:latin typeface="Noto Sans SC"/>
                <a:ea typeface="Noto Sans SC"/>
                <a:cs typeface="Noto Sans SC"/>
                <a:sym typeface="Noto Sans SC"/>
              </a:rPr>
              <a:t> 约降 70%</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04 项目的价值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Stage 1 · 四路并行召回：让确定性工具把候选找全</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17 / 30</a:t>
            </a:r>
            <a:endParaRPr lang="en-US" sz="1100"/>
          </a:p>
        </p:txBody>
      </p:sp>
      <p:sp>
        <p:nvSpPr>
          <p:cNvPr id="8" name="AutoShape 8"/>
          <p:cNvSpPr/>
          <p:nvPr/>
        </p:nvSpPr>
        <p:spPr>
          <a:xfrm>
            <a:off x="685800" y="1574800"/>
            <a:ext cx="10820400" cy="914400"/>
          </a:xfrm>
          <a:prstGeom prst="roundRect">
            <a:avLst>
              <a:gd name="adj" fmla="val 1111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85800" y="1574800"/>
            <a:ext cx="50800" cy="9144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0600" y="1803400"/>
            <a:ext cx="457200" cy="457200"/>
          </a:xfrm>
          <a:prstGeom prst="rect">
            <a:avLst/>
          </a:prstGeom>
        </p:spPr>
      </p:pic>
      <p:sp>
        <p:nvSpPr>
          <p:cNvPr id="11" name="AutoShape 11"/>
          <p:cNvSpPr/>
          <p:nvPr/>
        </p:nvSpPr>
        <p:spPr>
          <a:xfrm>
            <a:off x="1676400" y="1752600"/>
            <a:ext cx="22860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400" b="1" i="0" u="none" strike="noStrike">
                <a:solidFill>
                  <a:srgbClr val="2B2F36"/>
                </a:solidFill>
                <a:latin typeface="Roboto Mono"/>
                <a:ea typeface="Roboto Mono"/>
                <a:cs typeface="Roboto Mono"/>
                <a:sym typeface="Roboto Mono"/>
              </a:rPr>
              <a:t>TaintTracker</a:t>
            </a:r>
            <a:endParaRPr lang="en-US" sz="1100"/>
          </a:p>
        </p:txBody>
      </p:sp>
      <p:sp>
        <p:nvSpPr>
          <p:cNvPr id="12" name="AutoShape 12"/>
          <p:cNvSpPr/>
          <p:nvPr/>
        </p:nvSpPr>
        <p:spPr>
          <a:xfrm>
            <a:off x="1676400" y="2057400"/>
            <a:ext cx="508000" cy="2286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676400" y="2082800"/>
            <a:ext cx="508000" cy="2032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1" i="0" u="none" strike="noStrike">
                <a:solidFill>
                  <a:srgbClr val="FFFFFF"/>
                </a:solidFill>
                <a:latin typeface="Noto Sans SC"/>
                <a:ea typeface="Noto Sans SC"/>
                <a:cs typeface="Noto Sans SC"/>
                <a:sym typeface="Noto Sans SC"/>
              </a:rPr>
              <a:t>自研</a:t>
            </a:r>
            <a:endParaRPr lang="en-US" sz="1100"/>
          </a:p>
        </p:txBody>
      </p:sp>
      <p:sp>
        <p:nvSpPr>
          <p:cNvPr id="14" name="AutoShape 14"/>
          <p:cNvSpPr/>
          <p:nvPr/>
        </p:nvSpPr>
        <p:spPr>
          <a:xfrm>
            <a:off x="3810000" y="18034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50" b="0" i="0" u="none" strike="noStrike">
                <a:solidFill>
                  <a:srgbClr val="5B6770"/>
                </a:solidFill>
                <a:latin typeface="Noto Sans SC"/>
                <a:ea typeface="Noto Sans SC"/>
                <a:cs typeface="Noto Sans SC"/>
                <a:sym typeface="Noto Sans SC"/>
              </a:rPr>
              <a:t>AST 级污点分析，自动追踪 source → sink 数据流路径</a:t>
            </a:r>
            <a:endParaRPr lang="en-US" sz="1100"/>
          </a:p>
        </p:txBody>
      </p:sp>
      <p:sp>
        <p:nvSpPr>
          <p:cNvPr id="15" name="AutoShape 15"/>
          <p:cNvSpPr/>
          <p:nvPr/>
        </p:nvSpPr>
        <p:spPr>
          <a:xfrm>
            <a:off x="8890000" y="18034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100" b="1" i="0" u="none" strike="noStrike">
                <a:solidFill>
                  <a:srgbClr val="345E80"/>
                </a:solidFill>
                <a:latin typeface="Noto Sans SC"/>
                <a:ea typeface="Noto Sans SC"/>
                <a:cs typeface="Noto Sans SC"/>
                <a:sym typeface="Noto Sans SC"/>
              </a:rPr>
              <a:t>产出数据流证据链</a:t>
            </a:r>
            <a:endParaRPr lang="en-US" sz="1100"/>
          </a:p>
        </p:txBody>
      </p:sp>
      <p:sp>
        <p:nvSpPr>
          <p:cNvPr id="16" name="AutoShape 16"/>
          <p:cNvSpPr/>
          <p:nvPr/>
        </p:nvSpPr>
        <p:spPr>
          <a:xfrm>
            <a:off x="685800" y="2590800"/>
            <a:ext cx="10820400" cy="914400"/>
          </a:xfrm>
          <a:prstGeom prst="roundRect">
            <a:avLst>
              <a:gd name="adj" fmla="val 1111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85800" y="2590800"/>
            <a:ext cx="50800" cy="9144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90600" y="2819400"/>
            <a:ext cx="457200" cy="457200"/>
          </a:xfrm>
          <a:prstGeom prst="rect">
            <a:avLst/>
          </a:prstGeom>
        </p:spPr>
      </p:pic>
      <p:sp>
        <p:nvSpPr>
          <p:cNvPr id="19" name="AutoShape 19"/>
          <p:cNvSpPr/>
          <p:nvPr/>
        </p:nvSpPr>
        <p:spPr>
          <a:xfrm>
            <a:off x="1676400" y="2768600"/>
            <a:ext cx="22860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400" b="1" i="0" u="none" strike="noStrike">
                <a:solidFill>
                  <a:srgbClr val="2B2F36"/>
                </a:solidFill>
                <a:latin typeface="Roboto Mono"/>
                <a:ea typeface="Roboto Mono"/>
                <a:cs typeface="Roboto Mono"/>
                <a:sym typeface="Roboto Mono"/>
              </a:rPr>
              <a:t>Semgrep</a:t>
            </a:r>
            <a:endParaRPr lang="en-US" sz="1100"/>
          </a:p>
        </p:txBody>
      </p:sp>
      <p:sp>
        <p:nvSpPr>
          <p:cNvPr id="20" name="AutoShape 20"/>
          <p:cNvSpPr/>
          <p:nvPr/>
        </p:nvSpPr>
        <p:spPr>
          <a:xfrm>
            <a:off x="1676400" y="3073400"/>
            <a:ext cx="508000" cy="228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1676400" y="3098800"/>
            <a:ext cx="508000" cy="2032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1" i="0" u="none" strike="noStrike">
                <a:solidFill>
                  <a:srgbClr val="FFFFFF"/>
                </a:solidFill>
                <a:latin typeface="Noto Sans SC"/>
                <a:ea typeface="Noto Sans SC"/>
                <a:cs typeface="Noto Sans SC"/>
                <a:sym typeface="Noto Sans SC"/>
              </a:rPr>
              <a:t>开源</a:t>
            </a:r>
            <a:endParaRPr lang="en-US" sz="1100"/>
          </a:p>
        </p:txBody>
      </p:sp>
      <p:sp>
        <p:nvSpPr>
          <p:cNvPr id="22" name="AutoShape 22"/>
          <p:cNvSpPr/>
          <p:nvPr/>
        </p:nvSpPr>
        <p:spPr>
          <a:xfrm>
            <a:off x="3810000" y="28194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50" b="0" i="0" u="none" strike="noStrike">
                <a:solidFill>
                  <a:srgbClr val="5B6770"/>
                </a:solidFill>
                <a:latin typeface="Noto Sans SC"/>
                <a:ea typeface="Noto Sans SC"/>
                <a:cs typeface="Noto Sans SC"/>
                <a:sym typeface="Noto Sans SC"/>
              </a:rPr>
              <a:t>taint 模式整文件扫描，补齐跨函数与框架规则</a:t>
            </a:r>
            <a:endParaRPr lang="en-US" sz="1100"/>
          </a:p>
        </p:txBody>
      </p:sp>
      <p:sp>
        <p:nvSpPr>
          <p:cNvPr id="23" name="AutoShape 23"/>
          <p:cNvSpPr/>
          <p:nvPr/>
        </p:nvSpPr>
        <p:spPr>
          <a:xfrm>
            <a:off x="8890000" y="28194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100" b="1" i="0" u="none" strike="noStrike">
                <a:solidFill>
                  <a:srgbClr val="345E80"/>
                </a:solidFill>
                <a:latin typeface="Noto Sans SC"/>
                <a:ea typeface="Noto Sans SC"/>
                <a:cs typeface="Noto Sans SC"/>
                <a:sym typeface="Noto Sans SC"/>
              </a:rPr>
              <a:t>产出模式匹配候选</a:t>
            </a:r>
            <a:endParaRPr lang="en-US" sz="1100"/>
          </a:p>
        </p:txBody>
      </p:sp>
      <p:sp>
        <p:nvSpPr>
          <p:cNvPr id="24" name="AutoShape 24"/>
          <p:cNvSpPr/>
          <p:nvPr/>
        </p:nvSpPr>
        <p:spPr>
          <a:xfrm>
            <a:off x="685800" y="3606800"/>
            <a:ext cx="10820400" cy="914400"/>
          </a:xfrm>
          <a:prstGeom prst="roundRect">
            <a:avLst>
              <a:gd name="adj" fmla="val 1111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85800" y="3606800"/>
            <a:ext cx="50800" cy="9144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90600" y="3835400"/>
            <a:ext cx="457200" cy="457200"/>
          </a:xfrm>
          <a:prstGeom prst="rect">
            <a:avLst/>
          </a:prstGeom>
        </p:spPr>
      </p:pic>
      <p:sp>
        <p:nvSpPr>
          <p:cNvPr id="27" name="AutoShape 27"/>
          <p:cNvSpPr/>
          <p:nvPr/>
        </p:nvSpPr>
        <p:spPr>
          <a:xfrm>
            <a:off x="1676400" y="3784600"/>
            <a:ext cx="22860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400" b="1" i="0" u="none" strike="noStrike">
                <a:solidFill>
                  <a:srgbClr val="2B2F36"/>
                </a:solidFill>
                <a:latin typeface="Roboto Mono"/>
                <a:ea typeface="Roboto Mono"/>
                <a:cs typeface="Roboto Mono"/>
                <a:sym typeface="Roboto Mono"/>
              </a:rPr>
              <a:t>Prefilter</a:t>
            </a:r>
            <a:endParaRPr lang="en-US" sz="1100"/>
          </a:p>
        </p:txBody>
      </p:sp>
      <p:sp>
        <p:nvSpPr>
          <p:cNvPr id="28" name="AutoShape 28"/>
          <p:cNvSpPr/>
          <p:nvPr/>
        </p:nvSpPr>
        <p:spPr>
          <a:xfrm>
            <a:off x="1676400" y="4089400"/>
            <a:ext cx="508000" cy="2286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1676400" y="4114800"/>
            <a:ext cx="508000" cy="2032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1" i="0" u="none" strike="noStrike">
                <a:solidFill>
                  <a:srgbClr val="FFFFFF"/>
                </a:solidFill>
                <a:latin typeface="Noto Sans SC"/>
                <a:ea typeface="Noto Sans SC"/>
                <a:cs typeface="Noto Sans SC"/>
                <a:sym typeface="Noto Sans SC"/>
              </a:rPr>
              <a:t>自研</a:t>
            </a:r>
            <a:endParaRPr lang="en-US" sz="1100"/>
          </a:p>
        </p:txBody>
      </p:sp>
      <p:sp>
        <p:nvSpPr>
          <p:cNvPr id="30" name="AutoShape 30"/>
          <p:cNvSpPr/>
          <p:nvPr/>
        </p:nvSpPr>
        <p:spPr>
          <a:xfrm>
            <a:off x="3810000" y="38354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50" b="0" i="0" u="none" strike="noStrike">
                <a:solidFill>
                  <a:srgbClr val="5B6770"/>
                </a:solidFill>
                <a:latin typeface="Noto Sans SC"/>
                <a:ea typeface="Noto Sans SC"/>
                <a:cs typeface="Noto Sans SC"/>
                <a:sym typeface="Noto Sans SC"/>
              </a:rPr>
              <a:t>高性能正则预筛，毫秒级覆盖硬编码密钥与危险函数</a:t>
            </a:r>
            <a:endParaRPr lang="en-US" sz="1100"/>
          </a:p>
        </p:txBody>
      </p:sp>
      <p:sp>
        <p:nvSpPr>
          <p:cNvPr id="31" name="AutoShape 31"/>
          <p:cNvSpPr/>
          <p:nvPr/>
        </p:nvSpPr>
        <p:spPr>
          <a:xfrm>
            <a:off x="8890000" y="38354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100" b="1" i="0" u="none" strike="noStrike">
                <a:solidFill>
                  <a:srgbClr val="345E80"/>
                </a:solidFill>
                <a:latin typeface="Noto Sans SC"/>
                <a:ea typeface="Noto Sans SC"/>
                <a:cs typeface="Noto Sans SC"/>
                <a:sym typeface="Noto Sans SC"/>
              </a:rPr>
              <a:t>产出确定性问题</a:t>
            </a:r>
            <a:endParaRPr lang="en-US" sz="1100"/>
          </a:p>
        </p:txBody>
      </p:sp>
      <p:sp>
        <p:nvSpPr>
          <p:cNvPr id="32" name="AutoShape 32"/>
          <p:cNvSpPr/>
          <p:nvPr/>
        </p:nvSpPr>
        <p:spPr>
          <a:xfrm>
            <a:off x="685800" y="4622800"/>
            <a:ext cx="10820400" cy="914400"/>
          </a:xfrm>
          <a:prstGeom prst="roundRect">
            <a:avLst>
              <a:gd name="adj" fmla="val 1111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685800" y="4622800"/>
            <a:ext cx="50800" cy="9144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4" name="Picture 3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90600" y="4851400"/>
            <a:ext cx="457200" cy="457200"/>
          </a:xfrm>
          <a:prstGeom prst="rect">
            <a:avLst/>
          </a:prstGeom>
        </p:spPr>
      </p:pic>
      <p:sp>
        <p:nvSpPr>
          <p:cNvPr id="35" name="AutoShape 35"/>
          <p:cNvSpPr/>
          <p:nvPr/>
        </p:nvSpPr>
        <p:spPr>
          <a:xfrm>
            <a:off x="1676400" y="4800600"/>
            <a:ext cx="22860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400" b="1" i="0" u="none" strike="noStrike">
                <a:solidFill>
                  <a:srgbClr val="2B2F36"/>
                </a:solidFill>
                <a:latin typeface="Roboto Mono"/>
                <a:ea typeface="Roboto Mono"/>
                <a:cs typeface="Roboto Mono"/>
                <a:sym typeface="Roboto Mono"/>
              </a:rPr>
              <a:t>ExternalScanner</a:t>
            </a:r>
            <a:endParaRPr lang="en-US" sz="1100"/>
          </a:p>
        </p:txBody>
      </p:sp>
      <p:sp>
        <p:nvSpPr>
          <p:cNvPr id="36" name="AutoShape 36"/>
          <p:cNvSpPr/>
          <p:nvPr/>
        </p:nvSpPr>
        <p:spPr>
          <a:xfrm>
            <a:off x="1676400" y="5105400"/>
            <a:ext cx="508000" cy="2286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1676400" y="5130800"/>
            <a:ext cx="508000" cy="2032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1" i="0" u="none" strike="noStrike">
                <a:solidFill>
                  <a:srgbClr val="FFFFFF"/>
                </a:solidFill>
                <a:latin typeface="Noto Sans SC"/>
                <a:ea typeface="Noto Sans SC"/>
                <a:cs typeface="Noto Sans SC"/>
                <a:sym typeface="Noto Sans SC"/>
              </a:rPr>
              <a:t>集成</a:t>
            </a:r>
            <a:endParaRPr lang="en-US" sz="1100"/>
          </a:p>
        </p:txBody>
      </p:sp>
      <p:sp>
        <p:nvSpPr>
          <p:cNvPr id="38" name="AutoShape 38"/>
          <p:cNvSpPr/>
          <p:nvPr/>
        </p:nvSpPr>
        <p:spPr>
          <a:xfrm>
            <a:off x="3810000" y="48514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50" b="0" i="0" u="none" strike="noStrike">
                <a:solidFill>
                  <a:srgbClr val="5B6770"/>
                </a:solidFill>
                <a:latin typeface="Noto Sans SC"/>
                <a:ea typeface="Noto Sans SC"/>
                <a:cs typeface="Noto Sans SC"/>
                <a:sym typeface="Noto Sans SC"/>
              </a:rPr>
              <a:t>封装 Bandit / Gitleaks / Trivy，覆盖 sast · secret · sca · iac</a:t>
            </a:r>
            <a:endParaRPr lang="en-US" sz="1100"/>
          </a:p>
        </p:txBody>
      </p:sp>
      <p:sp>
        <p:nvSpPr>
          <p:cNvPr id="39" name="AutoShape 39"/>
          <p:cNvSpPr/>
          <p:nvPr/>
        </p:nvSpPr>
        <p:spPr>
          <a:xfrm>
            <a:off x="8890000" y="48514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100" b="1" i="0" u="none" strike="noStrike">
                <a:solidFill>
                  <a:srgbClr val="345E80"/>
                </a:solidFill>
                <a:latin typeface="Noto Sans SC"/>
                <a:ea typeface="Noto Sans SC"/>
                <a:cs typeface="Noto Sans SC"/>
                <a:sym typeface="Noto Sans SC"/>
              </a:rPr>
              <a:t>产出外部工具结果</a:t>
            </a:r>
            <a:endParaRPr lang="en-US" sz="1100"/>
          </a:p>
        </p:txBody>
      </p:sp>
      <p:sp>
        <p:nvSpPr>
          <p:cNvPr id="40" name="AutoShape 40"/>
          <p:cNvSpPr/>
          <p:nvPr/>
        </p:nvSpPr>
        <p:spPr>
          <a:xfrm>
            <a:off x="685800" y="5689600"/>
            <a:ext cx="10820400" cy="660400"/>
          </a:xfrm>
          <a:prstGeom prst="roundRect">
            <a:avLst>
              <a:gd name="adj" fmla="val 15384"/>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1" name="AutoShape 41"/>
          <p:cNvSpPr/>
          <p:nvPr/>
        </p:nvSpPr>
        <p:spPr>
          <a:xfrm>
            <a:off x="939800" y="5816600"/>
            <a:ext cx="10414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1250" b="1" i="0" u="none" strike="noStrike">
                <a:solidFill>
                  <a:srgbClr val="FFFFFF"/>
                </a:solidFill>
                <a:latin typeface="Noto Sans SC"/>
                <a:ea typeface="Noto Sans SC"/>
                <a:cs typeface="Noto Sans SC"/>
                <a:sym typeface="Noto Sans SC"/>
              </a:rPr>
              <a:t>四路候选汇合：合并去重 + CWE 归一 → 统一证据格式（行号 · source-sink · 规则 ID）→ 送 Stage 2 裁决</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04 项目的价值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Stage 2 · 封闭裁决：把开放作文变成三选一</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18 / 30</a:t>
            </a:r>
            <a:endParaRPr lang="en-US" sz="1100"/>
          </a:p>
        </p:txBody>
      </p:sp>
      <p:sp>
        <p:nvSpPr>
          <p:cNvPr id="8" name="AutoShape 8"/>
          <p:cNvSpPr/>
          <p:nvPr/>
        </p:nvSpPr>
        <p:spPr>
          <a:xfrm>
            <a:off x="685800" y="1498600"/>
            <a:ext cx="50800" cy="2286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38200" y="14986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裁决流水线 · 证据约束下的判别</a:t>
            </a:r>
            <a:endParaRPr lang="en-US" sz="1100"/>
          </a:p>
        </p:txBody>
      </p:sp>
      <p:sp>
        <p:nvSpPr>
          <p:cNvPr id="10" name="AutoShape 10"/>
          <p:cNvSpPr/>
          <p:nvPr/>
        </p:nvSpPr>
        <p:spPr>
          <a:xfrm>
            <a:off x="889000" y="1803400"/>
            <a:ext cx="5969000" cy="584200"/>
          </a:xfrm>
          <a:prstGeom prst="roundRect">
            <a:avLst>
              <a:gd name="adj" fmla="val 1739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89000" y="1803400"/>
            <a:ext cx="50800" cy="5842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117600" y="1892300"/>
            <a:ext cx="101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4A7FA5"/>
                </a:solidFill>
                <a:latin typeface="Roboto Mono"/>
                <a:ea typeface="Roboto Mono"/>
                <a:cs typeface="Roboto Mono"/>
                <a:sym typeface="Roboto Mono"/>
              </a:rPr>
              <a:t>输入</a:t>
            </a:r>
            <a:endParaRPr lang="en-US" sz="1100"/>
          </a:p>
        </p:txBody>
      </p:sp>
      <p:sp>
        <p:nvSpPr>
          <p:cNvPr id="13" name="AutoShape 13"/>
          <p:cNvSpPr/>
          <p:nvPr/>
        </p:nvSpPr>
        <p:spPr>
          <a:xfrm>
            <a:off x="1117600" y="2108200"/>
            <a:ext cx="5588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0" i="0" u="none" strike="noStrike">
                <a:solidFill>
                  <a:srgbClr val="2B2F36"/>
                </a:solidFill>
                <a:latin typeface="Noto Sans SC"/>
                <a:ea typeface="Noto Sans SC"/>
                <a:cs typeface="Noto Sans SC"/>
                <a:sym typeface="Noto Sans SC"/>
              </a:rPr>
              <a:t>Stage 1 候选：证据链 + 行号 + 代码切片</a:t>
            </a:r>
            <a:endParaRPr lang="en-US" sz="1100"/>
          </a:p>
        </p:txBody>
      </p:sp>
      <p:cxnSp>
        <p:nvCxnSpPr>
          <p:cNvPr id="14" name="Connector 14"/>
          <p:cNvCxnSpPr/>
          <p:nvPr/>
        </p:nvCxnSpPr>
        <p:spPr>
          <a:xfrm rot="5114181">
            <a:off x="3797300" y="2457714"/>
            <a:ext cx="152400" cy="12700"/>
          </a:xfrm>
          <a:prstGeom prst="straightConnector1">
            <a:avLst/>
          </a:prstGeom>
          <a:solidFill>
            <a:srgbClr val="DEE0E3">
              <a:alpha val="100000"/>
            </a:srgbClr>
          </a:solidFill>
          <a:ln w="25400" cap="flat" cmpd="sng">
            <a:solidFill>
              <a:srgbClr val="A0ACB6">
                <a:alpha val="100000"/>
              </a:srgbClr>
            </a:solidFill>
            <a:prstDash val="solid"/>
            <a:round/>
            <a:headEnd type="none" w="lg" len="lg"/>
            <a:tailEnd type="arrow" w="lg" len="lg"/>
          </a:ln>
        </p:spPr>
      </p:cxnSp>
      <p:sp>
        <p:nvSpPr>
          <p:cNvPr id="15" name="AutoShape 15"/>
          <p:cNvSpPr/>
          <p:nvPr/>
        </p:nvSpPr>
        <p:spPr>
          <a:xfrm>
            <a:off x="889000" y="2540000"/>
            <a:ext cx="5969000" cy="584200"/>
          </a:xfrm>
          <a:prstGeom prst="roundRect">
            <a:avLst>
              <a:gd name="adj" fmla="val 1739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89000" y="2540000"/>
            <a:ext cx="50800" cy="5842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117600" y="2628900"/>
            <a:ext cx="101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6FA39B"/>
                </a:solidFill>
                <a:latin typeface="Roboto Mono"/>
                <a:ea typeface="Roboto Mono"/>
                <a:cs typeface="Roboto Mono"/>
                <a:sym typeface="Roboto Mono"/>
              </a:rPr>
              <a:t>处理 1</a:t>
            </a:r>
            <a:endParaRPr lang="en-US" sz="1100"/>
          </a:p>
        </p:txBody>
      </p:sp>
      <p:sp>
        <p:nvSpPr>
          <p:cNvPr id="18" name="AutoShape 18"/>
          <p:cNvSpPr/>
          <p:nvPr/>
        </p:nvSpPr>
        <p:spPr>
          <a:xfrm>
            <a:off x="1117600" y="2844800"/>
            <a:ext cx="5588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0" i="0" u="none" strike="noStrike">
                <a:solidFill>
                  <a:srgbClr val="2B2F36"/>
                </a:solidFill>
                <a:latin typeface="Noto Sans SC"/>
                <a:ea typeface="Noto Sans SC"/>
                <a:cs typeface="Noto Sans SC"/>
                <a:sym typeface="Noto Sans SC"/>
              </a:rPr>
              <a:t>RAG 检索注入对应 CWE 的判据与安全反例</a:t>
            </a:r>
            <a:endParaRPr lang="en-US" sz="1100"/>
          </a:p>
        </p:txBody>
      </p:sp>
      <p:cxnSp>
        <p:nvCxnSpPr>
          <p:cNvPr id="19" name="Connector 19"/>
          <p:cNvCxnSpPr/>
          <p:nvPr/>
        </p:nvCxnSpPr>
        <p:spPr>
          <a:xfrm rot="5114181">
            <a:off x="3797300" y="3194314"/>
            <a:ext cx="152400" cy="12700"/>
          </a:xfrm>
          <a:prstGeom prst="straightConnector1">
            <a:avLst/>
          </a:prstGeom>
          <a:solidFill>
            <a:srgbClr val="DEE0E3">
              <a:alpha val="100000"/>
            </a:srgbClr>
          </a:solidFill>
          <a:ln w="25400" cap="flat" cmpd="sng">
            <a:solidFill>
              <a:srgbClr val="A0ACB6">
                <a:alpha val="100000"/>
              </a:srgbClr>
            </a:solidFill>
            <a:prstDash val="solid"/>
            <a:round/>
            <a:headEnd type="none" w="lg" len="lg"/>
            <a:tailEnd type="arrow" w="lg" len="lg"/>
          </a:ln>
        </p:spPr>
      </p:cxnSp>
      <p:sp>
        <p:nvSpPr>
          <p:cNvPr id="20" name="AutoShape 20"/>
          <p:cNvSpPr/>
          <p:nvPr/>
        </p:nvSpPr>
        <p:spPr>
          <a:xfrm>
            <a:off x="889000" y="3276600"/>
            <a:ext cx="5969000" cy="584200"/>
          </a:xfrm>
          <a:prstGeom prst="roundRect">
            <a:avLst>
              <a:gd name="adj" fmla="val 1739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889000" y="3276600"/>
            <a:ext cx="50800" cy="5842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1117600" y="3365500"/>
            <a:ext cx="101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6FA39B"/>
                </a:solidFill>
                <a:latin typeface="Roboto Mono"/>
                <a:ea typeface="Roboto Mono"/>
                <a:cs typeface="Roboto Mono"/>
                <a:sym typeface="Roboto Mono"/>
              </a:rPr>
              <a:t>处理 2</a:t>
            </a:r>
            <a:endParaRPr lang="en-US" sz="1100"/>
          </a:p>
        </p:txBody>
      </p:sp>
      <p:sp>
        <p:nvSpPr>
          <p:cNvPr id="23" name="AutoShape 23"/>
          <p:cNvSpPr/>
          <p:nvPr/>
        </p:nvSpPr>
        <p:spPr>
          <a:xfrm>
            <a:off x="1117600" y="3581400"/>
            <a:ext cx="5588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0" i="0" u="none" strike="noStrike">
                <a:solidFill>
                  <a:srgbClr val="2B2F36"/>
                </a:solidFill>
                <a:latin typeface="Noto Sans SC"/>
                <a:ea typeface="Noto Sans SC"/>
                <a:cs typeface="Noto Sans SC"/>
                <a:sym typeface="Noto Sans SC"/>
              </a:rPr>
              <a:t>CodeSlicer 切出最小相关上下文，拒绝整文件投喂</a:t>
            </a:r>
            <a:endParaRPr lang="en-US" sz="1100"/>
          </a:p>
        </p:txBody>
      </p:sp>
      <p:cxnSp>
        <p:nvCxnSpPr>
          <p:cNvPr id="24" name="Connector 24"/>
          <p:cNvCxnSpPr/>
          <p:nvPr/>
        </p:nvCxnSpPr>
        <p:spPr>
          <a:xfrm rot="5114181">
            <a:off x="3797300" y="3930914"/>
            <a:ext cx="152400" cy="12700"/>
          </a:xfrm>
          <a:prstGeom prst="straightConnector1">
            <a:avLst/>
          </a:prstGeom>
          <a:solidFill>
            <a:srgbClr val="DEE0E3">
              <a:alpha val="100000"/>
            </a:srgbClr>
          </a:solidFill>
          <a:ln w="25400" cap="flat" cmpd="sng">
            <a:solidFill>
              <a:srgbClr val="A0ACB6">
                <a:alpha val="100000"/>
              </a:srgbClr>
            </a:solidFill>
            <a:prstDash val="solid"/>
            <a:round/>
            <a:headEnd type="none" w="lg" len="lg"/>
            <a:tailEnd type="arrow" w="lg" len="lg"/>
          </a:ln>
        </p:spPr>
      </p:cxnSp>
      <p:sp>
        <p:nvSpPr>
          <p:cNvPr id="25" name="AutoShape 25"/>
          <p:cNvSpPr/>
          <p:nvPr/>
        </p:nvSpPr>
        <p:spPr>
          <a:xfrm>
            <a:off x="889000" y="4013200"/>
            <a:ext cx="5969000" cy="584200"/>
          </a:xfrm>
          <a:prstGeom prst="roundRect">
            <a:avLst>
              <a:gd name="adj" fmla="val 1739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889000" y="4013200"/>
            <a:ext cx="50800" cy="5842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1117600" y="4102100"/>
            <a:ext cx="101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6FA39B"/>
                </a:solidFill>
                <a:latin typeface="Roboto Mono"/>
                <a:ea typeface="Roboto Mono"/>
                <a:cs typeface="Roboto Mono"/>
                <a:sym typeface="Roboto Mono"/>
              </a:rPr>
              <a:t>处理 3</a:t>
            </a:r>
            <a:endParaRPr lang="en-US" sz="1100"/>
          </a:p>
        </p:txBody>
      </p:sp>
      <p:sp>
        <p:nvSpPr>
          <p:cNvPr id="28" name="AutoShape 28"/>
          <p:cNvSpPr/>
          <p:nvPr/>
        </p:nvSpPr>
        <p:spPr>
          <a:xfrm>
            <a:off x="1117600" y="4318000"/>
            <a:ext cx="5588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0" i="0" u="none" strike="noStrike">
                <a:solidFill>
                  <a:srgbClr val="2B2F36"/>
                </a:solidFill>
                <a:latin typeface="Noto Sans SC"/>
                <a:ea typeface="Noto Sans SC"/>
                <a:cs typeface="Noto Sans SC"/>
                <a:sym typeface="Noto Sans SC"/>
              </a:rPr>
              <a:t>N=3 次独立采样，多数投票定结论</a:t>
            </a:r>
            <a:endParaRPr lang="en-US" sz="1100"/>
          </a:p>
        </p:txBody>
      </p:sp>
      <p:sp>
        <p:nvSpPr>
          <p:cNvPr id="29" name="AutoShape 29"/>
          <p:cNvSpPr/>
          <p:nvPr/>
        </p:nvSpPr>
        <p:spPr>
          <a:xfrm>
            <a:off x="889000" y="4749800"/>
            <a:ext cx="1854200" cy="584200"/>
          </a:xfrm>
          <a:prstGeom prst="roundRect">
            <a:avLst>
              <a:gd name="adj" fmla="val 17391"/>
            </a:avLst>
          </a:prstGeom>
          <a:solidFill>
            <a:srgbClr val="F7EBE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889000" y="4851400"/>
            <a:ext cx="1854200" cy="2286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200" b="1" i="0" u="none" strike="noStrike">
                <a:solidFill>
                  <a:srgbClr val="C0504D"/>
                </a:solidFill>
                <a:latin typeface="Noto Sans SC"/>
                <a:ea typeface="Noto Sans SC"/>
                <a:cs typeface="Noto Sans SC"/>
                <a:sym typeface="Noto Sans SC"/>
              </a:rPr>
              <a:t>确认漏洞</a:t>
            </a:r>
            <a:endParaRPr lang="en-US" sz="1100"/>
          </a:p>
        </p:txBody>
      </p:sp>
      <p:sp>
        <p:nvSpPr>
          <p:cNvPr id="31" name="AutoShape 31"/>
          <p:cNvSpPr/>
          <p:nvPr/>
        </p:nvSpPr>
        <p:spPr>
          <a:xfrm>
            <a:off x="889000" y="5105400"/>
            <a:ext cx="1854200" cy="2032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0" i="0" u="none" strike="noStrike">
                <a:solidFill>
                  <a:srgbClr val="5B6770"/>
                </a:solidFill>
                <a:latin typeface="Noto Sans SC"/>
                <a:ea typeface="Noto Sans SC"/>
                <a:cs typeface="Noto Sans SC"/>
                <a:sym typeface="Noto Sans SC"/>
              </a:rPr>
              <a:t>带 CWE 编号与理由</a:t>
            </a:r>
            <a:endParaRPr lang="en-US" sz="1100"/>
          </a:p>
        </p:txBody>
      </p:sp>
      <p:sp>
        <p:nvSpPr>
          <p:cNvPr id="32" name="AutoShape 32"/>
          <p:cNvSpPr/>
          <p:nvPr/>
        </p:nvSpPr>
        <p:spPr>
          <a:xfrm>
            <a:off x="2946400" y="4749800"/>
            <a:ext cx="1854200" cy="584200"/>
          </a:xfrm>
          <a:prstGeom prst="roundRect">
            <a:avLst>
              <a:gd name="adj" fmla="val 17391"/>
            </a:avLst>
          </a:prstGeom>
          <a:solidFill>
            <a:srgbClr val="E9F2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2946400" y="4851400"/>
            <a:ext cx="1854200" cy="2286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200" b="1" i="0" u="none" strike="noStrike">
                <a:solidFill>
                  <a:srgbClr val="6FA39B"/>
                </a:solidFill>
                <a:latin typeface="Noto Sans SC"/>
                <a:ea typeface="Noto Sans SC"/>
                <a:cs typeface="Noto Sans SC"/>
                <a:sym typeface="Noto Sans SC"/>
              </a:rPr>
              <a:t>确认安全</a:t>
            </a:r>
            <a:endParaRPr lang="en-US" sz="1100"/>
          </a:p>
        </p:txBody>
      </p:sp>
      <p:sp>
        <p:nvSpPr>
          <p:cNvPr id="34" name="AutoShape 34"/>
          <p:cNvSpPr/>
          <p:nvPr/>
        </p:nvSpPr>
        <p:spPr>
          <a:xfrm>
            <a:off x="2946400" y="5105400"/>
            <a:ext cx="1854200" cy="2032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0" i="0" u="none" strike="noStrike">
                <a:solidFill>
                  <a:srgbClr val="5B6770"/>
                </a:solidFill>
                <a:latin typeface="Noto Sans SC"/>
                <a:ea typeface="Noto Sans SC"/>
                <a:cs typeface="Noto Sans SC"/>
                <a:sym typeface="Noto Sans SC"/>
              </a:rPr>
              <a:t>高置信否定进抑制池</a:t>
            </a:r>
            <a:endParaRPr lang="en-US" sz="1100"/>
          </a:p>
        </p:txBody>
      </p:sp>
      <p:sp>
        <p:nvSpPr>
          <p:cNvPr id="35" name="AutoShape 35"/>
          <p:cNvSpPr/>
          <p:nvPr/>
        </p:nvSpPr>
        <p:spPr>
          <a:xfrm>
            <a:off x="5003800" y="4749800"/>
            <a:ext cx="1854200" cy="584200"/>
          </a:xfrm>
          <a:prstGeom prst="roundRect">
            <a:avLst>
              <a:gd name="adj" fmla="val 17391"/>
            </a:avLst>
          </a:prstGeom>
          <a:solidFill>
            <a:srgbClr val="FAF0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5003800" y="4851400"/>
            <a:ext cx="1854200" cy="2286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200" b="1" i="0" u="none" strike="noStrike">
                <a:solidFill>
                  <a:srgbClr val="D9962E"/>
                </a:solidFill>
                <a:latin typeface="Noto Sans SC"/>
                <a:ea typeface="Noto Sans SC"/>
                <a:cs typeface="Noto Sans SC"/>
                <a:sym typeface="Noto Sans SC"/>
              </a:rPr>
              <a:t>存疑</a:t>
            </a:r>
            <a:endParaRPr lang="en-US" sz="1100"/>
          </a:p>
        </p:txBody>
      </p:sp>
      <p:sp>
        <p:nvSpPr>
          <p:cNvPr id="37" name="AutoShape 37"/>
          <p:cNvSpPr/>
          <p:nvPr/>
        </p:nvSpPr>
        <p:spPr>
          <a:xfrm>
            <a:off x="5003800" y="5105400"/>
            <a:ext cx="1854200" cy="2032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0" i="0" u="none" strike="noStrike">
                <a:solidFill>
                  <a:srgbClr val="5B6770"/>
                </a:solidFill>
                <a:latin typeface="Noto Sans SC"/>
                <a:ea typeface="Noto Sans SC"/>
                <a:cs typeface="Noto Sans SC"/>
                <a:sym typeface="Noto Sans SC"/>
              </a:rPr>
              <a:t>转人工复核</a:t>
            </a:r>
            <a:endParaRPr lang="en-US" sz="1100"/>
          </a:p>
        </p:txBody>
      </p:sp>
      <p:sp>
        <p:nvSpPr>
          <p:cNvPr id="38" name="AutoShape 38"/>
          <p:cNvSpPr/>
          <p:nvPr/>
        </p:nvSpPr>
        <p:spPr>
          <a:xfrm>
            <a:off x="7289800" y="1498600"/>
            <a:ext cx="4216400" cy="3835400"/>
          </a:xfrm>
          <a:prstGeom prst="roundRect">
            <a:avLst>
              <a:gd name="adj" fmla="val 2649"/>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7289800" y="1498600"/>
            <a:ext cx="50800" cy="3835400"/>
          </a:xfrm>
          <a:prstGeom prst="roundRect">
            <a:avLst>
              <a:gd name="adj" fmla="val 5000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AutoShape 40"/>
          <p:cNvSpPr/>
          <p:nvPr/>
        </p:nvSpPr>
        <p:spPr>
          <a:xfrm>
            <a:off x="7543800" y="1701800"/>
            <a:ext cx="381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345E80"/>
                </a:solidFill>
                <a:latin typeface="Noto Sans SC"/>
                <a:ea typeface="Noto Sans SC"/>
                <a:cs typeface="Noto Sans SC"/>
                <a:sym typeface="Noto Sans SC"/>
              </a:rPr>
              <a:t>无候选分支 · 不直接放行</a:t>
            </a:r>
            <a:endParaRPr lang="en-US" sz="1100"/>
          </a:p>
        </p:txBody>
      </p:sp>
      <p:sp>
        <p:nvSpPr>
          <p:cNvPr id="41" name="AutoShape 41"/>
          <p:cNvSpPr/>
          <p:nvPr/>
        </p:nvSpPr>
        <p:spPr>
          <a:xfrm>
            <a:off x="7543800" y="2184400"/>
            <a:ext cx="76200" cy="76200"/>
          </a:xfrm>
          <a:prstGeom prst="roundRect">
            <a:avLst>
              <a:gd name="adj" fmla="val 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7747000" y="2133600"/>
            <a:ext cx="3556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10% 抽样</a:t>
            </a:r>
            <a:endParaRPr lang="en-US" sz="1100"/>
          </a:p>
        </p:txBody>
      </p:sp>
      <p:sp>
        <p:nvSpPr>
          <p:cNvPr id="43" name="AutoShape 43"/>
          <p:cNvSpPr/>
          <p:nvPr/>
        </p:nvSpPr>
        <p:spPr>
          <a:xfrm>
            <a:off x="7747000" y="2387600"/>
            <a:ext cx="3606800" cy="5080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50" b="0" i="0" u="none" strike="noStrike">
                <a:solidFill>
                  <a:srgbClr val="5B6770"/>
                </a:solidFill>
                <a:latin typeface="Noto Sans SC"/>
                <a:ea typeface="Noto Sans SC"/>
                <a:cs typeface="Noto Sans SC"/>
                <a:sym typeface="Noto Sans SC"/>
              </a:rPr>
              <a:t>工具无候选的文件默认抽样 10% 送 LLM 复核，捕捉工具盲区</a:t>
            </a:r>
            <a:endParaRPr lang="en-US" sz="1100"/>
          </a:p>
        </p:txBody>
      </p:sp>
      <p:sp>
        <p:nvSpPr>
          <p:cNvPr id="44" name="AutoShape 44"/>
          <p:cNvSpPr/>
          <p:nvPr/>
        </p:nvSpPr>
        <p:spPr>
          <a:xfrm>
            <a:off x="7543800" y="3175000"/>
            <a:ext cx="76200" cy="76200"/>
          </a:xfrm>
          <a:prstGeom prst="roundRect">
            <a:avLst>
              <a:gd name="adj" fmla="val 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AutoShape 45"/>
          <p:cNvSpPr/>
          <p:nvPr/>
        </p:nvSpPr>
        <p:spPr>
          <a:xfrm>
            <a:off x="7747000" y="3124200"/>
            <a:ext cx="3556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全量兜底</a:t>
            </a:r>
            <a:endParaRPr lang="en-US" sz="1100"/>
          </a:p>
        </p:txBody>
      </p:sp>
      <p:sp>
        <p:nvSpPr>
          <p:cNvPr id="46" name="AutoShape 46"/>
          <p:cNvSpPr/>
          <p:nvPr/>
        </p:nvSpPr>
        <p:spPr>
          <a:xfrm>
            <a:off x="7747000" y="3378200"/>
            <a:ext cx="3606800" cy="5080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50" b="0" i="0" u="none" strike="noStrike">
                <a:solidFill>
                  <a:srgbClr val="5B6770"/>
                </a:solidFill>
                <a:latin typeface="Noto Sans SC"/>
                <a:ea typeface="Noto Sans SC"/>
                <a:cs typeface="Noto Sans SC"/>
                <a:sym typeface="Noto Sans SC"/>
              </a:rPr>
              <a:t>生产与评估默认 full_recheck 全量复核，安全优先于成本</a:t>
            </a:r>
            <a:endParaRPr lang="en-US" sz="1100"/>
          </a:p>
        </p:txBody>
      </p:sp>
      <p:sp>
        <p:nvSpPr>
          <p:cNvPr id="47" name="AutoShape 47"/>
          <p:cNvSpPr/>
          <p:nvPr/>
        </p:nvSpPr>
        <p:spPr>
          <a:xfrm>
            <a:off x="7543800" y="4165600"/>
            <a:ext cx="76200" cy="76200"/>
          </a:xfrm>
          <a:prstGeom prst="roundRect">
            <a:avLst>
              <a:gd name="adj" fmla="val 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AutoShape 48"/>
          <p:cNvSpPr/>
          <p:nvPr/>
        </p:nvSpPr>
        <p:spPr>
          <a:xfrm>
            <a:off x="7747000" y="4114800"/>
            <a:ext cx="3556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命中扩审</a:t>
            </a:r>
            <a:endParaRPr lang="en-US" sz="1100"/>
          </a:p>
        </p:txBody>
      </p:sp>
      <p:sp>
        <p:nvSpPr>
          <p:cNvPr id="49" name="AutoShape 49"/>
          <p:cNvSpPr/>
          <p:nvPr/>
        </p:nvSpPr>
        <p:spPr>
          <a:xfrm>
            <a:off x="7747000" y="4368800"/>
            <a:ext cx="3606800" cy="5080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50" b="0" i="0" u="none" strike="noStrike">
                <a:solidFill>
                  <a:srgbClr val="5B6770"/>
                </a:solidFill>
                <a:latin typeface="Noto Sans SC"/>
                <a:ea typeface="Noto Sans SC"/>
                <a:cs typeface="Noto Sans SC"/>
                <a:sym typeface="Noto Sans SC"/>
              </a:rPr>
              <a:t>抽样一旦命中，立即扩大该批次审计范围</a:t>
            </a:r>
            <a:endParaRPr lang="en-US" sz="1100"/>
          </a:p>
        </p:txBody>
      </p:sp>
      <p:sp>
        <p:nvSpPr>
          <p:cNvPr id="50" name="AutoShape 50"/>
          <p:cNvSpPr/>
          <p:nvPr/>
        </p:nvSpPr>
        <p:spPr>
          <a:xfrm>
            <a:off x="685800" y="5486400"/>
            <a:ext cx="10820400" cy="812800"/>
          </a:xfrm>
          <a:prstGeom prst="roundRect">
            <a:avLst>
              <a:gd name="adj" fmla="val 12500"/>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51"/>
          <p:cNvSpPr/>
          <p:nvPr/>
        </p:nvSpPr>
        <p:spPr>
          <a:xfrm>
            <a:off x="990600" y="5613400"/>
            <a:ext cx="508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1" i="0" u="none" strike="noStrike">
                <a:solidFill>
                  <a:srgbClr val="D9962E"/>
                </a:solidFill>
                <a:latin typeface="Roboto Mono"/>
                <a:ea typeface="Roboto Mono"/>
                <a:cs typeface="Roboto Mono"/>
                <a:sym typeface="Roboto Mono"/>
              </a:rPr>
              <a:t>WHY IT WORKS · 封闭裁决 vs 开放生成</a:t>
            </a:r>
            <a:endParaRPr lang="en-US" sz="1100"/>
          </a:p>
        </p:txBody>
      </p:sp>
      <p:sp>
        <p:nvSpPr>
          <p:cNvPr id="52" name="AutoShape 52"/>
          <p:cNvSpPr/>
          <p:nvPr/>
        </p:nvSpPr>
        <p:spPr>
          <a:xfrm>
            <a:off x="990600" y="5867400"/>
            <a:ext cx="104140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DC8C8A"/>
                </a:solidFill>
                <a:latin typeface="Noto Sans SC"/>
                <a:ea typeface="Noto Sans SC"/>
                <a:cs typeface="Noto Sans SC"/>
                <a:sym typeface="Noto Sans SC"/>
              </a:rPr>
              <a:t>开放生成：</a:t>
            </a:r>
            <a:r>
              <a:rPr lang="en-US" sz="1200" b="0" i="0" u="none" strike="noStrike">
                <a:solidFill>
                  <a:srgbClr val="C8D2DA"/>
                </a:solidFill>
                <a:latin typeface="Noto Sans SC"/>
                <a:ea typeface="Noto Sans SC"/>
                <a:cs typeface="Noto Sans SC"/>
                <a:sym typeface="Noto Sans SC"/>
              </a:rPr>
              <a:t>幻觉不可复现、整文件投喂成本高 → </a:t>
            </a:r>
            <a:r>
              <a:rPr lang="en-US" sz="1200" b="1" i="0" u="none" strike="noStrike">
                <a:solidFill>
                  <a:srgbClr val="D9962E"/>
                </a:solidFill>
                <a:latin typeface="Noto Sans SC"/>
                <a:ea typeface="Noto Sans SC"/>
                <a:cs typeface="Noto Sans SC"/>
                <a:sym typeface="Noto Sans SC"/>
              </a:rPr>
              <a:t>封闭裁决：</a:t>
            </a:r>
            <a:r>
              <a:rPr lang="en-US" sz="1200" b="1" i="0" u="none" strike="noStrike">
                <a:solidFill>
                  <a:srgbClr val="FFFFFF"/>
                </a:solidFill>
                <a:latin typeface="Noto Sans SC"/>
                <a:ea typeface="Noto Sans SC"/>
                <a:cs typeface="Noto Sans SC"/>
                <a:sym typeface="Noto Sans SC"/>
              </a:rPr>
              <a:t>证据约束、投票可复现、调用量约降 70%</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04 项目的价值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2.5 代信任层：让系统的每一次“记住”都经过门控</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19 / 30</a:t>
            </a:r>
            <a:endParaRPr lang="en-US" sz="1100"/>
          </a:p>
        </p:txBody>
      </p:sp>
      <p:pic>
        <p:nvPicPr>
          <p:cNvPr id="8" name="Picture 8"/>
          <p:cNvPicPr>
            <a:picLocks noChangeAspect="1"/>
          </p:cNvPicPr>
          <p:nvPr/>
        </p:nvPicPr>
        <p:blipFill>
          <a:blip r:embed="rId3"/>
          <a:srcRect/>
          <a:stretch>
            <a:fillRect/>
          </a:stretch>
        </p:blipFill>
        <p:spPr>
          <a:xfrm>
            <a:off x="685800" y="1549400"/>
            <a:ext cx="7112000" cy="4572000"/>
          </a:xfrm>
          <a:prstGeom prst="roundRect">
            <a:avLst>
              <a:gd name="adj" fmla="val 2222"/>
            </a:avLst>
          </a:prstGeom>
          <a:noFill/>
          <a:ln w="25400" cap="flat" cmpd="sng">
            <a:noFill/>
            <a:prstDash val="solid"/>
            <a:round/>
          </a:ln>
        </p:spPr>
      </p:pic>
      <p:sp>
        <p:nvSpPr>
          <p:cNvPr id="9" name="AutoShape 9"/>
          <p:cNvSpPr/>
          <p:nvPr/>
        </p:nvSpPr>
        <p:spPr>
          <a:xfrm>
            <a:off x="685800" y="6172200"/>
            <a:ext cx="7112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49EA6"/>
                </a:solidFill>
                <a:latin typeface="Noto Sans SC"/>
                <a:ea typeface="Noto Sans SC"/>
                <a:cs typeface="Noto Sans SC"/>
                <a:sym typeface="Noto Sans SC"/>
              </a:rPr>
              <a:t>图：A–E 分级、四重门控回填与复核兜底的完整信任层实现</a:t>
            </a:r>
            <a:endParaRPr lang="en-US" sz="1100"/>
          </a:p>
        </p:txBody>
      </p:sp>
      <p:sp>
        <p:nvSpPr>
          <p:cNvPr id="10" name="AutoShape 10"/>
          <p:cNvSpPr/>
          <p:nvPr/>
        </p:nvSpPr>
        <p:spPr>
          <a:xfrm>
            <a:off x="8077200" y="1574800"/>
            <a:ext cx="3429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D9962E"/>
                </a:solidFill>
                <a:latin typeface="Roboto Mono"/>
                <a:ea typeface="Roboto Mono"/>
                <a:cs typeface="Roboto Mono"/>
                <a:sym typeface="Roboto Mono"/>
              </a:rPr>
              <a:t>TRUST LAYER · 三道关</a:t>
            </a:r>
            <a:endParaRPr lang="en-US" sz="1100"/>
          </a:p>
        </p:txBody>
      </p:sp>
      <p:sp>
        <p:nvSpPr>
          <p:cNvPr id="11" name="AutoShape 11"/>
          <p:cNvSpPr/>
          <p:nvPr/>
        </p:nvSpPr>
        <p:spPr>
          <a:xfrm>
            <a:off x="8077200" y="1879600"/>
            <a:ext cx="3429000" cy="1092200"/>
          </a:xfrm>
          <a:prstGeom prst="roundRect">
            <a:avLst>
              <a:gd name="adj" fmla="val 9302"/>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077200" y="1879600"/>
            <a:ext cx="50800" cy="10922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8280400" y="2032000"/>
            <a:ext cx="3048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输出分级</a:t>
            </a:r>
            <a:endParaRPr lang="en-US" sz="1100"/>
          </a:p>
        </p:txBody>
      </p:sp>
      <p:sp>
        <p:nvSpPr>
          <p:cNvPr id="14" name="AutoShape 14"/>
          <p:cNvSpPr/>
          <p:nvPr/>
        </p:nvSpPr>
        <p:spPr>
          <a:xfrm>
            <a:off x="8280400" y="2336800"/>
            <a:ext cx="3073400" cy="5588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5B6770"/>
                </a:solidFill>
                <a:latin typeface="Noto Sans SC"/>
                <a:ea typeface="Noto Sans SC"/>
                <a:cs typeface="Noto Sans SC"/>
                <a:sym typeface="Noto Sans SC"/>
              </a:rPr>
              <a:t>裁决结果分 A–E 五级，正确、错误、存疑区别对待，不做单点阈值</a:t>
            </a:r>
            <a:endParaRPr lang="en-US" sz="1100"/>
          </a:p>
        </p:txBody>
      </p:sp>
      <p:sp>
        <p:nvSpPr>
          <p:cNvPr id="15" name="AutoShape 15"/>
          <p:cNvSpPr/>
          <p:nvPr/>
        </p:nvSpPr>
        <p:spPr>
          <a:xfrm>
            <a:off x="8077200" y="3098800"/>
            <a:ext cx="3429000" cy="1092200"/>
          </a:xfrm>
          <a:prstGeom prst="roundRect">
            <a:avLst>
              <a:gd name="adj" fmla="val 9302"/>
            </a:avLst>
          </a:prstGeom>
          <a:solidFill>
            <a:srgbClr val="E9F2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077200" y="3098800"/>
            <a:ext cx="50800" cy="10922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280400" y="3251200"/>
            <a:ext cx="3048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回填门控</a:t>
            </a:r>
            <a:endParaRPr lang="en-US" sz="1100"/>
          </a:p>
        </p:txBody>
      </p:sp>
      <p:sp>
        <p:nvSpPr>
          <p:cNvPr id="18" name="AutoShape 18"/>
          <p:cNvSpPr/>
          <p:nvPr/>
        </p:nvSpPr>
        <p:spPr>
          <a:xfrm>
            <a:off x="8280400" y="3556000"/>
            <a:ext cx="3073400" cy="5588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5B6770"/>
                </a:solidFill>
                <a:latin typeface="Noto Sans SC"/>
                <a:ea typeface="Noto Sans SC"/>
                <a:cs typeface="Noto Sans SC"/>
                <a:sym typeface="Noto Sans SC"/>
              </a:rPr>
              <a:t>全票 · 聚合 · 可撤销 · 独立验证四重门控，全过才写入记忆</a:t>
            </a:r>
            <a:endParaRPr lang="en-US" sz="1100"/>
          </a:p>
        </p:txBody>
      </p:sp>
      <p:sp>
        <p:nvSpPr>
          <p:cNvPr id="19" name="AutoShape 19"/>
          <p:cNvSpPr/>
          <p:nvPr/>
        </p:nvSpPr>
        <p:spPr>
          <a:xfrm>
            <a:off x="8077200" y="4318000"/>
            <a:ext cx="3429000" cy="1092200"/>
          </a:xfrm>
          <a:prstGeom prst="roundRect">
            <a:avLst>
              <a:gd name="adj" fmla="val 9302"/>
            </a:avLst>
          </a:prstGeom>
          <a:solidFill>
            <a:srgbClr val="FAF0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077200" y="4318000"/>
            <a:ext cx="50800" cy="10922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8280400" y="4470400"/>
            <a:ext cx="3048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复核兜底</a:t>
            </a:r>
            <a:endParaRPr lang="en-US" sz="1100"/>
          </a:p>
        </p:txBody>
      </p:sp>
      <p:sp>
        <p:nvSpPr>
          <p:cNvPr id="22" name="AutoShape 22"/>
          <p:cNvSpPr/>
          <p:nvPr/>
        </p:nvSpPr>
        <p:spPr>
          <a:xfrm>
            <a:off x="8280400" y="4775200"/>
            <a:ext cx="3073400" cy="5588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5B6770"/>
                </a:solidFill>
                <a:latin typeface="Noto Sans SC"/>
                <a:ea typeface="Noto Sans SC"/>
                <a:cs typeface="Noto Sans SC"/>
                <a:sym typeface="Noto Sans SC"/>
              </a:rPr>
              <a:t>抑制池压制已知误报；无候选分支抽样与全量复核双保险</a:t>
            </a:r>
            <a:endParaRPr lang="en-US" sz="1100"/>
          </a:p>
        </p:txBody>
      </p:sp>
      <p:sp>
        <p:nvSpPr>
          <p:cNvPr id="23" name="AutoShape 23"/>
          <p:cNvSpPr/>
          <p:nvPr/>
        </p:nvSpPr>
        <p:spPr>
          <a:xfrm>
            <a:off x="8077200" y="5537200"/>
            <a:ext cx="3429000" cy="736600"/>
          </a:xfrm>
          <a:prstGeom prst="roundRect">
            <a:avLst>
              <a:gd name="adj" fmla="val 13793"/>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8280400" y="5651500"/>
            <a:ext cx="3048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96A6B2"/>
                </a:solidFill>
                <a:latin typeface="Noto Sans SC"/>
                <a:ea typeface="Noto Sans SC"/>
                <a:cs typeface="Noto Sans SC"/>
                <a:sym typeface="Noto Sans SC"/>
              </a:rPr>
              <a:t>误报率 FPR（87 合成集实测）</a:t>
            </a:r>
            <a:endParaRPr lang="en-US" sz="1100"/>
          </a:p>
        </p:txBody>
      </p:sp>
      <p:sp>
        <p:nvSpPr>
          <p:cNvPr id="25" name="AutoShape 25"/>
          <p:cNvSpPr/>
          <p:nvPr/>
        </p:nvSpPr>
        <p:spPr>
          <a:xfrm>
            <a:off x="8280400" y="5854700"/>
            <a:ext cx="3098800" cy="355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700" b="1" i="0" u="none" strike="noStrike">
                <a:solidFill>
                  <a:srgbClr val="D9962E"/>
                </a:solidFill>
                <a:latin typeface="Roboto Mono"/>
                <a:ea typeface="Roboto Mono"/>
                <a:cs typeface="Roboto Mono"/>
                <a:sym typeface="Roboto Mono"/>
              </a:rPr>
              <a:t>0.154 → 0.0435</a:t>
            </a:r>
            <a:r>
              <a:rPr lang="en-US" sz="1200" b="1" i="0" u="none" strike="noStrike">
                <a:solidFill>
                  <a:srgbClr val="FFFFFF"/>
                </a:solidFill>
                <a:latin typeface="Roboto Mono"/>
                <a:ea typeface="Roboto Mono"/>
                <a:cs typeface="Roboto Mono"/>
                <a:sym typeface="Roboto Mono"/>
              </a:rPr>
              <a:t> -72%</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04 项目的价值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数据工程：914 条手写样本起步，百元成本建成万条语料</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20 / 30</a:t>
            </a:r>
            <a:endParaRPr lang="en-US" sz="1100"/>
          </a:p>
        </p:txBody>
      </p:sp>
      <p:sp>
        <p:nvSpPr>
          <p:cNvPr id="8" name="AutoShape 8"/>
          <p:cNvSpPr/>
          <p:nvPr/>
        </p:nvSpPr>
        <p:spPr>
          <a:xfrm>
            <a:off x="685800" y="1600200"/>
            <a:ext cx="1981200" cy="1371600"/>
          </a:xfrm>
          <a:prstGeom prst="roundRect">
            <a:avLst>
              <a:gd name="adj" fmla="val 7407"/>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85800" y="1600200"/>
            <a:ext cx="1981200" cy="381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63600" y="1778000"/>
            <a:ext cx="1651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400" b="1" i="0" u="none" strike="noStrike">
                <a:solidFill>
                  <a:srgbClr val="4A7FA5"/>
                </a:solidFill>
                <a:latin typeface="Roboto Mono"/>
                <a:ea typeface="Roboto Mono"/>
                <a:cs typeface="Roboto Mono"/>
                <a:sym typeface="Roboto Mono"/>
              </a:rPr>
              <a:t>914</a:t>
            </a:r>
            <a:endParaRPr lang="en-US" sz="1100"/>
          </a:p>
        </p:txBody>
      </p:sp>
      <p:sp>
        <p:nvSpPr>
          <p:cNvPr id="11" name="AutoShape 11"/>
          <p:cNvSpPr/>
          <p:nvPr/>
        </p:nvSpPr>
        <p:spPr>
          <a:xfrm>
            <a:off x="863600" y="2260600"/>
            <a:ext cx="165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手写种子样本</a:t>
            </a:r>
            <a:endParaRPr lang="en-US" sz="1100"/>
          </a:p>
        </p:txBody>
      </p:sp>
      <p:sp>
        <p:nvSpPr>
          <p:cNvPr id="12" name="AutoShape 12"/>
          <p:cNvSpPr/>
          <p:nvPr/>
        </p:nvSpPr>
        <p:spPr>
          <a:xfrm>
            <a:off x="863600" y="2514600"/>
            <a:ext cx="16764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逐段编写、逐段标注</a:t>
            </a:r>
            <a:endParaRPr lang="en-US" sz="1100"/>
          </a:p>
        </p:txBody>
      </p:sp>
      <p:cxnSp>
        <p:nvCxnSpPr>
          <p:cNvPr id="13" name="Connector 13"/>
          <p:cNvCxnSpPr/>
          <p:nvPr/>
        </p:nvCxnSpPr>
        <p:spPr>
          <a:xfrm rot="-214580">
            <a:off x="2679898" y="2279650"/>
            <a:ext cx="2032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14" name="AutoShape 14"/>
          <p:cNvSpPr/>
          <p:nvPr/>
        </p:nvSpPr>
        <p:spPr>
          <a:xfrm>
            <a:off x="2895600" y="1600200"/>
            <a:ext cx="1981200" cy="1371600"/>
          </a:xfrm>
          <a:prstGeom prst="roundRect">
            <a:avLst>
              <a:gd name="adj" fmla="val 7407"/>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2895600" y="1600200"/>
            <a:ext cx="1981200" cy="381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3073400" y="1778000"/>
            <a:ext cx="1651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400" b="1" i="0" u="none" strike="noStrike">
                <a:solidFill>
                  <a:srgbClr val="6FA39B"/>
                </a:solidFill>
                <a:latin typeface="Roboto Mono"/>
                <a:ea typeface="Roboto Mono"/>
                <a:cs typeface="Roboto Mono"/>
                <a:sym typeface="Roboto Mono"/>
              </a:rPr>
              <a:t>10,700</a:t>
            </a:r>
            <a:endParaRPr lang="en-US" sz="1100"/>
          </a:p>
        </p:txBody>
      </p:sp>
      <p:sp>
        <p:nvSpPr>
          <p:cNvPr id="17" name="AutoShape 17"/>
          <p:cNvSpPr/>
          <p:nvPr/>
        </p:nvSpPr>
        <p:spPr>
          <a:xfrm>
            <a:off x="3073400" y="2260600"/>
            <a:ext cx="165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双教师蒸馏</a:t>
            </a:r>
            <a:endParaRPr lang="en-US" sz="1100"/>
          </a:p>
        </p:txBody>
      </p:sp>
      <p:sp>
        <p:nvSpPr>
          <p:cNvPr id="18" name="AutoShape 18"/>
          <p:cNvSpPr/>
          <p:nvPr/>
        </p:nvSpPr>
        <p:spPr>
          <a:xfrm>
            <a:off x="3073400" y="2514600"/>
            <a:ext cx="16764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长思维链压缩为短链</a:t>
            </a:r>
            <a:endParaRPr lang="en-US" sz="1100"/>
          </a:p>
        </p:txBody>
      </p:sp>
      <p:cxnSp>
        <p:nvCxnSpPr>
          <p:cNvPr id="19" name="Connector 19"/>
          <p:cNvCxnSpPr/>
          <p:nvPr/>
        </p:nvCxnSpPr>
        <p:spPr>
          <a:xfrm rot="-214580">
            <a:off x="4889698" y="2279650"/>
            <a:ext cx="2032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20" name="AutoShape 20"/>
          <p:cNvSpPr/>
          <p:nvPr/>
        </p:nvSpPr>
        <p:spPr>
          <a:xfrm>
            <a:off x="5105400" y="1600200"/>
            <a:ext cx="1981200" cy="1371600"/>
          </a:xfrm>
          <a:prstGeom prst="roundRect">
            <a:avLst>
              <a:gd name="adj" fmla="val 7407"/>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5105400" y="1600200"/>
            <a:ext cx="1981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5283200" y="1778000"/>
            <a:ext cx="1651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400" b="1" i="0" u="none" strike="noStrike">
                <a:solidFill>
                  <a:srgbClr val="D9962E"/>
                </a:solidFill>
                <a:latin typeface="Roboto Mono"/>
                <a:ea typeface="Roboto Mono"/>
                <a:cs typeface="Roboto Mono"/>
                <a:sym typeface="Roboto Mono"/>
              </a:rPr>
              <a:t>7,692</a:t>
            </a:r>
            <a:endParaRPr lang="en-US" sz="1100"/>
          </a:p>
        </p:txBody>
      </p:sp>
      <p:sp>
        <p:nvSpPr>
          <p:cNvPr id="23" name="AutoShape 23"/>
          <p:cNvSpPr/>
          <p:nvPr/>
        </p:nvSpPr>
        <p:spPr>
          <a:xfrm>
            <a:off x="5283200" y="2260600"/>
            <a:ext cx="165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三次清洗</a:t>
            </a:r>
            <a:endParaRPr lang="en-US" sz="1100"/>
          </a:p>
        </p:txBody>
      </p:sp>
      <p:sp>
        <p:nvSpPr>
          <p:cNvPr id="24" name="AutoShape 24"/>
          <p:cNvSpPr/>
          <p:nvPr/>
        </p:nvSpPr>
        <p:spPr>
          <a:xfrm>
            <a:off x="5283200" y="2514600"/>
            <a:ext cx="16764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泄漏排查后保留</a:t>
            </a:r>
            <a:endParaRPr lang="en-US" sz="1100"/>
          </a:p>
        </p:txBody>
      </p:sp>
      <p:cxnSp>
        <p:nvCxnSpPr>
          <p:cNvPr id="25" name="Connector 25"/>
          <p:cNvCxnSpPr/>
          <p:nvPr/>
        </p:nvCxnSpPr>
        <p:spPr>
          <a:xfrm rot="-214580">
            <a:off x="7099498" y="2279650"/>
            <a:ext cx="2032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26" name="AutoShape 26"/>
          <p:cNvSpPr/>
          <p:nvPr/>
        </p:nvSpPr>
        <p:spPr>
          <a:xfrm>
            <a:off x="7315200" y="1600200"/>
            <a:ext cx="1981200" cy="1371600"/>
          </a:xfrm>
          <a:prstGeom prst="roundRect">
            <a:avLst>
              <a:gd name="adj" fmla="val 7407"/>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7315200" y="1600200"/>
            <a:ext cx="1981200" cy="38100"/>
          </a:xfrm>
          <a:prstGeom prst="roundRect">
            <a:avLst>
              <a:gd name="adj" fmla="val 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7493000" y="1778000"/>
            <a:ext cx="1651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400" b="1" i="0" u="none" strike="noStrike">
                <a:solidFill>
                  <a:srgbClr val="345E80"/>
                </a:solidFill>
                <a:latin typeface="Roboto Mono"/>
                <a:ea typeface="Roboto Mono"/>
                <a:cs typeface="Roboto Mono"/>
                <a:sym typeface="Roboto Mono"/>
              </a:rPr>
              <a:t>7,972</a:t>
            </a:r>
            <a:endParaRPr lang="en-US" sz="1100"/>
          </a:p>
        </p:txBody>
      </p:sp>
      <p:sp>
        <p:nvSpPr>
          <p:cNvPr id="29" name="AutoShape 29"/>
          <p:cNvSpPr/>
          <p:nvPr/>
        </p:nvSpPr>
        <p:spPr>
          <a:xfrm>
            <a:off x="7493000" y="2260600"/>
            <a:ext cx="165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α0.5 冻结</a:t>
            </a:r>
            <a:endParaRPr lang="en-US" sz="1100"/>
          </a:p>
        </p:txBody>
      </p:sp>
      <p:sp>
        <p:nvSpPr>
          <p:cNvPr id="30" name="AutoShape 30"/>
          <p:cNvSpPr/>
          <p:nvPr/>
        </p:nvSpPr>
        <p:spPr>
          <a:xfrm>
            <a:off x="7493000" y="2514600"/>
            <a:ext cx="16764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已训练版本语料</a:t>
            </a:r>
            <a:endParaRPr lang="en-US" sz="1100"/>
          </a:p>
        </p:txBody>
      </p:sp>
      <p:cxnSp>
        <p:nvCxnSpPr>
          <p:cNvPr id="31" name="Connector 31"/>
          <p:cNvCxnSpPr/>
          <p:nvPr/>
        </p:nvCxnSpPr>
        <p:spPr>
          <a:xfrm rot="-214580">
            <a:off x="9309298" y="2279650"/>
            <a:ext cx="2032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32" name="AutoShape 32"/>
          <p:cNvSpPr/>
          <p:nvPr/>
        </p:nvSpPr>
        <p:spPr>
          <a:xfrm>
            <a:off x="9525000" y="1600200"/>
            <a:ext cx="1981200" cy="1371600"/>
          </a:xfrm>
          <a:prstGeom prst="roundRect">
            <a:avLst>
              <a:gd name="adj" fmla="val 7407"/>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9525000" y="1600200"/>
            <a:ext cx="1981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9702800" y="1778000"/>
            <a:ext cx="1651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400" b="1" i="0" u="none" strike="noStrike">
                <a:solidFill>
                  <a:srgbClr val="D9962E"/>
                </a:solidFill>
                <a:latin typeface="Roboto Mono"/>
                <a:ea typeface="Roboto Mono"/>
                <a:cs typeface="Roboto Mono"/>
                <a:sym typeface="Roboto Mono"/>
              </a:rPr>
              <a:t>10,167</a:t>
            </a:r>
            <a:endParaRPr lang="en-US" sz="1100"/>
          </a:p>
        </p:txBody>
      </p:sp>
      <p:sp>
        <p:nvSpPr>
          <p:cNvPr id="35" name="AutoShape 35"/>
          <p:cNvSpPr/>
          <p:nvPr/>
        </p:nvSpPr>
        <p:spPr>
          <a:xfrm>
            <a:off x="9702800" y="2260600"/>
            <a:ext cx="165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α0.6 语料冻结</a:t>
            </a:r>
            <a:endParaRPr lang="en-US" sz="1100"/>
          </a:p>
        </p:txBody>
      </p:sp>
      <p:sp>
        <p:nvSpPr>
          <p:cNvPr id="36" name="AutoShape 36"/>
          <p:cNvSpPr/>
          <p:nvPr/>
        </p:nvSpPr>
        <p:spPr>
          <a:xfrm>
            <a:off x="9702800" y="2514600"/>
            <a:ext cx="16764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15 审计版 · 尚未开训</a:t>
            </a:r>
            <a:endParaRPr lang="en-US" sz="1100"/>
          </a:p>
        </p:txBody>
      </p:sp>
      <p:sp>
        <p:nvSpPr>
          <p:cNvPr id="37" name="AutoShape 37"/>
          <p:cNvSpPr/>
          <p:nvPr/>
        </p:nvSpPr>
        <p:spPr>
          <a:xfrm>
            <a:off x="685800" y="3276600"/>
            <a:ext cx="50800" cy="228600"/>
          </a:xfrm>
          <a:prstGeom prst="roundRect">
            <a:avLst>
              <a:gd name="adj" fmla="val 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838200" y="32766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治理留痕 · 每个版本都可回溯</a:t>
            </a:r>
            <a:endParaRPr lang="en-US" sz="1100"/>
          </a:p>
        </p:txBody>
      </p:sp>
      <p:sp>
        <p:nvSpPr>
          <p:cNvPr id="39" name="AutoShape 39"/>
          <p:cNvSpPr/>
          <p:nvPr/>
        </p:nvSpPr>
        <p:spPr>
          <a:xfrm>
            <a:off x="685800" y="3708400"/>
            <a:ext cx="2032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600" b="1" i="0" u="none" strike="noStrike">
                <a:solidFill>
                  <a:srgbClr val="2B2F36"/>
                </a:solidFill>
                <a:latin typeface="Roboto Mono"/>
                <a:ea typeface="Roboto Mono"/>
                <a:cs typeface="Roboto Mono"/>
                <a:sym typeface="Roboto Mono"/>
              </a:rPr>
              <a:t>15</a:t>
            </a:r>
            <a:endParaRPr lang="en-US" sz="1100"/>
          </a:p>
        </p:txBody>
      </p:sp>
      <p:sp>
        <p:nvSpPr>
          <p:cNvPr id="40" name="AutoShape 40"/>
          <p:cNvSpPr/>
          <p:nvPr/>
        </p:nvSpPr>
        <p:spPr>
          <a:xfrm>
            <a:off x="685800" y="4191000"/>
            <a:ext cx="203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5B6770"/>
                </a:solidFill>
                <a:latin typeface="Noto Sans SC"/>
                <a:ea typeface="Noto Sans SC"/>
                <a:cs typeface="Noto Sans SC"/>
                <a:sym typeface="Noto Sans SC"/>
              </a:rPr>
              <a:t>个数据版本</a:t>
            </a:r>
            <a:endParaRPr lang="en-US" sz="1100"/>
          </a:p>
        </p:txBody>
      </p:sp>
      <p:cxnSp>
        <p:nvCxnSpPr>
          <p:cNvPr id="41" name="Connector 41"/>
          <p:cNvCxnSpPr/>
          <p:nvPr/>
        </p:nvCxnSpPr>
        <p:spPr>
          <a:xfrm rot="-24554">
            <a:off x="685823" y="4514850"/>
            <a:ext cx="1778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42" name="AutoShape 42"/>
          <p:cNvSpPr/>
          <p:nvPr/>
        </p:nvSpPr>
        <p:spPr>
          <a:xfrm>
            <a:off x="2895600" y="3708400"/>
            <a:ext cx="2032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600" b="1" i="0" u="none" strike="noStrike">
                <a:solidFill>
                  <a:srgbClr val="2B2F36"/>
                </a:solidFill>
                <a:latin typeface="Roboto Mono"/>
                <a:ea typeface="Roboto Mono"/>
                <a:cs typeface="Roboto Mono"/>
                <a:sym typeface="Roboto Mono"/>
              </a:rPr>
              <a:t>12</a:t>
            </a:r>
            <a:endParaRPr lang="en-US" sz="1100"/>
          </a:p>
        </p:txBody>
      </p:sp>
      <p:sp>
        <p:nvSpPr>
          <p:cNvPr id="43" name="AutoShape 43"/>
          <p:cNvSpPr/>
          <p:nvPr/>
        </p:nvSpPr>
        <p:spPr>
          <a:xfrm>
            <a:off x="2895600" y="4191000"/>
            <a:ext cx="203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5B6770"/>
                </a:solidFill>
                <a:latin typeface="Noto Sans SC"/>
                <a:ea typeface="Noto Sans SC"/>
                <a:cs typeface="Noto Sans SC"/>
                <a:sym typeface="Noto Sans SC"/>
              </a:rPr>
              <a:t>个模型版本</a:t>
            </a:r>
            <a:endParaRPr lang="en-US" sz="1100"/>
          </a:p>
        </p:txBody>
      </p:sp>
      <p:cxnSp>
        <p:nvCxnSpPr>
          <p:cNvPr id="44" name="Connector 44"/>
          <p:cNvCxnSpPr/>
          <p:nvPr/>
        </p:nvCxnSpPr>
        <p:spPr>
          <a:xfrm rot="-24554">
            <a:off x="2895623" y="4514850"/>
            <a:ext cx="1778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45" name="AutoShape 45"/>
          <p:cNvSpPr/>
          <p:nvPr/>
        </p:nvSpPr>
        <p:spPr>
          <a:xfrm>
            <a:off x="5105400" y="3708400"/>
            <a:ext cx="2032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600" b="1" i="0" u="none" strike="noStrike">
                <a:solidFill>
                  <a:srgbClr val="2B2F36"/>
                </a:solidFill>
                <a:latin typeface="Roboto Mono"/>
                <a:ea typeface="Roboto Mono"/>
                <a:cs typeface="Roboto Mono"/>
                <a:sym typeface="Roboto Mono"/>
              </a:rPr>
              <a:t>87+20</a:t>
            </a:r>
            <a:endParaRPr lang="en-US" sz="1100"/>
          </a:p>
        </p:txBody>
      </p:sp>
      <p:sp>
        <p:nvSpPr>
          <p:cNvPr id="46" name="AutoShape 46"/>
          <p:cNvSpPr/>
          <p:nvPr/>
        </p:nvSpPr>
        <p:spPr>
          <a:xfrm>
            <a:off x="5105400" y="4191000"/>
            <a:ext cx="203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5B6770"/>
                </a:solidFill>
                <a:latin typeface="Noto Sans SC"/>
                <a:ea typeface="Noto Sans SC"/>
                <a:cs typeface="Noto Sans SC"/>
                <a:sym typeface="Noto Sans SC"/>
              </a:rPr>
              <a:t>合成+真实测试面</a:t>
            </a:r>
            <a:endParaRPr lang="en-US" sz="1100"/>
          </a:p>
        </p:txBody>
      </p:sp>
      <p:cxnSp>
        <p:nvCxnSpPr>
          <p:cNvPr id="47" name="Connector 47"/>
          <p:cNvCxnSpPr/>
          <p:nvPr/>
        </p:nvCxnSpPr>
        <p:spPr>
          <a:xfrm rot="-24554">
            <a:off x="5105423" y="4514850"/>
            <a:ext cx="1778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48" name="AutoShape 48"/>
          <p:cNvSpPr/>
          <p:nvPr/>
        </p:nvSpPr>
        <p:spPr>
          <a:xfrm>
            <a:off x="7315200" y="3708400"/>
            <a:ext cx="2032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600" b="1" i="0" u="none" strike="noStrike">
                <a:solidFill>
                  <a:srgbClr val="2B2F36"/>
                </a:solidFill>
                <a:latin typeface="Roboto Mono"/>
                <a:ea typeface="Roboto Mono"/>
                <a:cs typeface="Roboto Mono"/>
                <a:sym typeface="Roboto Mono"/>
              </a:rPr>
              <a:t>6</a:t>
            </a:r>
            <a:endParaRPr lang="en-US" sz="1100"/>
          </a:p>
        </p:txBody>
      </p:sp>
      <p:sp>
        <p:nvSpPr>
          <p:cNvPr id="49" name="AutoShape 49"/>
          <p:cNvSpPr/>
          <p:nvPr/>
        </p:nvSpPr>
        <p:spPr>
          <a:xfrm>
            <a:off x="7315200" y="4191000"/>
            <a:ext cx="203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5B6770"/>
                </a:solidFill>
                <a:latin typeface="Noto Sans SC"/>
                <a:ea typeface="Noto Sans SC"/>
                <a:cs typeface="Noto Sans SC"/>
                <a:sym typeface="Noto Sans SC"/>
              </a:rPr>
              <a:t>轮泄漏审计</a:t>
            </a:r>
            <a:endParaRPr lang="en-US" sz="1100"/>
          </a:p>
        </p:txBody>
      </p:sp>
      <p:cxnSp>
        <p:nvCxnSpPr>
          <p:cNvPr id="50" name="Connector 50"/>
          <p:cNvCxnSpPr/>
          <p:nvPr/>
        </p:nvCxnSpPr>
        <p:spPr>
          <a:xfrm rot="-24554">
            <a:off x="7315223" y="4514850"/>
            <a:ext cx="1778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51" name="AutoShape 51"/>
          <p:cNvSpPr/>
          <p:nvPr/>
        </p:nvSpPr>
        <p:spPr>
          <a:xfrm>
            <a:off x="9525000" y="3708400"/>
            <a:ext cx="2032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600" b="1" i="0" u="none" strike="noStrike">
                <a:solidFill>
                  <a:srgbClr val="2B2F36"/>
                </a:solidFill>
                <a:latin typeface="Roboto Mono"/>
                <a:ea typeface="Roboto Mono"/>
                <a:cs typeface="Roboto Mono"/>
                <a:sym typeface="Roboto Mono"/>
              </a:rPr>
              <a:t>≈100 元</a:t>
            </a:r>
            <a:endParaRPr lang="en-US" sz="1100"/>
          </a:p>
        </p:txBody>
      </p:sp>
      <p:sp>
        <p:nvSpPr>
          <p:cNvPr id="52" name="AutoShape 52"/>
          <p:cNvSpPr/>
          <p:nvPr/>
        </p:nvSpPr>
        <p:spPr>
          <a:xfrm>
            <a:off x="9525000" y="4191000"/>
            <a:ext cx="203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5B6770"/>
                </a:solidFill>
                <a:latin typeface="Noto Sans SC"/>
                <a:ea typeface="Noto Sans SC"/>
                <a:cs typeface="Noto Sans SC"/>
                <a:sym typeface="Noto Sans SC"/>
              </a:rPr>
              <a:t>云端总成本</a:t>
            </a:r>
            <a:endParaRPr lang="en-US" sz="1100"/>
          </a:p>
        </p:txBody>
      </p:sp>
      <p:cxnSp>
        <p:nvCxnSpPr>
          <p:cNvPr id="53" name="Connector 53"/>
          <p:cNvCxnSpPr/>
          <p:nvPr/>
        </p:nvCxnSpPr>
        <p:spPr>
          <a:xfrm rot="-24554">
            <a:off x="9525023" y="4514850"/>
            <a:ext cx="1778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54" name="AutoShape 54"/>
          <p:cNvSpPr/>
          <p:nvPr/>
        </p:nvSpPr>
        <p:spPr>
          <a:xfrm>
            <a:off x="685800" y="4902200"/>
            <a:ext cx="10820400" cy="1092200"/>
          </a:xfrm>
          <a:prstGeom prst="roundRect">
            <a:avLst>
              <a:gd name="adj" fmla="val 9302"/>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5" name="AutoShape 55"/>
          <p:cNvSpPr/>
          <p:nvPr/>
        </p:nvSpPr>
        <p:spPr>
          <a:xfrm>
            <a:off x="685800" y="4902200"/>
            <a:ext cx="50800" cy="10922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AutoShape 56"/>
          <p:cNvSpPr/>
          <p:nvPr/>
        </p:nvSpPr>
        <p:spPr>
          <a:xfrm>
            <a:off x="990600" y="5080000"/>
            <a:ext cx="508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1" i="0" u="none" strike="noStrike">
                <a:solidFill>
                  <a:srgbClr val="D9962E"/>
                </a:solidFill>
                <a:latin typeface="Roboto Mono"/>
                <a:ea typeface="Roboto Mono"/>
                <a:cs typeface="Roboto Mono"/>
                <a:sym typeface="Roboto Mono"/>
              </a:rPr>
              <a:t>LEAKAGE AUDIT · 三次泄漏排查</a:t>
            </a:r>
            <a:endParaRPr lang="en-US" sz="1100"/>
          </a:p>
        </p:txBody>
      </p:sp>
      <p:sp>
        <p:nvSpPr>
          <p:cNvPr id="57" name="AutoShape 57"/>
          <p:cNvSpPr/>
          <p:nvPr/>
        </p:nvSpPr>
        <p:spPr>
          <a:xfrm>
            <a:off x="990600" y="5359400"/>
            <a:ext cx="10363200" cy="5588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1" i="0" u="none" strike="noStrike">
                <a:solidFill>
                  <a:srgbClr val="FFFFFF"/>
                </a:solidFill>
                <a:latin typeface="Noto Sans SC"/>
                <a:ea typeface="Noto Sans SC"/>
                <a:cs typeface="Noto Sans SC"/>
                <a:sym typeface="Noto Sans SC"/>
              </a:rPr>
              <a:t>文件名含答案 · 训练-测试 Jaccard 重叠 · 反向拟合测试集——</a:t>
            </a:r>
            <a:endParaRPr lang="en-US" sz="1100"/>
          </a:p>
          <a:p>
            <a:pPr marL="0" indent="0" algn="l">
              <a:lnSpc>
                <a:spcPct val="125000"/>
              </a:lnSpc>
            </a:pPr>
            <a:r>
              <a:rPr lang="en-US" sz="1300" b="1" i="0" u="none" strike="noStrike">
                <a:solidFill>
                  <a:srgbClr val="FFFFFF"/>
                </a:solidFill>
                <a:latin typeface="Noto Sans SC"/>
                <a:ea typeface="Noto Sans SC"/>
                <a:cs typeface="Noto Sans SC"/>
                <a:sym typeface="Noto Sans SC"/>
              </a:rPr>
              <a:t>语料每一次扩张，都必须先过审计关，再谈训练。</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04 项目的价值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核心结果：双口径下，两阶段+信任层全面优于纯 LLM</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21 / 30</a:t>
            </a:r>
            <a:endParaRPr lang="en-US" sz="1100"/>
          </a:p>
        </p:txBody>
      </p:sp>
      <p:sp>
        <p:nvSpPr>
          <p:cNvPr id="8" name="AutoShape 8"/>
          <p:cNvSpPr/>
          <p:nvPr/>
        </p:nvSpPr>
        <p:spPr>
          <a:xfrm>
            <a:off x="5168900" y="1549400"/>
            <a:ext cx="1289050" cy="3365500"/>
          </a:xfrm>
          <a:prstGeom prst="roundRect">
            <a:avLst>
              <a:gd name="adj" fmla="val 0"/>
            </a:avLst>
          </a:prstGeom>
          <a:solidFill>
            <a:srgbClr val="4A7FA5">
              <a:alpha val="7000"/>
            </a:srgbClr>
          </a:solidFill>
          <a:ln w="12700" cap="flat" cmpd="sng">
            <a:solidFill>
              <a:srgbClr val="4A7FA5">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85800" y="1549400"/>
            <a:ext cx="7061200" cy="431800"/>
          </a:xfrm>
          <a:prstGeom prst="roundRect">
            <a:avLst>
              <a:gd name="adj" fmla="val 0"/>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787400" y="1612900"/>
            <a:ext cx="1752600" cy="330200"/>
          </a:xfrm>
          <a:prstGeom prst="rect">
            <a:avLst/>
          </a:prstGeom>
          <a:noFill/>
          <a:ln w="12700" cap="flat" cmpd="sng">
            <a:noFill/>
            <a:prstDash val="solid"/>
            <a:round/>
          </a:ln>
        </p:spPr>
        <p:txBody>
          <a:bodyPr vert="horz" wrap="square" lIns="0" tIns="0" rIns="0" bIns="0" rtlCol="0" anchor="ctr" anchorCtr="0"/>
          <a:lstStyle/>
          <a:p>
            <a:pPr marL="0" indent="0" algn="l">
              <a:lnSpc>
                <a:spcPct val="104166"/>
              </a:lnSpc>
              <a:defRPr/>
            </a:pPr>
            <a:r>
              <a:rPr lang="en-US" sz="1000" b="1" i="0" u="none" strike="noStrike">
                <a:solidFill>
                  <a:srgbClr val="FFFFFF"/>
                </a:solidFill>
                <a:latin typeface="Noto Sans SC"/>
                <a:ea typeface="Noto Sans SC"/>
                <a:cs typeface="Noto Sans SC"/>
                <a:sym typeface="Noto Sans SC"/>
              </a:rPr>
              <a:t>指标（组态 →）</a:t>
            </a:r>
            <a:endParaRPr lang="en-US" sz="1100"/>
          </a:p>
        </p:txBody>
      </p:sp>
      <p:sp>
        <p:nvSpPr>
          <p:cNvPr id="11" name="AutoShape 11"/>
          <p:cNvSpPr/>
          <p:nvPr/>
        </p:nvSpPr>
        <p:spPr>
          <a:xfrm>
            <a:off x="2692400" y="1612900"/>
            <a:ext cx="1136650" cy="330200"/>
          </a:xfrm>
          <a:prstGeom prst="rect">
            <a:avLst/>
          </a:prstGeom>
          <a:noFill/>
          <a:ln w="12700" cap="flat" cmpd="sng">
            <a:noFill/>
            <a:prstDash val="solid"/>
            <a:round/>
          </a:ln>
        </p:spPr>
        <p:txBody>
          <a:bodyPr vert="horz" wrap="square" lIns="0" tIns="0" rIns="0" bIns="0" rtlCol="0" anchor="ctr" anchorCtr="0"/>
          <a:lstStyle/>
          <a:p>
            <a:pPr marL="0" indent="0" algn="ctr">
              <a:lnSpc>
                <a:spcPct val="104166"/>
              </a:lnSpc>
              <a:defRPr/>
            </a:pPr>
            <a:r>
              <a:rPr lang="en-US" sz="900" b="1" i="0" u="none" strike="noStrike">
                <a:solidFill>
                  <a:srgbClr val="FFFFFF"/>
                </a:solidFill>
                <a:latin typeface="Noto Sans SC"/>
                <a:ea typeface="Noto Sans SC"/>
                <a:cs typeface="Noto Sans SC"/>
                <a:sym typeface="Noto Sans SC"/>
              </a:rPr>
              <a:t>纯 LLM</a:t>
            </a:r>
            <a:endParaRPr lang="en-US" sz="1100"/>
          </a:p>
          <a:p>
            <a:pPr marL="0" indent="0" algn="ctr">
              <a:lnSpc>
                <a:spcPct val="104166"/>
              </a:lnSpc>
            </a:pPr>
            <a:r>
              <a:rPr lang="en-US" sz="900" b="1" i="0" u="none" strike="noStrike">
                <a:solidFill>
                  <a:srgbClr val="FFFFFF"/>
                </a:solidFill>
                <a:latin typeface="Noto Sans SC"/>
                <a:ea typeface="Noto Sans SC"/>
                <a:cs typeface="Noto Sans SC"/>
                <a:sym typeface="Noto Sans SC"/>
              </a:rPr>
              <a:t>α0.5</a:t>
            </a:r>
          </a:p>
        </p:txBody>
      </p:sp>
      <p:sp>
        <p:nvSpPr>
          <p:cNvPr id="12" name="AutoShape 12"/>
          <p:cNvSpPr/>
          <p:nvPr/>
        </p:nvSpPr>
        <p:spPr>
          <a:xfrm>
            <a:off x="3981450" y="1612900"/>
            <a:ext cx="1136650" cy="330200"/>
          </a:xfrm>
          <a:prstGeom prst="rect">
            <a:avLst/>
          </a:prstGeom>
          <a:noFill/>
          <a:ln w="12700" cap="flat" cmpd="sng">
            <a:noFill/>
            <a:prstDash val="solid"/>
            <a:round/>
          </a:ln>
        </p:spPr>
        <p:txBody>
          <a:bodyPr vert="horz" wrap="square" lIns="0" tIns="0" rIns="0" bIns="0" rtlCol="0" anchor="ctr" anchorCtr="0"/>
          <a:lstStyle/>
          <a:p>
            <a:pPr marL="0" indent="0" algn="ctr">
              <a:lnSpc>
                <a:spcPct val="104166"/>
              </a:lnSpc>
              <a:defRPr/>
            </a:pPr>
            <a:r>
              <a:rPr lang="en-US" sz="900" b="1" i="0" u="none" strike="noStrike">
                <a:solidFill>
                  <a:srgbClr val="FFFFFF"/>
                </a:solidFill>
                <a:latin typeface="Noto Sans SC"/>
                <a:ea typeface="Noto Sans SC"/>
                <a:cs typeface="Noto Sans SC"/>
                <a:sym typeface="Noto Sans SC"/>
              </a:rPr>
              <a:t>两阶段</a:t>
            </a:r>
            <a:endParaRPr lang="en-US" sz="1100"/>
          </a:p>
          <a:p>
            <a:pPr marL="0" indent="0" algn="ctr">
              <a:lnSpc>
                <a:spcPct val="104166"/>
              </a:lnSpc>
            </a:pPr>
            <a:r>
              <a:rPr lang="en-US" sz="900" b="1" i="0" u="none" strike="noStrike">
                <a:solidFill>
                  <a:srgbClr val="FFFFFF"/>
                </a:solidFill>
                <a:latin typeface="Noto Sans SC"/>
                <a:ea typeface="Noto Sans SC"/>
                <a:cs typeface="Noto Sans SC"/>
                <a:sym typeface="Noto Sans SC"/>
              </a:rPr>
              <a:t>fixed5 干净评估</a:t>
            </a:r>
          </a:p>
        </p:txBody>
      </p:sp>
      <p:sp>
        <p:nvSpPr>
          <p:cNvPr id="13" name="AutoShape 13"/>
          <p:cNvSpPr/>
          <p:nvPr/>
        </p:nvSpPr>
        <p:spPr>
          <a:xfrm>
            <a:off x="5270500" y="1612900"/>
            <a:ext cx="1136650" cy="330200"/>
          </a:xfrm>
          <a:prstGeom prst="rect">
            <a:avLst/>
          </a:prstGeom>
          <a:noFill/>
          <a:ln w="12700" cap="flat" cmpd="sng">
            <a:noFill/>
            <a:prstDash val="solid"/>
            <a:round/>
          </a:ln>
        </p:spPr>
        <p:txBody>
          <a:bodyPr vert="horz" wrap="square" lIns="0" tIns="0" rIns="0" bIns="0" rtlCol="0" anchor="ctr" anchorCtr="0"/>
          <a:lstStyle/>
          <a:p>
            <a:pPr marL="0" indent="0" algn="ctr">
              <a:lnSpc>
                <a:spcPct val="104166"/>
              </a:lnSpc>
              <a:defRPr/>
            </a:pPr>
            <a:r>
              <a:rPr lang="en-US" sz="900" b="1" i="0" u="none" strike="noStrike">
                <a:solidFill>
                  <a:srgbClr val="FFFFFF"/>
                </a:solidFill>
                <a:latin typeface="Noto Sans SC"/>
                <a:ea typeface="Noto Sans SC"/>
                <a:cs typeface="Noto Sans SC"/>
                <a:sym typeface="Noto Sans SC"/>
              </a:rPr>
              <a:t>完整信任层</a:t>
            </a:r>
            <a:endParaRPr lang="en-US" sz="1100"/>
          </a:p>
          <a:p>
            <a:pPr marL="0" indent="0" algn="ctr">
              <a:lnSpc>
                <a:spcPct val="104166"/>
              </a:lnSpc>
            </a:pPr>
            <a:r>
              <a:rPr lang="en-US" sz="900" b="1" i="0" u="none" strike="noStrike">
                <a:solidFill>
                  <a:srgbClr val="FFFFFF"/>
                </a:solidFill>
                <a:latin typeface="Noto Sans SC"/>
                <a:ea typeface="Noto Sans SC"/>
                <a:cs typeface="Noto Sans SC"/>
                <a:sym typeface="Noto Sans SC"/>
              </a:rPr>
              <a:t>wave8</a:t>
            </a:r>
          </a:p>
        </p:txBody>
      </p:sp>
      <p:sp>
        <p:nvSpPr>
          <p:cNvPr id="14" name="AutoShape 14"/>
          <p:cNvSpPr/>
          <p:nvPr/>
        </p:nvSpPr>
        <p:spPr>
          <a:xfrm>
            <a:off x="6559550" y="1612900"/>
            <a:ext cx="1136650" cy="330200"/>
          </a:xfrm>
          <a:prstGeom prst="rect">
            <a:avLst/>
          </a:prstGeom>
          <a:noFill/>
          <a:ln w="12700" cap="flat" cmpd="sng">
            <a:noFill/>
            <a:prstDash val="solid"/>
            <a:round/>
          </a:ln>
        </p:spPr>
        <p:txBody>
          <a:bodyPr vert="horz" wrap="square" lIns="0" tIns="0" rIns="0" bIns="0" rtlCol="0" anchor="ctr" anchorCtr="0"/>
          <a:lstStyle/>
          <a:p>
            <a:pPr marL="0" indent="0" algn="ctr">
              <a:lnSpc>
                <a:spcPct val="104166"/>
              </a:lnSpc>
              <a:defRPr/>
            </a:pPr>
            <a:r>
              <a:rPr lang="en-US" sz="900" b="1" i="0" u="none" strike="noStrike">
                <a:solidFill>
                  <a:srgbClr val="FFFFFF"/>
                </a:solidFill>
                <a:latin typeface="Noto Sans SC"/>
                <a:ea typeface="Noto Sans SC"/>
                <a:cs typeface="Noto Sans SC"/>
                <a:sym typeface="Noto Sans SC"/>
              </a:rPr>
              <a:t>真实 CVE-fix</a:t>
            </a:r>
            <a:endParaRPr lang="en-US" sz="1100"/>
          </a:p>
          <a:p>
            <a:pPr marL="0" indent="0" algn="ctr">
              <a:lnSpc>
                <a:spcPct val="104166"/>
              </a:lnSpc>
            </a:pPr>
            <a:r>
              <a:rPr lang="en-US" sz="900" b="1" i="0" u="none" strike="noStrike">
                <a:solidFill>
                  <a:srgbClr val="FFFFFF"/>
                </a:solidFill>
                <a:latin typeface="Noto Sans SC"/>
                <a:ea typeface="Noto Sans SC"/>
                <a:cs typeface="Noto Sans SC"/>
                <a:sym typeface="Noto Sans SC"/>
              </a:rPr>
              <a:t>20 段 anchor</a:t>
            </a:r>
          </a:p>
        </p:txBody>
      </p:sp>
      <p:sp>
        <p:nvSpPr>
          <p:cNvPr id="15" name="AutoShape 15"/>
          <p:cNvSpPr/>
          <p:nvPr/>
        </p:nvSpPr>
        <p:spPr>
          <a:xfrm>
            <a:off x="685800" y="1981200"/>
            <a:ext cx="7061200" cy="419100"/>
          </a:xfrm>
          <a:prstGeom prst="roundRect">
            <a:avLst>
              <a:gd name="adj" fmla="val 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12800" y="2082800"/>
            <a:ext cx="1727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1000" b="1" i="0" u="none" strike="noStrike">
                <a:solidFill>
                  <a:srgbClr val="2B2F36"/>
                </a:solidFill>
                <a:latin typeface="Noto Sans SC"/>
                <a:ea typeface="Noto Sans SC"/>
                <a:cs typeface="Noto Sans SC"/>
                <a:sym typeface="Noto Sans SC"/>
              </a:rPr>
              <a:t>Recall 召回</a:t>
            </a:r>
            <a:endParaRPr lang="en-US" sz="1100"/>
          </a:p>
        </p:txBody>
      </p:sp>
      <p:sp>
        <p:nvSpPr>
          <p:cNvPr id="17" name="AutoShape 17"/>
          <p:cNvSpPr/>
          <p:nvPr/>
        </p:nvSpPr>
        <p:spPr>
          <a:xfrm>
            <a:off x="2590800" y="20828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2B2F36"/>
                </a:solidFill>
                <a:latin typeface="Roboto Mono"/>
                <a:ea typeface="Roboto Mono"/>
                <a:cs typeface="Roboto Mono"/>
                <a:sym typeface="Roboto Mono"/>
              </a:rPr>
              <a:t>0.967</a:t>
            </a:r>
            <a:endParaRPr lang="en-US" sz="1100"/>
          </a:p>
        </p:txBody>
      </p:sp>
      <p:sp>
        <p:nvSpPr>
          <p:cNvPr id="18" name="AutoShape 18"/>
          <p:cNvSpPr/>
          <p:nvPr/>
        </p:nvSpPr>
        <p:spPr>
          <a:xfrm>
            <a:off x="3879850" y="20828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2B2F36"/>
                </a:solidFill>
                <a:latin typeface="Roboto Mono"/>
                <a:ea typeface="Roboto Mono"/>
                <a:cs typeface="Roboto Mono"/>
                <a:sym typeface="Roboto Mono"/>
              </a:rPr>
              <a:t>1.000</a:t>
            </a:r>
            <a:endParaRPr lang="en-US" sz="1100"/>
          </a:p>
        </p:txBody>
      </p:sp>
      <p:sp>
        <p:nvSpPr>
          <p:cNvPr id="19" name="AutoShape 19"/>
          <p:cNvSpPr/>
          <p:nvPr/>
        </p:nvSpPr>
        <p:spPr>
          <a:xfrm>
            <a:off x="5168900" y="20828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1" i="0" u="none" strike="noStrike">
                <a:solidFill>
                  <a:srgbClr val="345E80"/>
                </a:solidFill>
                <a:latin typeface="Roboto Mono"/>
                <a:ea typeface="Roboto Mono"/>
                <a:cs typeface="Roboto Mono"/>
                <a:sym typeface="Roboto Mono"/>
              </a:rPr>
              <a:t>1.000</a:t>
            </a:r>
            <a:endParaRPr lang="en-US" sz="1100"/>
          </a:p>
        </p:txBody>
      </p:sp>
      <p:sp>
        <p:nvSpPr>
          <p:cNvPr id="20" name="AutoShape 20"/>
          <p:cNvSpPr/>
          <p:nvPr/>
        </p:nvSpPr>
        <p:spPr>
          <a:xfrm>
            <a:off x="6457950" y="20828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1" i="0" u="none" strike="noStrike">
                <a:solidFill>
                  <a:srgbClr val="3C6E66"/>
                </a:solidFill>
                <a:latin typeface="Roboto Mono"/>
                <a:ea typeface="Roboto Mono"/>
                <a:cs typeface="Roboto Mono"/>
                <a:sym typeface="Roboto Mono"/>
              </a:rPr>
              <a:t>0.941</a:t>
            </a:r>
            <a:endParaRPr lang="en-US" sz="1100"/>
          </a:p>
        </p:txBody>
      </p:sp>
      <p:cxnSp>
        <p:nvCxnSpPr>
          <p:cNvPr id="21" name="Connector 21"/>
          <p:cNvCxnSpPr/>
          <p:nvPr/>
        </p:nvCxnSpPr>
        <p:spPr>
          <a:xfrm rot="-9964">
            <a:off x="787409" y="2393950"/>
            <a:ext cx="43815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cxnSp>
        <p:nvCxnSpPr>
          <p:cNvPr id="22" name="Connector 22"/>
          <p:cNvCxnSpPr/>
          <p:nvPr/>
        </p:nvCxnSpPr>
        <p:spPr>
          <a:xfrm rot="-36765">
            <a:off x="6457984" y="2393950"/>
            <a:ext cx="118745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23" name="AutoShape 23"/>
          <p:cNvSpPr/>
          <p:nvPr/>
        </p:nvSpPr>
        <p:spPr>
          <a:xfrm>
            <a:off x="685800" y="2400300"/>
            <a:ext cx="7061200" cy="4191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812800" y="2501900"/>
            <a:ext cx="1727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1000" b="1" i="0" u="none" strike="noStrike">
                <a:solidFill>
                  <a:srgbClr val="2B2F36"/>
                </a:solidFill>
                <a:latin typeface="Noto Sans SC"/>
                <a:ea typeface="Noto Sans SC"/>
                <a:cs typeface="Noto Sans SC"/>
                <a:sym typeface="Noto Sans SC"/>
              </a:rPr>
              <a:t>FPR 误报率</a:t>
            </a:r>
            <a:endParaRPr lang="en-US" sz="1100"/>
          </a:p>
        </p:txBody>
      </p:sp>
      <p:sp>
        <p:nvSpPr>
          <p:cNvPr id="25" name="AutoShape 25"/>
          <p:cNvSpPr/>
          <p:nvPr/>
        </p:nvSpPr>
        <p:spPr>
          <a:xfrm>
            <a:off x="2590800" y="25019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2B2F36"/>
                </a:solidFill>
                <a:latin typeface="Roboto Mono"/>
                <a:ea typeface="Roboto Mono"/>
                <a:cs typeface="Roboto Mono"/>
                <a:sym typeface="Roboto Mono"/>
              </a:rPr>
              <a:t>0.154</a:t>
            </a:r>
            <a:endParaRPr lang="en-US" sz="1100"/>
          </a:p>
        </p:txBody>
      </p:sp>
      <p:sp>
        <p:nvSpPr>
          <p:cNvPr id="26" name="AutoShape 26"/>
          <p:cNvSpPr/>
          <p:nvPr/>
        </p:nvSpPr>
        <p:spPr>
          <a:xfrm>
            <a:off x="3879850" y="25019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2B2F36"/>
                </a:solidFill>
                <a:latin typeface="Roboto Mono"/>
                <a:ea typeface="Roboto Mono"/>
                <a:cs typeface="Roboto Mono"/>
                <a:sym typeface="Roboto Mono"/>
              </a:rPr>
              <a:t>0.0435</a:t>
            </a:r>
            <a:endParaRPr lang="en-US" sz="1100"/>
          </a:p>
        </p:txBody>
      </p:sp>
      <p:sp>
        <p:nvSpPr>
          <p:cNvPr id="27" name="AutoShape 27"/>
          <p:cNvSpPr/>
          <p:nvPr/>
        </p:nvSpPr>
        <p:spPr>
          <a:xfrm>
            <a:off x="5168900" y="25019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1" i="0" u="none" strike="noStrike">
                <a:solidFill>
                  <a:srgbClr val="345E80"/>
                </a:solidFill>
                <a:latin typeface="Roboto Mono"/>
                <a:ea typeface="Roboto Mono"/>
                <a:cs typeface="Roboto Mono"/>
                <a:sym typeface="Roboto Mono"/>
              </a:rPr>
              <a:t>0.0435</a:t>
            </a:r>
            <a:endParaRPr lang="en-US" sz="1100"/>
          </a:p>
        </p:txBody>
      </p:sp>
      <p:sp>
        <p:nvSpPr>
          <p:cNvPr id="28" name="AutoShape 28"/>
          <p:cNvSpPr/>
          <p:nvPr/>
        </p:nvSpPr>
        <p:spPr>
          <a:xfrm>
            <a:off x="6457950" y="25019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1" i="0" u="none" strike="noStrike">
                <a:solidFill>
                  <a:srgbClr val="3C6E66"/>
                </a:solidFill>
                <a:latin typeface="Roboto Mono"/>
                <a:ea typeface="Roboto Mono"/>
                <a:cs typeface="Roboto Mono"/>
                <a:sym typeface="Roboto Mono"/>
              </a:rPr>
              <a:t>—</a:t>
            </a:r>
            <a:endParaRPr lang="en-US" sz="1100"/>
          </a:p>
        </p:txBody>
      </p:sp>
      <p:cxnSp>
        <p:nvCxnSpPr>
          <p:cNvPr id="29" name="Connector 29"/>
          <p:cNvCxnSpPr/>
          <p:nvPr/>
        </p:nvCxnSpPr>
        <p:spPr>
          <a:xfrm rot="-9964">
            <a:off x="787409" y="2813050"/>
            <a:ext cx="43815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cxnSp>
        <p:nvCxnSpPr>
          <p:cNvPr id="30" name="Connector 30"/>
          <p:cNvCxnSpPr/>
          <p:nvPr/>
        </p:nvCxnSpPr>
        <p:spPr>
          <a:xfrm rot="-36765">
            <a:off x="6457984" y="2813050"/>
            <a:ext cx="118745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31" name="AutoShape 31"/>
          <p:cNvSpPr/>
          <p:nvPr/>
        </p:nvSpPr>
        <p:spPr>
          <a:xfrm>
            <a:off x="685800" y="2819400"/>
            <a:ext cx="7061200" cy="419100"/>
          </a:xfrm>
          <a:prstGeom prst="roundRect">
            <a:avLst>
              <a:gd name="adj" fmla="val 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812800" y="2921000"/>
            <a:ext cx="1727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1000" b="1" i="0" u="none" strike="noStrike">
                <a:solidFill>
                  <a:srgbClr val="2B2F36"/>
                </a:solidFill>
                <a:latin typeface="Noto Sans SC"/>
                <a:ea typeface="Noto Sans SC"/>
                <a:cs typeface="Noto Sans SC"/>
                <a:sym typeface="Noto Sans SC"/>
              </a:rPr>
              <a:t>Acc 已裁决准确</a:t>
            </a:r>
            <a:endParaRPr lang="en-US" sz="1100"/>
          </a:p>
        </p:txBody>
      </p:sp>
      <p:sp>
        <p:nvSpPr>
          <p:cNvPr id="33" name="AutoShape 33"/>
          <p:cNvSpPr/>
          <p:nvPr/>
        </p:nvSpPr>
        <p:spPr>
          <a:xfrm>
            <a:off x="2590800" y="29210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2B2F36"/>
                </a:solidFill>
                <a:latin typeface="Roboto Mono"/>
                <a:ea typeface="Roboto Mono"/>
                <a:cs typeface="Roboto Mono"/>
                <a:sym typeface="Roboto Mono"/>
              </a:rPr>
              <a:t>0.931</a:t>
            </a:r>
            <a:endParaRPr lang="en-US" sz="1100"/>
          </a:p>
        </p:txBody>
      </p:sp>
      <p:sp>
        <p:nvSpPr>
          <p:cNvPr id="34" name="AutoShape 34"/>
          <p:cNvSpPr/>
          <p:nvPr/>
        </p:nvSpPr>
        <p:spPr>
          <a:xfrm>
            <a:off x="3879850" y="29210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2B2F36"/>
                </a:solidFill>
                <a:latin typeface="Roboto Mono"/>
                <a:ea typeface="Roboto Mono"/>
                <a:cs typeface="Roboto Mono"/>
                <a:sym typeface="Roboto Mono"/>
              </a:rPr>
              <a:t>0.987</a:t>
            </a:r>
            <a:endParaRPr lang="en-US" sz="1100"/>
          </a:p>
        </p:txBody>
      </p:sp>
      <p:sp>
        <p:nvSpPr>
          <p:cNvPr id="35" name="AutoShape 35"/>
          <p:cNvSpPr/>
          <p:nvPr/>
        </p:nvSpPr>
        <p:spPr>
          <a:xfrm>
            <a:off x="5168900" y="29210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1" i="0" u="none" strike="noStrike">
                <a:solidFill>
                  <a:srgbClr val="345E80"/>
                </a:solidFill>
                <a:latin typeface="Roboto Mono"/>
                <a:ea typeface="Roboto Mono"/>
                <a:cs typeface="Roboto Mono"/>
                <a:sym typeface="Roboto Mono"/>
              </a:rPr>
              <a:t>0.987</a:t>
            </a:r>
            <a:endParaRPr lang="en-US" sz="1100"/>
          </a:p>
        </p:txBody>
      </p:sp>
      <p:sp>
        <p:nvSpPr>
          <p:cNvPr id="36" name="AutoShape 36"/>
          <p:cNvSpPr/>
          <p:nvPr/>
        </p:nvSpPr>
        <p:spPr>
          <a:xfrm>
            <a:off x="6457950" y="29210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1" i="0" u="none" strike="noStrike">
                <a:solidFill>
                  <a:srgbClr val="3C6E66"/>
                </a:solidFill>
                <a:latin typeface="Roboto Mono"/>
                <a:ea typeface="Roboto Mono"/>
                <a:cs typeface="Roboto Mono"/>
                <a:sym typeface="Roboto Mono"/>
              </a:rPr>
              <a:t>0.941</a:t>
            </a:r>
            <a:endParaRPr lang="en-US" sz="1100"/>
          </a:p>
        </p:txBody>
      </p:sp>
      <p:cxnSp>
        <p:nvCxnSpPr>
          <p:cNvPr id="37" name="Connector 37"/>
          <p:cNvCxnSpPr/>
          <p:nvPr/>
        </p:nvCxnSpPr>
        <p:spPr>
          <a:xfrm rot="-9964">
            <a:off x="787409" y="3232150"/>
            <a:ext cx="43815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cxnSp>
        <p:nvCxnSpPr>
          <p:cNvPr id="38" name="Connector 38"/>
          <p:cNvCxnSpPr/>
          <p:nvPr/>
        </p:nvCxnSpPr>
        <p:spPr>
          <a:xfrm rot="-36765">
            <a:off x="6457984" y="3232150"/>
            <a:ext cx="118745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39" name="AutoShape 39"/>
          <p:cNvSpPr/>
          <p:nvPr/>
        </p:nvSpPr>
        <p:spPr>
          <a:xfrm>
            <a:off x="685800" y="3238500"/>
            <a:ext cx="7061200" cy="4191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AutoShape 40"/>
          <p:cNvSpPr/>
          <p:nvPr/>
        </p:nvSpPr>
        <p:spPr>
          <a:xfrm>
            <a:off x="812800" y="3340100"/>
            <a:ext cx="1727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1000" b="1" i="0" u="none" strike="noStrike">
                <a:solidFill>
                  <a:srgbClr val="2B2F36"/>
                </a:solidFill>
                <a:latin typeface="Noto Sans SC"/>
                <a:ea typeface="Noto Sans SC"/>
                <a:cs typeface="Noto Sans SC"/>
                <a:sym typeface="Noto Sans SC"/>
              </a:rPr>
              <a:t>未决率</a:t>
            </a:r>
            <a:endParaRPr lang="en-US" sz="1100"/>
          </a:p>
        </p:txBody>
      </p:sp>
      <p:sp>
        <p:nvSpPr>
          <p:cNvPr id="41" name="AutoShape 41"/>
          <p:cNvSpPr/>
          <p:nvPr/>
        </p:nvSpPr>
        <p:spPr>
          <a:xfrm>
            <a:off x="2590800" y="33401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2B2F36"/>
                </a:solidFill>
                <a:latin typeface="Roboto Mono"/>
                <a:ea typeface="Roboto Mono"/>
                <a:cs typeface="Roboto Mono"/>
                <a:sym typeface="Roboto Mono"/>
              </a:rPr>
              <a:t>0</a:t>
            </a:r>
            <a:endParaRPr lang="en-US" sz="1100"/>
          </a:p>
        </p:txBody>
      </p:sp>
      <p:sp>
        <p:nvSpPr>
          <p:cNvPr id="42" name="AutoShape 42"/>
          <p:cNvSpPr/>
          <p:nvPr/>
        </p:nvSpPr>
        <p:spPr>
          <a:xfrm>
            <a:off x="3879850" y="33401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2B2F36"/>
                </a:solidFill>
                <a:latin typeface="Roboto Mono"/>
                <a:ea typeface="Roboto Mono"/>
                <a:cs typeface="Roboto Mono"/>
                <a:sym typeface="Roboto Mono"/>
              </a:rPr>
              <a:t>12.6%</a:t>
            </a:r>
            <a:endParaRPr lang="en-US" sz="1100"/>
          </a:p>
        </p:txBody>
      </p:sp>
      <p:sp>
        <p:nvSpPr>
          <p:cNvPr id="43" name="AutoShape 43"/>
          <p:cNvSpPr/>
          <p:nvPr/>
        </p:nvSpPr>
        <p:spPr>
          <a:xfrm>
            <a:off x="5168900" y="33401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1" i="0" u="none" strike="noStrike">
                <a:solidFill>
                  <a:srgbClr val="345E80"/>
                </a:solidFill>
                <a:latin typeface="Roboto Mono"/>
                <a:ea typeface="Roboto Mono"/>
                <a:cs typeface="Roboto Mono"/>
                <a:sym typeface="Roboto Mono"/>
              </a:rPr>
              <a:t>13.8%</a:t>
            </a:r>
            <a:endParaRPr lang="en-US" sz="1100"/>
          </a:p>
        </p:txBody>
      </p:sp>
      <p:sp>
        <p:nvSpPr>
          <p:cNvPr id="44" name="AutoShape 44"/>
          <p:cNvSpPr/>
          <p:nvPr/>
        </p:nvSpPr>
        <p:spPr>
          <a:xfrm>
            <a:off x="6457950" y="33401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1" i="0" u="none" strike="noStrike">
                <a:solidFill>
                  <a:srgbClr val="3C6E66"/>
                </a:solidFill>
                <a:latin typeface="Roboto Mono"/>
                <a:ea typeface="Roboto Mono"/>
                <a:cs typeface="Roboto Mono"/>
                <a:sym typeface="Roboto Mono"/>
              </a:rPr>
              <a:t>15.0%</a:t>
            </a:r>
            <a:endParaRPr lang="en-US" sz="1100"/>
          </a:p>
        </p:txBody>
      </p:sp>
      <p:cxnSp>
        <p:nvCxnSpPr>
          <p:cNvPr id="45" name="Connector 45"/>
          <p:cNvCxnSpPr/>
          <p:nvPr/>
        </p:nvCxnSpPr>
        <p:spPr>
          <a:xfrm rot="-9964">
            <a:off x="787409" y="3651250"/>
            <a:ext cx="43815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cxnSp>
        <p:nvCxnSpPr>
          <p:cNvPr id="46" name="Connector 46"/>
          <p:cNvCxnSpPr/>
          <p:nvPr/>
        </p:nvCxnSpPr>
        <p:spPr>
          <a:xfrm rot="-36765">
            <a:off x="6457984" y="3651250"/>
            <a:ext cx="118745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47" name="AutoShape 47"/>
          <p:cNvSpPr/>
          <p:nvPr/>
        </p:nvSpPr>
        <p:spPr>
          <a:xfrm>
            <a:off x="685800" y="3657600"/>
            <a:ext cx="7061200" cy="419100"/>
          </a:xfrm>
          <a:prstGeom prst="roundRect">
            <a:avLst>
              <a:gd name="adj" fmla="val 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AutoShape 48"/>
          <p:cNvSpPr/>
          <p:nvPr/>
        </p:nvSpPr>
        <p:spPr>
          <a:xfrm>
            <a:off x="812800" y="3759200"/>
            <a:ext cx="1727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1000" b="1" i="0" u="none" strike="noStrike">
                <a:solidFill>
                  <a:srgbClr val="2B2F36"/>
                </a:solidFill>
                <a:latin typeface="Noto Sans SC"/>
                <a:ea typeface="Noto Sans SC"/>
                <a:cs typeface="Noto Sans SC"/>
                <a:sym typeface="Noto Sans SC"/>
              </a:rPr>
              <a:t>Strict 判真且归因正确</a:t>
            </a:r>
            <a:endParaRPr lang="en-US" sz="1100"/>
          </a:p>
        </p:txBody>
      </p:sp>
      <p:sp>
        <p:nvSpPr>
          <p:cNvPr id="49" name="AutoShape 49"/>
          <p:cNvSpPr/>
          <p:nvPr/>
        </p:nvSpPr>
        <p:spPr>
          <a:xfrm>
            <a:off x="2590800" y="37592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2B2F36"/>
                </a:solidFill>
                <a:latin typeface="Roboto Mono"/>
                <a:ea typeface="Roboto Mono"/>
                <a:cs typeface="Roboto Mono"/>
                <a:sym typeface="Roboto Mono"/>
              </a:rPr>
              <a:t>0.898</a:t>
            </a:r>
            <a:endParaRPr lang="en-US" sz="1100"/>
          </a:p>
        </p:txBody>
      </p:sp>
      <p:sp>
        <p:nvSpPr>
          <p:cNvPr id="50" name="AutoShape 50"/>
          <p:cNvSpPr/>
          <p:nvPr/>
        </p:nvSpPr>
        <p:spPr>
          <a:xfrm>
            <a:off x="3879850" y="37592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2B2F36"/>
                </a:solidFill>
                <a:latin typeface="Roboto Mono"/>
                <a:ea typeface="Roboto Mono"/>
                <a:cs typeface="Roboto Mono"/>
                <a:sym typeface="Roboto Mono"/>
              </a:rPr>
              <a:t>0.774</a:t>
            </a:r>
            <a:endParaRPr lang="en-US" sz="1100"/>
          </a:p>
        </p:txBody>
      </p:sp>
      <p:sp>
        <p:nvSpPr>
          <p:cNvPr id="51" name="AutoShape 51"/>
          <p:cNvSpPr/>
          <p:nvPr/>
        </p:nvSpPr>
        <p:spPr>
          <a:xfrm>
            <a:off x="5168900" y="37592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1" i="0" u="none" strike="noStrike">
                <a:solidFill>
                  <a:srgbClr val="345E80"/>
                </a:solidFill>
                <a:latin typeface="Roboto Mono"/>
                <a:ea typeface="Roboto Mono"/>
                <a:cs typeface="Roboto Mono"/>
                <a:sym typeface="Roboto Mono"/>
              </a:rPr>
              <a:t>0.923</a:t>
            </a:r>
            <a:endParaRPr lang="en-US" sz="1100"/>
          </a:p>
        </p:txBody>
      </p:sp>
      <p:sp>
        <p:nvSpPr>
          <p:cNvPr id="52" name="AutoShape 52"/>
          <p:cNvSpPr/>
          <p:nvPr/>
        </p:nvSpPr>
        <p:spPr>
          <a:xfrm>
            <a:off x="6457950" y="37592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1" i="0" u="none" strike="noStrike">
                <a:solidFill>
                  <a:srgbClr val="3C6E66"/>
                </a:solidFill>
                <a:latin typeface="Roboto Mono"/>
                <a:ea typeface="Roboto Mono"/>
                <a:cs typeface="Roboto Mono"/>
                <a:sym typeface="Roboto Mono"/>
              </a:rPr>
              <a:t>1.000</a:t>
            </a:r>
            <a:endParaRPr lang="en-US" sz="1100"/>
          </a:p>
        </p:txBody>
      </p:sp>
      <p:cxnSp>
        <p:nvCxnSpPr>
          <p:cNvPr id="53" name="Connector 53"/>
          <p:cNvCxnSpPr/>
          <p:nvPr/>
        </p:nvCxnSpPr>
        <p:spPr>
          <a:xfrm rot="-9964">
            <a:off x="787409" y="4070350"/>
            <a:ext cx="43815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cxnSp>
        <p:nvCxnSpPr>
          <p:cNvPr id="54" name="Connector 54"/>
          <p:cNvCxnSpPr/>
          <p:nvPr/>
        </p:nvCxnSpPr>
        <p:spPr>
          <a:xfrm rot="-36765">
            <a:off x="6457984" y="4070350"/>
            <a:ext cx="118745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55" name="AutoShape 55"/>
          <p:cNvSpPr/>
          <p:nvPr/>
        </p:nvSpPr>
        <p:spPr>
          <a:xfrm>
            <a:off x="685800" y="4076700"/>
            <a:ext cx="7061200" cy="4191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AutoShape 56"/>
          <p:cNvSpPr/>
          <p:nvPr/>
        </p:nvSpPr>
        <p:spPr>
          <a:xfrm>
            <a:off x="812800" y="4178300"/>
            <a:ext cx="1727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1000" b="1" i="0" u="none" strike="noStrike">
                <a:solidFill>
                  <a:srgbClr val="2B2F36"/>
                </a:solidFill>
                <a:latin typeface="Noto Sans SC"/>
                <a:ea typeface="Noto Sans SC"/>
                <a:cs typeface="Noto Sans SC"/>
                <a:sym typeface="Noto Sans SC"/>
              </a:rPr>
              <a:t>Micro 实例级召回</a:t>
            </a:r>
            <a:endParaRPr lang="en-US" sz="1100"/>
          </a:p>
        </p:txBody>
      </p:sp>
      <p:sp>
        <p:nvSpPr>
          <p:cNvPr id="57" name="AutoShape 57"/>
          <p:cNvSpPr/>
          <p:nvPr/>
        </p:nvSpPr>
        <p:spPr>
          <a:xfrm>
            <a:off x="2590800" y="41783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2B2F36"/>
                </a:solidFill>
                <a:latin typeface="Roboto Mono"/>
                <a:ea typeface="Roboto Mono"/>
                <a:cs typeface="Roboto Mono"/>
                <a:sym typeface="Roboto Mono"/>
              </a:rPr>
              <a:t>0.675</a:t>
            </a:r>
            <a:endParaRPr lang="en-US" sz="1100"/>
          </a:p>
        </p:txBody>
      </p:sp>
      <p:sp>
        <p:nvSpPr>
          <p:cNvPr id="58" name="AutoShape 58"/>
          <p:cNvSpPr/>
          <p:nvPr/>
        </p:nvSpPr>
        <p:spPr>
          <a:xfrm>
            <a:off x="3879850" y="41783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2B2F36"/>
                </a:solidFill>
                <a:latin typeface="Roboto Mono"/>
                <a:ea typeface="Roboto Mono"/>
                <a:cs typeface="Roboto Mono"/>
                <a:sym typeface="Roboto Mono"/>
              </a:rPr>
              <a:t>0.592</a:t>
            </a:r>
            <a:endParaRPr lang="en-US" sz="1100"/>
          </a:p>
        </p:txBody>
      </p:sp>
      <p:sp>
        <p:nvSpPr>
          <p:cNvPr id="59" name="AutoShape 59"/>
          <p:cNvSpPr/>
          <p:nvPr/>
        </p:nvSpPr>
        <p:spPr>
          <a:xfrm>
            <a:off x="5168900" y="41783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1" i="0" u="none" strike="noStrike">
                <a:solidFill>
                  <a:srgbClr val="345E80"/>
                </a:solidFill>
                <a:latin typeface="Roboto Mono"/>
                <a:ea typeface="Roboto Mono"/>
                <a:cs typeface="Roboto Mono"/>
                <a:sym typeface="Roboto Mono"/>
              </a:rPr>
              <a:t>0.778</a:t>
            </a:r>
            <a:endParaRPr lang="en-US" sz="1100"/>
          </a:p>
        </p:txBody>
      </p:sp>
      <p:sp>
        <p:nvSpPr>
          <p:cNvPr id="60" name="AutoShape 60"/>
          <p:cNvSpPr/>
          <p:nvPr/>
        </p:nvSpPr>
        <p:spPr>
          <a:xfrm>
            <a:off x="6457950" y="41783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1" i="0" u="none" strike="noStrike">
                <a:solidFill>
                  <a:srgbClr val="3C6E66"/>
                </a:solidFill>
                <a:latin typeface="Roboto Mono"/>
                <a:ea typeface="Roboto Mono"/>
                <a:cs typeface="Roboto Mono"/>
                <a:sym typeface="Roboto Mono"/>
              </a:rPr>
              <a:t>0.895</a:t>
            </a:r>
            <a:endParaRPr lang="en-US" sz="1100"/>
          </a:p>
        </p:txBody>
      </p:sp>
      <p:cxnSp>
        <p:nvCxnSpPr>
          <p:cNvPr id="61" name="Connector 61"/>
          <p:cNvCxnSpPr/>
          <p:nvPr/>
        </p:nvCxnSpPr>
        <p:spPr>
          <a:xfrm rot="-9964">
            <a:off x="787409" y="4489450"/>
            <a:ext cx="43815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cxnSp>
        <p:nvCxnSpPr>
          <p:cNvPr id="62" name="Connector 62"/>
          <p:cNvCxnSpPr/>
          <p:nvPr/>
        </p:nvCxnSpPr>
        <p:spPr>
          <a:xfrm rot="-36765">
            <a:off x="6457984" y="4489450"/>
            <a:ext cx="118745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63" name="AutoShape 63"/>
          <p:cNvSpPr/>
          <p:nvPr/>
        </p:nvSpPr>
        <p:spPr>
          <a:xfrm>
            <a:off x="685800" y="4495800"/>
            <a:ext cx="7061200" cy="419100"/>
          </a:xfrm>
          <a:prstGeom prst="roundRect">
            <a:avLst>
              <a:gd name="adj" fmla="val 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4" name="AutoShape 64"/>
          <p:cNvSpPr/>
          <p:nvPr/>
        </p:nvSpPr>
        <p:spPr>
          <a:xfrm>
            <a:off x="812800" y="4597400"/>
            <a:ext cx="1727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1000" b="1" i="0" u="none" strike="noStrike">
                <a:solidFill>
                  <a:srgbClr val="2B2F36"/>
                </a:solidFill>
                <a:latin typeface="Noto Sans SC"/>
                <a:ea typeface="Noto Sans SC"/>
                <a:cs typeface="Noto Sans SC"/>
                <a:sym typeface="Noto Sans SC"/>
              </a:rPr>
              <a:t>风险加权分</a:t>
            </a:r>
            <a:endParaRPr lang="en-US" sz="1100"/>
          </a:p>
        </p:txBody>
      </p:sp>
      <p:sp>
        <p:nvSpPr>
          <p:cNvPr id="65" name="AutoShape 65"/>
          <p:cNvSpPr/>
          <p:nvPr/>
        </p:nvSpPr>
        <p:spPr>
          <a:xfrm>
            <a:off x="2590800" y="45974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2B2F36"/>
                </a:solidFill>
                <a:latin typeface="Roboto Mono"/>
                <a:ea typeface="Roboto Mono"/>
                <a:cs typeface="Roboto Mono"/>
                <a:sym typeface="Roboto Mono"/>
              </a:rPr>
              <a:t>0.829</a:t>
            </a:r>
            <a:endParaRPr lang="en-US" sz="1100"/>
          </a:p>
        </p:txBody>
      </p:sp>
      <p:sp>
        <p:nvSpPr>
          <p:cNvPr id="66" name="AutoShape 66"/>
          <p:cNvSpPr/>
          <p:nvPr/>
        </p:nvSpPr>
        <p:spPr>
          <a:xfrm>
            <a:off x="3879850" y="45974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2B2F36"/>
                </a:solidFill>
                <a:latin typeface="Roboto Mono"/>
                <a:ea typeface="Roboto Mono"/>
                <a:cs typeface="Roboto Mono"/>
                <a:sym typeface="Roboto Mono"/>
              </a:rPr>
              <a:t>0.786</a:t>
            </a:r>
            <a:endParaRPr lang="en-US" sz="1100"/>
          </a:p>
        </p:txBody>
      </p:sp>
      <p:sp>
        <p:nvSpPr>
          <p:cNvPr id="67" name="AutoShape 67"/>
          <p:cNvSpPr/>
          <p:nvPr/>
        </p:nvSpPr>
        <p:spPr>
          <a:xfrm>
            <a:off x="5168900" y="45974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1" i="0" u="none" strike="noStrike">
                <a:solidFill>
                  <a:srgbClr val="345E80"/>
                </a:solidFill>
                <a:latin typeface="Roboto Mono"/>
                <a:ea typeface="Roboto Mono"/>
                <a:cs typeface="Roboto Mono"/>
                <a:sym typeface="Roboto Mono"/>
              </a:rPr>
              <a:t>0.862</a:t>
            </a:r>
            <a:endParaRPr lang="en-US" sz="1100"/>
          </a:p>
        </p:txBody>
      </p:sp>
      <p:sp>
        <p:nvSpPr>
          <p:cNvPr id="68" name="AutoShape 68"/>
          <p:cNvSpPr/>
          <p:nvPr/>
        </p:nvSpPr>
        <p:spPr>
          <a:xfrm>
            <a:off x="6457950" y="4597400"/>
            <a:ext cx="128905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1" i="0" u="none" strike="noStrike">
                <a:solidFill>
                  <a:srgbClr val="3C6E66"/>
                </a:solidFill>
                <a:latin typeface="Roboto Mono"/>
                <a:ea typeface="Roboto Mono"/>
                <a:cs typeface="Roboto Mono"/>
                <a:sym typeface="Roboto Mono"/>
              </a:rPr>
              <a:t>0.864</a:t>
            </a:r>
            <a:endParaRPr lang="en-US" sz="1100"/>
          </a:p>
        </p:txBody>
      </p:sp>
      <p:cxnSp>
        <p:nvCxnSpPr>
          <p:cNvPr id="69" name="Connector 69"/>
          <p:cNvCxnSpPr/>
          <p:nvPr/>
        </p:nvCxnSpPr>
        <p:spPr>
          <a:xfrm rot="-9964">
            <a:off x="787409" y="4908550"/>
            <a:ext cx="43815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cxnSp>
        <p:nvCxnSpPr>
          <p:cNvPr id="70" name="Connector 70"/>
          <p:cNvCxnSpPr/>
          <p:nvPr/>
        </p:nvCxnSpPr>
        <p:spPr>
          <a:xfrm rot="-36765">
            <a:off x="6457984" y="4908550"/>
            <a:ext cx="118745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71" name="AutoShape 71"/>
          <p:cNvSpPr/>
          <p:nvPr/>
        </p:nvSpPr>
        <p:spPr>
          <a:xfrm>
            <a:off x="685800" y="5016500"/>
            <a:ext cx="7112000" cy="508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850" b="0" i="0" u="none" strike="noStrike">
                <a:solidFill>
                  <a:srgbClr val="949EA6"/>
                </a:solidFill>
                <a:latin typeface="Noto Sans SC"/>
                <a:ea typeface="Noto Sans SC"/>
                <a:cs typeface="Noto Sans SC"/>
                <a:sym typeface="Noto Sans SC"/>
              </a:rPr>
              <a:t>口径：87 段合成集 + 20 段真实 CVE-fix；fixed5 为 --no-signal-feedback 干净压力测试；wave8 = signal-feedback on + ctx16384；2026-09-02 官方答案冻结（weights_20260903），score_batch.py 可复现。</a:t>
            </a:r>
            <a:endParaRPr lang="en-US" sz="1100"/>
          </a:p>
        </p:txBody>
      </p:sp>
      <p:sp>
        <p:nvSpPr>
          <p:cNvPr id="72" name="AutoShape 72"/>
          <p:cNvSpPr/>
          <p:nvPr/>
        </p:nvSpPr>
        <p:spPr>
          <a:xfrm>
            <a:off x="8077200" y="1549400"/>
            <a:ext cx="3429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D9962E"/>
                </a:solidFill>
                <a:latin typeface="Roboto Mono"/>
                <a:ea typeface="Roboto Mono"/>
                <a:cs typeface="Roboto Mono"/>
                <a:sym typeface="Roboto Mono"/>
              </a:rPr>
              <a:t>READING · 三句结论</a:t>
            </a:r>
            <a:endParaRPr lang="en-US" sz="1100"/>
          </a:p>
        </p:txBody>
      </p:sp>
      <p:sp>
        <p:nvSpPr>
          <p:cNvPr id="73" name="AutoShape 73"/>
          <p:cNvSpPr/>
          <p:nvPr/>
        </p:nvSpPr>
        <p:spPr>
          <a:xfrm>
            <a:off x="8077200" y="1854200"/>
            <a:ext cx="50800" cy="7874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4" name="AutoShape 74"/>
          <p:cNvSpPr/>
          <p:nvPr/>
        </p:nvSpPr>
        <p:spPr>
          <a:xfrm>
            <a:off x="8255000" y="1854200"/>
            <a:ext cx="32512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误报 -72%，召回反升</a:t>
            </a:r>
            <a:endParaRPr lang="en-US" sz="1100"/>
          </a:p>
        </p:txBody>
      </p:sp>
      <p:sp>
        <p:nvSpPr>
          <p:cNvPr id="75" name="AutoShape 75"/>
          <p:cNvSpPr/>
          <p:nvPr/>
        </p:nvSpPr>
        <p:spPr>
          <a:xfrm>
            <a:off x="8255000" y="2108200"/>
            <a:ext cx="3276600" cy="508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Roboto Mono"/>
                <a:ea typeface="Roboto Mono"/>
                <a:cs typeface="Roboto Mono"/>
                <a:sym typeface="Roboto Mono"/>
              </a:rPr>
              <a:t>FPR 0.154 → 0.0435</a:t>
            </a:r>
            <a:endParaRPr lang="en-US" sz="1100"/>
          </a:p>
          <a:p>
            <a:pPr marL="0" indent="0" algn="l">
              <a:lnSpc>
                <a:spcPct val="125000"/>
              </a:lnSpc>
            </a:pPr>
            <a:r>
              <a:rPr lang="en-US" sz="1000" b="0" i="0" u="none" strike="noStrike">
                <a:solidFill>
                  <a:srgbClr val="5B6770"/>
                </a:solidFill>
                <a:latin typeface="Roboto Mono"/>
                <a:ea typeface="Roboto Mono"/>
                <a:cs typeface="Roboto Mono"/>
                <a:sym typeface="Roboto Mono"/>
              </a:rPr>
              <a:t>Recall 0.967 → 1.000：不是靠漏报换误报</a:t>
            </a:r>
          </a:p>
        </p:txBody>
      </p:sp>
      <p:sp>
        <p:nvSpPr>
          <p:cNvPr id="76" name="AutoShape 76"/>
          <p:cNvSpPr/>
          <p:nvPr/>
        </p:nvSpPr>
        <p:spPr>
          <a:xfrm>
            <a:off x="8077200" y="2768600"/>
            <a:ext cx="50800" cy="7874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7" name="AutoShape 77"/>
          <p:cNvSpPr/>
          <p:nvPr/>
        </p:nvSpPr>
        <p:spPr>
          <a:xfrm>
            <a:off x="8255000" y="2768600"/>
            <a:ext cx="32512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信任层补回归因能力</a:t>
            </a:r>
            <a:endParaRPr lang="en-US" sz="1100"/>
          </a:p>
        </p:txBody>
      </p:sp>
      <p:sp>
        <p:nvSpPr>
          <p:cNvPr id="78" name="AutoShape 78"/>
          <p:cNvSpPr/>
          <p:nvPr/>
        </p:nvSpPr>
        <p:spPr>
          <a:xfrm>
            <a:off x="8255000" y="3022600"/>
            <a:ext cx="3276600" cy="508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Roboto Mono"/>
                <a:ea typeface="Roboto Mono"/>
                <a:cs typeface="Roboto Mono"/>
                <a:sym typeface="Roboto Mono"/>
              </a:rPr>
              <a:t>strict 0.898 → 0.923</a:t>
            </a:r>
            <a:endParaRPr lang="en-US" sz="1100"/>
          </a:p>
          <a:p>
            <a:pPr marL="0" indent="0" algn="l">
              <a:lnSpc>
                <a:spcPct val="125000"/>
              </a:lnSpc>
            </a:pPr>
            <a:r>
              <a:rPr lang="en-US" sz="1000" b="0" i="0" u="none" strike="noStrike">
                <a:solidFill>
                  <a:srgbClr val="5B6770"/>
                </a:solidFill>
                <a:latin typeface="Roboto Mono"/>
                <a:ea typeface="Roboto Mono"/>
                <a:cs typeface="Roboto Mono"/>
                <a:sym typeface="Roboto Mono"/>
              </a:rPr>
              <a:t>micro 0.675 → 0.778：证据链反哺 CWE 归因</a:t>
            </a:r>
          </a:p>
        </p:txBody>
      </p:sp>
      <p:sp>
        <p:nvSpPr>
          <p:cNvPr id="79" name="AutoShape 79"/>
          <p:cNvSpPr/>
          <p:nvPr/>
        </p:nvSpPr>
        <p:spPr>
          <a:xfrm>
            <a:off x="8077200" y="3683000"/>
            <a:ext cx="50800" cy="7874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0" name="AutoShape 80"/>
          <p:cNvSpPr/>
          <p:nvPr/>
        </p:nvSpPr>
        <p:spPr>
          <a:xfrm>
            <a:off x="8255000" y="3683000"/>
            <a:ext cx="32512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真实 CVE 验证泛化</a:t>
            </a:r>
            <a:endParaRPr lang="en-US" sz="1100"/>
          </a:p>
        </p:txBody>
      </p:sp>
      <p:sp>
        <p:nvSpPr>
          <p:cNvPr id="81" name="AutoShape 81"/>
          <p:cNvSpPr/>
          <p:nvPr/>
        </p:nvSpPr>
        <p:spPr>
          <a:xfrm>
            <a:off x="8255000" y="3937000"/>
            <a:ext cx="3276600" cy="508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Roboto Mono"/>
                <a:ea typeface="Roboto Mono"/>
                <a:cs typeface="Roboto Mono"/>
                <a:sym typeface="Roboto Mono"/>
              </a:rPr>
              <a:t>20 段真实修复 strict 1.000</a:t>
            </a:r>
            <a:endParaRPr lang="en-US" sz="1100"/>
          </a:p>
          <a:p>
            <a:pPr marL="0" indent="0" algn="l">
              <a:lnSpc>
                <a:spcPct val="125000"/>
              </a:lnSpc>
            </a:pPr>
            <a:r>
              <a:rPr lang="en-US" sz="1000" b="0" i="0" u="none" strike="noStrike">
                <a:solidFill>
                  <a:srgbClr val="5B6770"/>
                </a:solidFill>
                <a:latin typeface="Roboto Mono"/>
                <a:ea typeface="Roboto Mono"/>
                <a:cs typeface="Roboto Mono"/>
                <a:sym typeface="Roboto Mono"/>
              </a:rPr>
              <a:t>micro 0.895 · 加权 0.864，非合成集刷分</a:t>
            </a:r>
          </a:p>
        </p:txBody>
      </p:sp>
      <p:sp>
        <p:nvSpPr>
          <p:cNvPr id="82" name="AutoShape 82"/>
          <p:cNvSpPr/>
          <p:nvPr/>
        </p:nvSpPr>
        <p:spPr>
          <a:xfrm>
            <a:off x="8077200" y="4648200"/>
            <a:ext cx="3429000" cy="1346200"/>
          </a:xfrm>
          <a:prstGeom prst="roundRect">
            <a:avLst>
              <a:gd name="adj" fmla="val 7547"/>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3" name="AutoShape 83"/>
          <p:cNvSpPr/>
          <p:nvPr/>
        </p:nvSpPr>
        <p:spPr>
          <a:xfrm>
            <a:off x="8255000" y="4775200"/>
            <a:ext cx="30988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1" i="0" u="none" strike="noStrike">
                <a:solidFill>
                  <a:srgbClr val="345E80"/>
                </a:solidFill>
                <a:latin typeface="Noto Sans SC"/>
                <a:ea typeface="Noto Sans SC"/>
                <a:cs typeface="Noto Sans SC"/>
                <a:sym typeface="Noto Sans SC"/>
              </a:rPr>
              <a:t>为什么 fixed5 有些指标更低？</a:t>
            </a:r>
            <a:endParaRPr lang="en-US" sz="1100"/>
          </a:p>
        </p:txBody>
      </p:sp>
      <p:sp>
        <p:nvSpPr>
          <p:cNvPr id="84" name="AutoShape 84"/>
          <p:cNvSpPr/>
          <p:nvPr/>
        </p:nvSpPr>
        <p:spPr>
          <a:xfrm>
            <a:off x="8255000" y="5029200"/>
            <a:ext cx="3124200" cy="914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950" b="0" i="0" u="none" strike="noStrike">
                <a:solidFill>
                  <a:srgbClr val="2B2F36"/>
                </a:solidFill>
                <a:latin typeface="Noto Sans SC"/>
                <a:ea typeface="Noto Sans SC"/>
                <a:cs typeface="Noto Sans SC"/>
                <a:sym typeface="Noto Sans SC"/>
              </a:rPr>
              <a:t>它刻意关闭信号反馈做“干净压力测试”，strict/micro 暂时低于纯 LLM，正是为了排除自我证明；打开信任层（wave8）后全面反超。</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04 项目的价值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自研工具链：8 个组件串成 SARIF 标准产出流水线</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22 / 30</a:t>
            </a:r>
            <a:endParaRPr lang="en-US" sz="1100"/>
          </a:p>
        </p:txBody>
      </p:sp>
      <p:sp>
        <p:nvSpPr>
          <p:cNvPr id="8" name="AutoShape 8"/>
          <p:cNvSpPr/>
          <p:nvPr/>
        </p:nvSpPr>
        <p:spPr>
          <a:xfrm>
            <a:off x="685800" y="1651000"/>
            <a:ext cx="25146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85800" y="1651000"/>
            <a:ext cx="50800" cy="11176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89000" y="1803400"/>
            <a:ext cx="76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Roboto Mono"/>
                <a:ea typeface="Roboto Mono"/>
                <a:cs typeface="Roboto Mono"/>
                <a:sym typeface="Roboto Mono"/>
              </a:rPr>
              <a:t>01</a:t>
            </a:r>
            <a:endParaRPr lang="en-US" sz="1100"/>
          </a:p>
        </p:txBody>
      </p:sp>
      <p:sp>
        <p:nvSpPr>
          <p:cNvPr id="11" name="AutoShape 11"/>
          <p:cNvSpPr/>
          <p:nvPr/>
        </p:nvSpPr>
        <p:spPr>
          <a:xfrm>
            <a:off x="889000" y="2057400"/>
            <a:ext cx="22098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250" b="1" i="0" u="none" strike="noStrike">
                <a:solidFill>
                  <a:srgbClr val="2B2F36"/>
                </a:solidFill>
                <a:latin typeface="Roboto Mono"/>
                <a:ea typeface="Roboto Mono"/>
                <a:cs typeface="Roboto Mono"/>
                <a:sym typeface="Roboto Mono"/>
              </a:rPr>
              <a:t>TaintTracker</a:t>
            </a:r>
            <a:endParaRPr lang="en-US" sz="1100"/>
          </a:p>
        </p:txBody>
      </p:sp>
      <p:sp>
        <p:nvSpPr>
          <p:cNvPr id="12" name="AutoShape 12"/>
          <p:cNvSpPr/>
          <p:nvPr/>
        </p:nvSpPr>
        <p:spPr>
          <a:xfrm>
            <a:off x="889000" y="2362200"/>
            <a:ext cx="2209800" cy="330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AST 污点追踪 source→sink</a:t>
            </a:r>
            <a:endParaRPr lang="en-US" sz="1100"/>
          </a:p>
        </p:txBody>
      </p:sp>
      <p:cxnSp>
        <p:nvCxnSpPr>
          <p:cNvPr id="13" name="Connector 13"/>
          <p:cNvCxnSpPr/>
          <p:nvPr/>
        </p:nvCxnSpPr>
        <p:spPr>
          <a:xfrm rot="-245137">
            <a:off x="3213326" y="2203450"/>
            <a:ext cx="1778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14" name="AutoShape 14"/>
          <p:cNvSpPr/>
          <p:nvPr/>
        </p:nvSpPr>
        <p:spPr>
          <a:xfrm>
            <a:off x="3403600" y="1651000"/>
            <a:ext cx="25146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3403600" y="1651000"/>
            <a:ext cx="50800" cy="11176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3606800" y="1803400"/>
            <a:ext cx="76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Roboto Mono"/>
                <a:ea typeface="Roboto Mono"/>
                <a:cs typeface="Roboto Mono"/>
                <a:sym typeface="Roboto Mono"/>
              </a:rPr>
              <a:t>02</a:t>
            </a:r>
            <a:endParaRPr lang="en-US" sz="1100"/>
          </a:p>
        </p:txBody>
      </p:sp>
      <p:sp>
        <p:nvSpPr>
          <p:cNvPr id="17" name="AutoShape 17"/>
          <p:cNvSpPr/>
          <p:nvPr/>
        </p:nvSpPr>
        <p:spPr>
          <a:xfrm>
            <a:off x="3606800" y="2057400"/>
            <a:ext cx="22098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250" b="1" i="0" u="none" strike="noStrike">
                <a:solidFill>
                  <a:srgbClr val="2B2F36"/>
                </a:solidFill>
                <a:latin typeface="Roboto Mono"/>
                <a:ea typeface="Roboto Mono"/>
                <a:cs typeface="Roboto Mono"/>
                <a:sym typeface="Roboto Mono"/>
              </a:rPr>
              <a:t>Prefilter</a:t>
            </a:r>
            <a:endParaRPr lang="en-US" sz="1100"/>
          </a:p>
        </p:txBody>
      </p:sp>
      <p:sp>
        <p:nvSpPr>
          <p:cNvPr id="18" name="AutoShape 18"/>
          <p:cNvSpPr/>
          <p:nvPr/>
        </p:nvSpPr>
        <p:spPr>
          <a:xfrm>
            <a:off x="3606800" y="2362200"/>
            <a:ext cx="2209800" cy="330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正则预筛确定性问题</a:t>
            </a:r>
            <a:endParaRPr lang="en-US" sz="1100"/>
          </a:p>
        </p:txBody>
      </p:sp>
      <p:cxnSp>
        <p:nvCxnSpPr>
          <p:cNvPr id="19" name="Connector 19"/>
          <p:cNvCxnSpPr/>
          <p:nvPr/>
        </p:nvCxnSpPr>
        <p:spPr>
          <a:xfrm rot="-245137">
            <a:off x="5931126" y="2203450"/>
            <a:ext cx="1778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20" name="AutoShape 20"/>
          <p:cNvSpPr/>
          <p:nvPr/>
        </p:nvSpPr>
        <p:spPr>
          <a:xfrm>
            <a:off x="6121400" y="1651000"/>
            <a:ext cx="25146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121400" y="16510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6324600" y="1803400"/>
            <a:ext cx="76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6FA39B"/>
                </a:solidFill>
                <a:latin typeface="Roboto Mono"/>
                <a:ea typeface="Roboto Mono"/>
                <a:cs typeface="Roboto Mono"/>
                <a:sym typeface="Roboto Mono"/>
              </a:rPr>
              <a:t>03</a:t>
            </a:r>
            <a:endParaRPr lang="en-US" sz="1100"/>
          </a:p>
        </p:txBody>
      </p:sp>
      <p:sp>
        <p:nvSpPr>
          <p:cNvPr id="23" name="AutoShape 23"/>
          <p:cNvSpPr/>
          <p:nvPr/>
        </p:nvSpPr>
        <p:spPr>
          <a:xfrm>
            <a:off x="6324600" y="2057400"/>
            <a:ext cx="22098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250" b="1" i="0" u="none" strike="noStrike">
                <a:solidFill>
                  <a:srgbClr val="2B2F36"/>
                </a:solidFill>
                <a:latin typeface="Roboto Mono"/>
                <a:ea typeface="Roboto Mono"/>
                <a:cs typeface="Roboto Mono"/>
                <a:sym typeface="Roboto Mono"/>
              </a:rPr>
              <a:t>ExternalScanner</a:t>
            </a:r>
            <a:endParaRPr lang="en-US" sz="1100"/>
          </a:p>
        </p:txBody>
      </p:sp>
      <p:sp>
        <p:nvSpPr>
          <p:cNvPr id="24" name="AutoShape 24"/>
          <p:cNvSpPr/>
          <p:nvPr/>
        </p:nvSpPr>
        <p:spPr>
          <a:xfrm>
            <a:off x="6324600" y="2362200"/>
            <a:ext cx="2209800" cy="330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封装 Bandit/Gitleaks/Trivy</a:t>
            </a:r>
            <a:endParaRPr lang="en-US" sz="1100"/>
          </a:p>
        </p:txBody>
      </p:sp>
      <p:cxnSp>
        <p:nvCxnSpPr>
          <p:cNvPr id="25" name="Connector 25"/>
          <p:cNvCxnSpPr/>
          <p:nvPr/>
        </p:nvCxnSpPr>
        <p:spPr>
          <a:xfrm rot="-245137">
            <a:off x="8648926" y="2203450"/>
            <a:ext cx="1778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26" name="AutoShape 26"/>
          <p:cNvSpPr/>
          <p:nvPr/>
        </p:nvSpPr>
        <p:spPr>
          <a:xfrm>
            <a:off x="8839200" y="1651000"/>
            <a:ext cx="25146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8839200" y="16510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9042400" y="1803400"/>
            <a:ext cx="76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6FA39B"/>
                </a:solidFill>
                <a:latin typeface="Roboto Mono"/>
                <a:ea typeface="Roboto Mono"/>
                <a:cs typeface="Roboto Mono"/>
                <a:sym typeface="Roboto Mono"/>
              </a:rPr>
              <a:t>04</a:t>
            </a:r>
            <a:endParaRPr lang="en-US" sz="1100"/>
          </a:p>
        </p:txBody>
      </p:sp>
      <p:sp>
        <p:nvSpPr>
          <p:cNvPr id="29" name="AutoShape 29"/>
          <p:cNvSpPr/>
          <p:nvPr/>
        </p:nvSpPr>
        <p:spPr>
          <a:xfrm>
            <a:off x="9042400" y="2057400"/>
            <a:ext cx="22098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250" b="1" i="0" u="none" strike="noStrike">
                <a:solidFill>
                  <a:srgbClr val="2B2F36"/>
                </a:solidFill>
                <a:latin typeface="Roboto Mono"/>
                <a:ea typeface="Roboto Mono"/>
                <a:cs typeface="Roboto Mono"/>
                <a:sym typeface="Roboto Mono"/>
              </a:rPr>
              <a:t>CodeSlicer</a:t>
            </a:r>
            <a:endParaRPr lang="en-US" sz="1100"/>
          </a:p>
        </p:txBody>
      </p:sp>
      <p:sp>
        <p:nvSpPr>
          <p:cNvPr id="30" name="AutoShape 30"/>
          <p:cNvSpPr/>
          <p:nvPr/>
        </p:nvSpPr>
        <p:spPr>
          <a:xfrm>
            <a:off x="9042400" y="2362200"/>
            <a:ext cx="2209800" cy="330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最小相关上下文切片</a:t>
            </a:r>
            <a:endParaRPr lang="en-US" sz="1100"/>
          </a:p>
        </p:txBody>
      </p:sp>
      <p:sp>
        <p:nvSpPr>
          <p:cNvPr id="31" name="AutoShape 31"/>
          <p:cNvSpPr/>
          <p:nvPr/>
        </p:nvSpPr>
        <p:spPr>
          <a:xfrm>
            <a:off x="8839200" y="3632200"/>
            <a:ext cx="25146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8839200" y="3632200"/>
            <a:ext cx="50800" cy="11176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9042400" y="3784600"/>
            <a:ext cx="76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D9962E"/>
                </a:solidFill>
                <a:latin typeface="Roboto Mono"/>
                <a:ea typeface="Roboto Mono"/>
                <a:cs typeface="Roboto Mono"/>
                <a:sym typeface="Roboto Mono"/>
              </a:rPr>
              <a:t>05</a:t>
            </a:r>
            <a:endParaRPr lang="en-US" sz="1100"/>
          </a:p>
        </p:txBody>
      </p:sp>
      <p:sp>
        <p:nvSpPr>
          <p:cNvPr id="34" name="AutoShape 34"/>
          <p:cNvSpPr/>
          <p:nvPr/>
        </p:nvSpPr>
        <p:spPr>
          <a:xfrm>
            <a:off x="9042400" y="4038600"/>
            <a:ext cx="22098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250" b="1" i="0" u="none" strike="noStrike">
                <a:solidFill>
                  <a:srgbClr val="2B2F36"/>
                </a:solidFill>
                <a:latin typeface="Roboto Mono"/>
                <a:ea typeface="Roboto Mono"/>
                <a:cs typeface="Roboto Mono"/>
                <a:sym typeface="Roboto Mono"/>
              </a:rPr>
              <a:t>LLM Judge</a:t>
            </a:r>
            <a:endParaRPr lang="en-US" sz="1100"/>
          </a:p>
        </p:txBody>
      </p:sp>
      <p:sp>
        <p:nvSpPr>
          <p:cNvPr id="35" name="AutoShape 35"/>
          <p:cNvSpPr/>
          <p:nvPr/>
        </p:nvSpPr>
        <p:spPr>
          <a:xfrm>
            <a:off x="9042400" y="4343400"/>
            <a:ext cx="2209800" cy="330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封闭裁决 N=3 投票</a:t>
            </a:r>
            <a:endParaRPr lang="en-US" sz="1100"/>
          </a:p>
        </p:txBody>
      </p:sp>
      <p:sp>
        <p:nvSpPr>
          <p:cNvPr id="36" name="AutoShape 36"/>
          <p:cNvSpPr/>
          <p:nvPr/>
        </p:nvSpPr>
        <p:spPr>
          <a:xfrm>
            <a:off x="6121400" y="3632200"/>
            <a:ext cx="25146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6121400" y="36322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6324600" y="3784600"/>
            <a:ext cx="76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6FA39B"/>
                </a:solidFill>
                <a:latin typeface="Roboto Mono"/>
                <a:ea typeface="Roboto Mono"/>
                <a:cs typeface="Roboto Mono"/>
                <a:sym typeface="Roboto Mono"/>
              </a:rPr>
              <a:t>06</a:t>
            </a:r>
            <a:endParaRPr lang="en-US" sz="1100"/>
          </a:p>
        </p:txBody>
      </p:sp>
      <p:sp>
        <p:nvSpPr>
          <p:cNvPr id="39" name="AutoShape 39"/>
          <p:cNvSpPr/>
          <p:nvPr/>
        </p:nvSpPr>
        <p:spPr>
          <a:xfrm>
            <a:off x="6324600" y="4038600"/>
            <a:ext cx="22098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250" b="1" i="0" u="none" strike="noStrike">
                <a:solidFill>
                  <a:srgbClr val="2B2F36"/>
                </a:solidFill>
                <a:latin typeface="Roboto Mono"/>
                <a:ea typeface="Roboto Mono"/>
                <a:cs typeface="Roboto Mono"/>
                <a:sym typeface="Roboto Mono"/>
              </a:rPr>
              <a:t>CWE Normalizer</a:t>
            </a:r>
            <a:endParaRPr lang="en-US" sz="1100"/>
          </a:p>
        </p:txBody>
      </p:sp>
      <p:sp>
        <p:nvSpPr>
          <p:cNvPr id="40" name="AutoShape 40"/>
          <p:cNvSpPr/>
          <p:nvPr/>
        </p:nvSpPr>
        <p:spPr>
          <a:xfrm>
            <a:off x="6324600" y="4343400"/>
            <a:ext cx="2209800" cy="330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CWE 编号归一去重</a:t>
            </a:r>
            <a:endParaRPr lang="en-US" sz="1100"/>
          </a:p>
        </p:txBody>
      </p:sp>
      <p:sp>
        <p:nvSpPr>
          <p:cNvPr id="41" name="AutoShape 41"/>
          <p:cNvSpPr/>
          <p:nvPr/>
        </p:nvSpPr>
        <p:spPr>
          <a:xfrm>
            <a:off x="3403600" y="3632200"/>
            <a:ext cx="25146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3403600" y="36322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3" name="AutoShape 43"/>
          <p:cNvSpPr/>
          <p:nvPr/>
        </p:nvSpPr>
        <p:spPr>
          <a:xfrm>
            <a:off x="3606800" y="3784600"/>
            <a:ext cx="76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6FA39B"/>
                </a:solidFill>
                <a:latin typeface="Roboto Mono"/>
                <a:ea typeface="Roboto Mono"/>
                <a:cs typeface="Roboto Mono"/>
                <a:sym typeface="Roboto Mono"/>
              </a:rPr>
              <a:t>07</a:t>
            </a:r>
            <a:endParaRPr lang="en-US" sz="1100"/>
          </a:p>
        </p:txBody>
      </p:sp>
      <p:sp>
        <p:nvSpPr>
          <p:cNvPr id="44" name="AutoShape 44"/>
          <p:cNvSpPr/>
          <p:nvPr/>
        </p:nvSpPr>
        <p:spPr>
          <a:xfrm>
            <a:off x="3606800" y="4038600"/>
            <a:ext cx="22098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250" b="1" i="0" u="none" strike="noStrike">
                <a:solidFill>
                  <a:srgbClr val="2B2F36"/>
                </a:solidFill>
                <a:latin typeface="Roboto Mono"/>
                <a:ea typeface="Roboto Mono"/>
                <a:cs typeface="Roboto Mono"/>
                <a:sym typeface="Roboto Mono"/>
              </a:rPr>
              <a:t>LineNormalizer</a:t>
            </a:r>
            <a:endParaRPr lang="en-US" sz="1100"/>
          </a:p>
        </p:txBody>
      </p:sp>
      <p:sp>
        <p:nvSpPr>
          <p:cNvPr id="45" name="AutoShape 45"/>
          <p:cNvSpPr/>
          <p:nvPr/>
        </p:nvSpPr>
        <p:spPr>
          <a:xfrm>
            <a:off x="3606800" y="4343400"/>
            <a:ext cx="2209800" cy="330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行号级证据对齐</a:t>
            </a:r>
            <a:endParaRPr lang="en-US" sz="1100"/>
          </a:p>
        </p:txBody>
      </p:sp>
      <p:sp>
        <p:nvSpPr>
          <p:cNvPr id="46" name="AutoShape 46"/>
          <p:cNvSpPr/>
          <p:nvPr/>
        </p:nvSpPr>
        <p:spPr>
          <a:xfrm>
            <a:off x="685800" y="3632200"/>
            <a:ext cx="25146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AutoShape 47"/>
          <p:cNvSpPr/>
          <p:nvPr/>
        </p:nvSpPr>
        <p:spPr>
          <a:xfrm>
            <a:off x="685800" y="3632200"/>
            <a:ext cx="50800" cy="1117600"/>
          </a:xfrm>
          <a:prstGeom prst="roundRect">
            <a:avLst>
              <a:gd name="adj" fmla="val 5000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AutoShape 48"/>
          <p:cNvSpPr/>
          <p:nvPr/>
        </p:nvSpPr>
        <p:spPr>
          <a:xfrm>
            <a:off x="889000" y="3784600"/>
            <a:ext cx="76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345E80"/>
                </a:solidFill>
                <a:latin typeface="Roboto Mono"/>
                <a:ea typeface="Roboto Mono"/>
                <a:cs typeface="Roboto Mono"/>
                <a:sym typeface="Roboto Mono"/>
              </a:rPr>
              <a:t>08</a:t>
            </a:r>
            <a:endParaRPr lang="en-US" sz="1100"/>
          </a:p>
        </p:txBody>
      </p:sp>
      <p:sp>
        <p:nvSpPr>
          <p:cNvPr id="49" name="AutoShape 49"/>
          <p:cNvSpPr/>
          <p:nvPr/>
        </p:nvSpPr>
        <p:spPr>
          <a:xfrm>
            <a:off x="889000" y="4038600"/>
            <a:ext cx="22098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250" b="1" i="0" u="none" strike="noStrike">
                <a:solidFill>
                  <a:srgbClr val="2B2F36"/>
                </a:solidFill>
                <a:latin typeface="Roboto Mono"/>
                <a:ea typeface="Roboto Mono"/>
                <a:cs typeface="Roboto Mono"/>
                <a:sym typeface="Roboto Mono"/>
              </a:rPr>
              <a:t>FixVerifier</a:t>
            </a:r>
            <a:endParaRPr lang="en-US" sz="1100"/>
          </a:p>
        </p:txBody>
      </p:sp>
      <p:sp>
        <p:nvSpPr>
          <p:cNvPr id="50" name="AutoShape 50"/>
          <p:cNvSpPr/>
          <p:nvPr/>
        </p:nvSpPr>
        <p:spPr>
          <a:xfrm>
            <a:off x="889000" y="4343400"/>
            <a:ext cx="2209800" cy="330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修复建议可验证</a:t>
            </a:r>
            <a:endParaRPr lang="en-US" sz="1100"/>
          </a:p>
        </p:txBody>
      </p:sp>
      <p:cxnSp>
        <p:nvCxnSpPr>
          <p:cNvPr id="51" name="Connector 51"/>
          <p:cNvCxnSpPr/>
          <p:nvPr/>
        </p:nvCxnSpPr>
        <p:spPr>
          <a:xfrm rot="5349448">
            <a:off x="9664700" y="3194097"/>
            <a:ext cx="8636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cxnSp>
        <p:nvCxnSpPr>
          <p:cNvPr id="52" name="Connector 52"/>
          <p:cNvCxnSpPr/>
          <p:nvPr/>
        </p:nvCxnSpPr>
        <p:spPr>
          <a:xfrm rot="10585419">
            <a:off x="8635802" y="4184650"/>
            <a:ext cx="2032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cxnSp>
        <p:nvCxnSpPr>
          <p:cNvPr id="53" name="Connector 53"/>
          <p:cNvCxnSpPr/>
          <p:nvPr/>
        </p:nvCxnSpPr>
        <p:spPr>
          <a:xfrm rot="10585419">
            <a:off x="5918002" y="4184650"/>
            <a:ext cx="2032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cxnSp>
        <p:nvCxnSpPr>
          <p:cNvPr id="54" name="Connector 54"/>
          <p:cNvCxnSpPr/>
          <p:nvPr/>
        </p:nvCxnSpPr>
        <p:spPr>
          <a:xfrm rot="10585419">
            <a:off x="3200202" y="4184650"/>
            <a:ext cx="2032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55" name="AutoShape 55"/>
          <p:cNvSpPr/>
          <p:nvPr/>
        </p:nvSpPr>
        <p:spPr>
          <a:xfrm>
            <a:off x="685800" y="5181600"/>
            <a:ext cx="10820400" cy="787400"/>
          </a:xfrm>
          <a:prstGeom prst="roundRect">
            <a:avLst>
              <a:gd name="adj" fmla="val 12903"/>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AutoShape 56"/>
          <p:cNvSpPr/>
          <p:nvPr/>
        </p:nvSpPr>
        <p:spPr>
          <a:xfrm>
            <a:off x="990600" y="5334000"/>
            <a:ext cx="6350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1" i="0" u="none" strike="noStrike">
                <a:solidFill>
                  <a:srgbClr val="D9962E"/>
                </a:solidFill>
                <a:latin typeface="Roboto Mono"/>
                <a:ea typeface="Roboto Mono"/>
                <a:cs typeface="Roboto Mono"/>
                <a:sym typeface="Roboto Mono"/>
              </a:rPr>
              <a:t>统一输出</a:t>
            </a:r>
            <a:endParaRPr lang="en-US" sz="1100"/>
          </a:p>
        </p:txBody>
      </p:sp>
      <p:sp>
        <p:nvSpPr>
          <p:cNvPr id="57" name="AutoShape 57"/>
          <p:cNvSpPr/>
          <p:nvPr/>
        </p:nvSpPr>
        <p:spPr>
          <a:xfrm>
            <a:off x="990600" y="5588000"/>
            <a:ext cx="10414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FFFFFF"/>
                </a:solidFill>
                <a:latin typeface="Noto Sans SC"/>
                <a:ea typeface="Noto Sans SC"/>
                <a:cs typeface="Noto Sans SC"/>
                <a:sym typeface="Noto Sans SC"/>
              </a:rPr>
              <a:t>SARIF 标准报告：行号 · CWE · 证据链 · 修复建议，可直接接入 VS Code 与 CI 流水线</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04 项目的价值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全栈工程：一套核心引擎，三端产品 × 四后端跨平台</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23 / 30</a:t>
            </a:r>
            <a:endParaRPr lang="en-US" sz="1100"/>
          </a:p>
        </p:txBody>
      </p:sp>
      <p:sp>
        <p:nvSpPr>
          <p:cNvPr id="8" name="AutoShape 8"/>
          <p:cNvSpPr/>
          <p:nvPr/>
        </p:nvSpPr>
        <p:spPr>
          <a:xfrm>
            <a:off x="685800" y="1549400"/>
            <a:ext cx="50800" cy="2286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38200" y="1549400"/>
            <a:ext cx="4064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Roboto Mono"/>
                <a:ea typeface="Roboto Mono"/>
                <a:cs typeface="Roboto Mono"/>
                <a:sym typeface="Roboto Mono"/>
              </a:rPr>
              <a:t>CODEBASE · 手写代码量（git 实测）</a:t>
            </a:r>
            <a:endParaRPr lang="en-US" sz="1100"/>
          </a:p>
        </p:txBody>
      </p:sp>
      <p:sp>
        <p:nvSpPr>
          <p:cNvPr id="10" name="AutoShape 10"/>
          <p:cNvSpPr/>
          <p:nvPr/>
        </p:nvSpPr>
        <p:spPr>
          <a:xfrm>
            <a:off x="838200" y="1993900"/>
            <a:ext cx="76200" cy="762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41400" y="1930400"/>
            <a:ext cx="254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核心引擎</a:t>
            </a:r>
            <a:endParaRPr lang="en-US" sz="1100"/>
          </a:p>
        </p:txBody>
      </p:sp>
      <p:sp>
        <p:nvSpPr>
          <p:cNvPr id="12" name="AutoShape 12"/>
          <p:cNvSpPr/>
          <p:nvPr/>
        </p:nvSpPr>
        <p:spPr>
          <a:xfrm>
            <a:off x="1041400" y="2184400"/>
            <a:ext cx="381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0" i="0" u="none" strike="noStrike">
                <a:solidFill>
                  <a:srgbClr val="5B6770"/>
                </a:solidFill>
                <a:latin typeface="Roboto Mono"/>
                <a:ea typeface="Roboto Mono"/>
                <a:cs typeface="Roboto Mono"/>
                <a:sym typeface="Roboto Mono"/>
              </a:rPr>
              <a:t>25 个文件 · 18,915 行 Python</a:t>
            </a:r>
            <a:endParaRPr lang="en-US" sz="1100"/>
          </a:p>
        </p:txBody>
      </p:sp>
      <p:sp>
        <p:nvSpPr>
          <p:cNvPr id="13" name="AutoShape 13"/>
          <p:cNvSpPr/>
          <p:nvPr/>
        </p:nvSpPr>
        <p:spPr>
          <a:xfrm>
            <a:off x="838200" y="2628900"/>
            <a:ext cx="76200" cy="762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041400" y="2565400"/>
            <a:ext cx="254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Web 端</a:t>
            </a:r>
            <a:endParaRPr lang="en-US" sz="1100"/>
          </a:p>
        </p:txBody>
      </p:sp>
      <p:sp>
        <p:nvSpPr>
          <p:cNvPr id="15" name="AutoShape 15"/>
          <p:cNvSpPr/>
          <p:nvPr/>
        </p:nvSpPr>
        <p:spPr>
          <a:xfrm>
            <a:off x="1041400" y="2819400"/>
            <a:ext cx="381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0" i="0" u="none" strike="noStrike">
                <a:solidFill>
                  <a:srgbClr val="5B6770"/>
                </a:solidFill>
                <a:latin typeface="Roboto Mono"/>
                <a:ea typeface="Roboto Mono"/>
                <a:cs typeface="Roboto Mono"/>
                <a:sym typeface="Roboto Mono"/>
              </a:rPr>
              <a:t>后端 4,764 行 / 前端 8,386 行</a:t>
            </a:r>
            <a:endParaRPr lang="en-US" sz="1100"/>
          </a:p>
        </p:txBody>
      </p:sp>
      <p:sp>
        <p:nvSpPr>
          <p:cNvPr id="16" name="AutoShape 16"/>
          <p:cNvSpPr/>
          <p:nvPr/>
        </p:nvSpPr>
        <p:spPr>
          <a:xfrm>
            <a:off x="838200" y="3263900"/>
            <a:ext cx="76200" cy="762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041400" y="3200400"/>
            <a:ext cx="254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IDE 插件</a:t>
            </a:r>
            <a:endParaRPr lang="en-US" sz="1100"/>
          </a:p>
        </p:txBody>
      </p:sp>
      <p:sp>
        <p:nvSpPr>
          <p:cNvPr id="18" name="AutoShape 18"/>
          <p:cNvSpPr/>
          <p:nvPr/>
        </p:nvSpPr>
        <p:spPr>
          <a:xfrm>
            <a:off x="1041400" y="3454400"/>
            <a:ext cx="381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0" i="0" u="none" strike="noStrike">
                <a:solidFill>
                  <a:srgbClr val="5B6770"/>
                </a:solidFill>
                <a:latin typeface="Roboto Mono"/>
                <a:ea typeface="Roboto Mono"/>
                <a:cs typeface="Roboto Mono"/>
                <a:sym typeface="Roboto Mono"/>
              </a:rPr>
              <a:t>VS Code 841 行 / IntelliJ 347 行</a:t>
            </a:r>
            <a:endParaRPr lang="en-US" sz="1100"/>
          </a:p>
        </p:txBody>
      </p:sp>
      <p:sp>
        <p:nvSpPr>
          <p:cNvPr id="19" name="AutoShape 19"/>
          <p:cNvSpPr/>
          <p:nvPr/>
        </p:nvSpPr>
        <p:spPr>
          <a:xfrm>
            <a:off x="838200" y="3898900"/>
            <a:ext cx="76200" cy="762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041400" y="3835400"/>
            <a:ext cx="254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Launcher / CLI</a:t>
            </a:r>
            <a:endParaRPr lang="en-US" sz="1100"/>
          </a:p>
        </p:txBody>
      </p:sp>
      <p:sp>
        <p:nvSpPr>
          <p:cNvPr id="21" name="AutoShape 21"/>
          <p:cNvSpPr/>
          <p:nvPr/>
        </p:nvSpPr>
        <p:spPr>
          <a:xfrm>
            <a:off x="1041400" y="4089400"/>
            <a:ext cx="381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0" i="0" u="none" strike="noStrike">
                <a:solidFill>
                  <a:srgbClr val="5B6770"/>
                </a:solidFill>
                <a:latin typeface="Roboto Mono"/>
                <a:ea typeface="Roboto Mono"/>
                <a:cs typeface="Roboto Mono"/>
                <a:sym typeface="Roboto Mono"/>
              </a:rPr>
              <a:t>6,045 行</a:t>
            </a:r>
            <a:endParaRPr lang="en-US" sz="1100"/>
          </a:p>
        </p:txBody>
      </p:sp>
      <p:sp>
        <p:nvSpPr>
          <p:cNvPr id="22" name="AutoShape 22"/>
          <p:cNvSpPr/>
          <p:nvPr/>
        </p:nvSpPr>
        <p:spPr>
          <a:xfrm>
            <a:off x="685800" y="4521200"/>
            <a:ext cx="4191000" cy="838200"/>
          </a:xfrm>
          <a:prstGeom prst="roundRect">
            <a:avLst>
              <a:gd name="adj" fmla="val 12121"/>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914400" y="4648200"/>
            <a:ext cx="381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96A6B2"/>
                </a:solidFill>
                <a:latin typeface="Noto Sans SC"/>
                <a:ea typeface="Noto Sans SC"/>
                <a:cs typeface="Noto Sans SC"/>
                <a:sym typeface="Noto Sans SC"/>
              </a:rPr>
              <a:t>合计手写</a:t>
            </a:r>
            <a:endParaRPr lang="en-US" sz="1100"/>
          </a:p>
        </p:txBody>
      </p:sp>
      <p:sp>
        <p:nvSpPr>
          <p:cNvPr id="24" name="AutoShape 24"/>
          <p:cNvSpPr/>
          <p:nvPr/>
        </p:nvSpPr>
        <p:spPr>
          <a:xfrm>
            <a:off x="914400" y="4876800"/>
            <a:ext cx="38100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2200" b="1" i="0" u="none" strike="noStrike">
                <a:solidFill>
                  <a:srgbClr val="D9962E"/>
                </a:solidFill>
                <a:latin typeface="Roboto Mono"/>
                <a:ea typeface="Roboto Mono"/>
                <a:cs typeface="Roboto Mono"/>
                <a:sym typeface="Roboto Mono"/>
              </a:rPr>
              <a:t>39,298 行</a:t>
            </a:r>
            <a:r>
              <a:rPr lang="en-US" sz="1200" b="0" i="0" u="none" strike="noStrike">
                <a:solidFill>
                  <a:srgbClr val="FFFFFF"/>
                </a:solidFill>
                <a:latin typeface="Noto Sans SC"/>
                <a:ea typeface="Noto Sans SC"/>
                <a:cs typeface="Noto Sans SC"/>
                <a:sym typeface="Noto Sans SC"/>
              </a:rPr>
              <a:t> · 52 个核心文件</a:t>
            </a:r>
            <a:endParaRPr lang="en-US" sz="1100"/>
          </a:p>
        </p:txBody>
      </p:sp>
      <p:sp>
        <p:nvSpPr>
          <p:cNvPr id="25" name="AutoShape 25"/>
          <p:cNvSpPr/>
          <p:nvPr/>
        </p:nvSpPr>
        <p:spPr>
          <a:xfrm>
            <a:off x="5257800" y="1549400"/>
            <a:ext cx="50800" cy="2286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5410200" y="15494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四后端 × 五硬件平台支持矩阵</a:t>
            </a:r>
            <a:endParaRPr lang="en-US" sz="1100"/>
          </a:p>
        </p:txBody>
      </p:sp>
      <p:sp>
        <p:nvSpPr>
          <p:cNvPr id="27" name="AutoShape 27"/>
          <p:cNvSpPr/>
          <p:nvPr/>
        </p:nvSpPr>
        <p:spPr>
          <a:xfrm>
            <a:off x="5257800" y="1905000"/>
            <a:ext cx="6223000" cy="355600"/>
          </a:xfrm>
          <a:prstGeom prst="roundRect">
            <a:avLst>
              <a:gd name="adj" fmla="val 0"/>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5384800" y="1993900"/>
            <a:ext cx="14986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1" i="0" u="none" strike="noStrike">
                <a:solidFill>
                  <a:srgbClr val="FFFFFF"/>
                </a:solidFill>
                <a:latin typeface="Noto Sans SC"/>
                <a:ea typeface="Noto Sans SC"/>
                <a:cs typeface="Noto Sans SC"/>
                <a:sym typeface="Noto Sans SC"/>
              </a:rPr>
              <a:t>后端 / 硬件</a:t>
            </a:r>
            <a:endParaRPr lang="en-US" sz="1100"/>
          </a:p>
        </p:txBody>
      </p:sp>
      <p:sp>
        <p:nvSpPr>
          <p:cNvPr id="29" name="AutoShape 29"/>
          <p:cNvSpPr/>
          <p:nvPr/>
        </p:nvSpPr>
        <p:spPr>
          <a:xfrm>
            <a:off x="6908800" y="1993900"/>
            <a:ext cx="914400" cy="2286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50" b="1" i="0" u="none" strike="noStrike">
                <a:solidFill>
                  <a:srgbClr val="FFFFFF"/>
                </a:solidFill>
                <a:latin typeface="Noto Sans SC"/>
                <a:ea typeface="Noto Sans SC"/>
                <a:cs typeface="Noto Sans SC"/>
                <a:sym typeface="Noto Sans SC"/>
              </a:rPr>
              <a:t>CUDA</a:t>
            </a:r>
            <a:endParaRPr lang="en-US" sz="1100"/>
          </a:p>
        </p:txBody>
      </p:sp>
      <p:sp>
        <p:nvSpPr>
          <p:cNvPr id="30" name="AutoShape 30"/>
          <p:cNvSpPr/>
          <p:nvPr/>
        </p:nvSpPr>
        <p:spPr>
          <a:xfrm>
            <a:off x="7823200" y="1993900"/>
            <a:ext cx="914400" cy="2286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50" b="1" i="0" u="none" strike="noStrike">
                <a:solidFill>
                  <a:srgbClr val="FFFFFF"/>
                </a:solidFill>
                <a:latin typeface="Noto Sans SC"/>
                <a:ea typeface="Noto Sans SC"/>
                <a:cs typeface="Noto Sans SC"/>
                <a:sym typeface="Noto Sans SC"/>
              </a:rPr>
              <a:t>RTX 50</a:t>
            </a:r>
            <a:endParaRPr lang="en-US" sz="1100"/>
          </a:p>
        </p:txBody>
      </p:sp>
      <p:sp>
        <p:nvSpPr>
          <p:cNvPr id="31" name="AutoShape 31"/>
          <p:cNvSpPr/>
          <p:nvPr/>
        </p:nvSpPr>
        <p:spPr>
          <a:xfrm>
            <a:off x="8737600" y="1993900"/>
            <a:ext cx="914400" cy="2286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50" b="1" i="0" u="none" strike="noStrike">
                <a:solidFill>
                  <a:srgbClr val="FFFFFF"/>
                </a:solidFill>
                <a:latin typeface="Noto Sans SC"/>
                <a:ea typeface="Noto Sans SC"/>
                <a:cs typeface="Noto Sans SC"/>
                <a:sym typeface="Noto Sans SC"/>
              </a:rPr>
              <a:t>ROCm</a:t>
            </a:r>
            <a:endParaRPr lang="en-US" sz="1100"/>
          </a:p>
        </p:txBody>
      </p:sp>
      <p:sp>
        <p:nvSpPr>
          <p:cNvPr id="32" name="AutoShape 32"/>
          <p:cNvSpPr/>
          <p:nvPr/>
        </p:nvSpPr>
        <p:spPr>
          <a:xfrm>
            <a:off x="9652000" y="1993900"/>
            <a:ext cx="914400" cy="2286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50" b="1" i="0" u="none" strike="noStrike">
                <a:solidFill>
                  <a:srgbClr val="FFFFFF"/>
                </a:solidFill>
                <a:latin typeface="Noto Sans SC"/>
                <a:ea typeface="Noto Sans SC"/>
                <a:cs typeface="Noto Sans SC"/>
                <a:sym typeface="Noto Sans SC"/>
              </a:rPr>
              <a:t>Apple</a:t>
            </a:r>
            <a:endParaRPr lang="en-US" sz="1100"/>
          </a:p>
        </p:txBody>
      </p:sp>
      <p:sp>
        <p:nvSpPr>
          <p:cNvPr id="33" name="AutoShape 33"/>
          <p:cNvSpPr/>
          <p:nvPr/>
        </p:nvSpPr>
        <p:spPr>
          <a:xfrm>
            <a:off x="10566400" y="1993900"/>
            <a:ext cx="914400" cy="2286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50" b="1" i="0" u="none" strike="noStrike">
                <a:solidFill>
                  <a:srgbClr val="FFFFFF"/>
                </a:solidFill>
                <a:latin typeface="Noto Sans SC"/>
                <a:ea typeface="Noto Sans SC"/>
                <a:cs typeface="Noto Sans SC"/>
                <a:sym typeface="Noto Sans SC"/>
              </a:rPr>
              <a:t>CPU</a:t>
            </a:r>
            <a:endParaRPr lang="en-US" sz="1100"/>
          </a:p>
        </p:txBody>
      </p:sp>
      <p:sp>
        <p:nvSpPr>
          <p:cNvPr id="34" name="AutoShape 34"/>
          <p:cNvSpPr/>
          <p:nvPr/>
        </p:nvSpPr>
        <p:spPr>
          <a:xfrm>
            <a:off x="5257800" y="2260600"/>
            <a:ext cx="6223000" cy="406400"/>
          </a:xfrm>
          <a:prstGeom prst="roundRect">
            <a:avLst>
              <a:gd name="adj" fmla="val 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5384800" y="2362200"/>
            <a:ext cx="1498600" cy="2286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950" b="0" i="0" u="none" strike="noStrike">
                <a:solidFill>
                  <a:srgbClr val="2B2F36"/>
                </a:solidFill>
                <a:latin typeface="Noto Sans SC"/>
                <a:ea typeface="Noto Sans SC"/>
                <a:cs typeface="Noto Sans SC"/>
                <a:sym typeface="Noto Sans SC"/>
              </a:rPr>
              <a:t>Ollama</a:t>
            </a:r>
            <a:endParaRPr lang="en-US" sz="1100"/>
          </a:p>
        </p:txBody>
      </p:sp>
      <p:sp>
        <p:nvSpPr>
          <p:cNvPr id="36" name="AutoShape 36"/>
          <p:cNvSpPr/>
          <p:nvPr/>
        </p:nvSpPr>
        <p:spPr>
          <a:xfrm>
            <a:off x="6908800" y="2349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37" name="AutoShape 37"/>
          <p:cNvSpPr/>
          <p:nvPr/>
        </p:nvSpPr>
        <p:spPr>
          <a:xfrm>
            <a:off x="7823200" y="2349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38" name="AutoShape 38"/>
          <p:cNvSpPr/>
          <p:nvPr/>
        </p:nvSpPr>
        <p:spPr>
          <a:xfrm>
            <a:off x="8737600" y="2349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39" name="AutoShape 39"/>
          <p:cNvSpPr/>
          <p:nvPr/>
        </p:nvSpPr>
        <p:spPr>
          <a:xfrm>
            <a:off x="9652000" y="2349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40" name="AutoShape 40"/>
          <p:cNvSpPr/>
          <p:nvPr/>
        </p:nvSpPr>
        <p:spPr>
          <a:xfrm>
            <a:off x="10566400" y="2349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41" name="AutoShape 41"/>
          <p:cNvSpPr/>
          <p:nvPr/>
        </p:nvSpPr>
        <p:spPr>
          <a:xfrm>
            <a:off x="5257800" y="2667000"/>
            <a:ext cx="6223000" cy="4064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5384800" y="2768600"/>
            <a:ext cx="1498600" cy="2286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950" b="0" i="0" u="none" strike="noStrike">
                <a:solidFill>
                  <a:srgbClr val="2B2F36"/>
                </a:solidFill>
                <a:latin typeface="Noto Sans SC"/>
                <a:ea typeface="Noto Sans SC"/>
                <a:cs typeface="Noto Sans SC"/>
                <a:sym typeface="Noto Sans SC"/>
              </a:rPr>
              <a:t>Transformers · Win</a:t>
            </a:r>
            <a:endParaRPr lang="en-US" sz="1100"/>
          </a:p>
        </p:txBody>
      </p:sp>
      <p:sp>
        <p:nvSpPr>
          <p:cNvPr id="43" name="AutoShape 43"/>
          <p:cNvSpPr/>
          <p:nvPr/>
        </p:nvSpPr>
        <p:spPr>
          <a:xfrm>
            <a:off x="6908800" y="27559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44" name="AutoShape 44"/>
          <p:cNvSpPr/>
          <p:nvPr/>
        </p:nvSpPr>
        <p:spPr>
          <a:xfrm>
            <a:off x="7823200" y="27559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D9962E"/>
                </a:solidFill>
                <a:latin typeface="Roboto Mono"/>
                <a:ea typeface="Roboto Mono"/>
                <a:cs typeface="Roboto Mono"/>
                <a:sym typeface="Roboto Mono"/>
              </a:rPr>
              <a:t>◐</a:t>
            </a:r>
            <a:endParaRPr lang="en-US" sz="1100"/>
          </a:p>
        </p:txBody>
      </p:sp>
      <p:sp>
        <p:nvSpPr>
          <p:cNvPr id="45" name="AutoShape 45"/>
          <p:cNvSpPr/>
          <p:nvPr/>
        </p:nvSpPr>
        <p:spPr>
          <a:xfrm>
            <a:off x="8737600" y="27559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949EA6"/>
                </a:solidFill>
                <a:latin typeface="Roboto Mono"/>
                <a:ea typeface="Roboto Mono"/>
                <a:cs typeface="Roboto Mono"/>
                <a:sym typeface="Roboto Mono"/>
              </a:rPr>
              <a:t>—</a:t>
            </a:r>
            <a:endParaRPr lang="en-US" sz="1100"/>
          </a:p>
        </p:txBody>
      </p:sp>
      <p:sp>
        <p:nvSpPr>
          <p:cNvPr id="46" name="AutoShape 46"/>
          <p:cNvSpPr/>
          <p:nvPr/>
        </p:nvSpPr>
        <p:spPr>
          <a:xfrm>
            <a:off x="9652000" y="27559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CED2D6"/>
                </a:solidFill>
                <a:latin typeface="Roboto Mono"/>
                <a:ea typeface="Roboto Mono"/>
                <a:cs typeface="Roboto Mono"/>
                <a:sym typeface="Roboto Mono"/>
              </a:rPr>
              <a:t>N/A</a:t>
            </a:r>
            <a:endParaRPr lang="en-US" sz="1100"/>
          </a:p>
        </p:txBody>
      </p:sp>
      <p:sp>
        <p:nvSpPr>
          <p:cNvPr id="47" name="AutoShape 47"/>
          <p:cNvSpPr/>
          <p:nvPr/>
        </p:nvSpPr>
        <p:spPr>
          <a:xfrm>
            <a:off x="10566400" y="27559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48" name="AutoShape 48"/>
          <p:cNvSpPr/>
          <p:nvPr/>
        </p:nvSpPr>
        <p:spPr>
          <a:xfrm>
            <a:off x="5257800" y="3073400"/>
            <a:ext cx="6223000" cy="406400"/>
          </a:xfrm>
          <a:prstGeom prst="roundRect">
            <a:avLst>
              <a:gd name="adj" fmla="val 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49"/>
          <p:cNvSpPr/>
          <p:nvPr/>
        </p:nvSpPr>
        <p:spPr>
          <a:xfrm>
            <a:off x="5384800" y="3175000"/>
            <a:ext cx="1498600" cy="2286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950" b="0" i="0" u="none" strike="noStrike">
                <a:solidFill>
                  <a:srgbClr val="2B2F36"/>
                </a:solidFill>
                <a:latin typeface="Noto Sans SC"/>
                <a:ea typeface="Noto Sans SC"/>
                <a:cs typeface="Noto Sans SC"/>
                <a:sym typeface="Noto Sans SC"/>
              </a:rPr>
              <a:t>Transformers · Linux</a:t>
            </a:r>
            <a:endParaRPr lang="en-US" sz="1100"/>
          </a:p>
        </p:txBody>
      </p:sp>
      <p:sp>
        <p:nvSpPr>
          <p:cNvPr id="50" name="AutoShape 50"/>
          <p:cNvSpPr/>
          <p:nvPr/>
        </p:nvSpPr>
        <p:spPr>
          <a:xfrm>
            <a:off x="6908800" y="31623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51" name="AutoShape 51"/>
          <p:cNvSpPr/>
          <p:nvPr/>
        </p:nvSpPr>
        <p:spPr>
          <a:xfrm>
            <a:off x="7823200" y="31623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52" name="AutoShape 52"/>
          <p:cNvSpPr/>
          <p:nvPr/>
        </p:nvSpPr>
        <p:spPr>
          <a:xfrm>
            <a:off x="8737600" y="31623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D9962E"/>
                </a:solidFill>
                <a:latin typeface="Roboto Mono"/>
                <a:ea typeface="Roboto Mono"/>
                <a:cs typeface="Roboto Mono"/>
                <a:sym typeface="Roboto Mono"/>
              </a:rPr>
              <a:t>◐</a:t>
            </a:r>
            <a:endParaRPr lang="en-US" sz="1100"/>
          </a:p>
        </p:txBody>
      </p:sp>
      <p:sp>
        <p:nvSpPr>
          <p:cNvPr id="53" name="AutoShape 53"/>
          <p:cNvSpPr/>
          <p:nvPr/>
        </p:nvSpPr>
        <p:spPr>
          <a:xfrm>
            <a:off x="9652000" y="31623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D9962E"/>
                </a:solidFill>
                <a:latin typeface="Roboto Mono"/>
                <a:ea typeface="Roboto Mono"/>
                <a:cs typeface="Roboto Mono"/>
                <a:sym typeface="Roboto Mono"/>
              </a:rPr>
              <a:t>◐</a:t>
            </a:r>
            <a:endParaRPr lang="en-US" sz="1100"/>
          </a:p>
        </p:txBody>
      </p:sp>
      <p:sp>
        <p:nvSpPr>
          <p:cNvPr id="54" name="AutoShape 54"/>
          <p:cNvSpPr/>
          <p:nvPr/>
        </p:nvSpPr>
        <p:spPr>
          <a:xfrm>
            <a:off x="10566400" y="31623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55" name="AutoShape 55"/>
          <p:cNvSpPr/>
          <p:nvPr/>
        </p:nvSpPr>
        <p:spPr>
          <a:xfrm>
            <a:off x="5257800" y="3479800"/>
            <a:ext cx="6223000" cy="4064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AutoShape 56"/>
          <p:cNvSpPr/>
          <p:nvPr/>
        </p:nvSpPr>
        <p:spPr>
          <a:xfrm>
            <a:off x="5384800" y="3581400"/>
            <a:ext cx="1498600" cy="2286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950" b="0" i="0" u="none" strike="noStrike">
                <a:solidFill>
                  <a:srgbClr val="2B2F36"/>
                </a:solidFill>
                <a:latin typeface="Noto Sans SC"/>
                <a:ea typeface="Noto Sans SC"/>
                <a:cs typeface="Noto Sans SC"/>
                <a:sym typeface="Noto Sans SC"/>
              </a:rPr>
              <a:t>llama.cpp · Linux</a:t>
            </a:r>
            <a:endParaRPr lang="en-US" sz="1100"/>
          </a:p>
        </p:txBody>
      </p:sp>
      <p:sp>
        <p:nvSpPr>
          <p:cNvPr id="57" name="AutoShape 57"/>
          <p:cNvSpPr/>
          <p:nvPr/>
        </p:nvSpPr>
        <p:spPr>
          <a:xfrm>
            <a:off x="6908800" y="35687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58" name="AutoShape 58"/>
          <p:cNvSpPr/>
          <p:nvPr/>
        </p:nvSpPr>
        <p:spPr>
          <a:xfrm>
            <a:off x="7823200" y="35687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59" name="AutoShape 59"/>
          <p:cNvSpPr/>
          <p:nvPr/>
        </p:nvSpPr>
        <p:spPr>
          <a:xfrm>
            <a:off x="8737600" y="35687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60" name="AutoShape 60"/>
          <p:cNvSpPr/>
          <p:nvPr/>
        </p:nvSpPr>
        <p:spPr>
          <a:xfrm>
            <a:off x="9652000" y="35687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61" name="AutoShape 61"/>
          <p:cNvSpPr/>
          <p:nvPr/>
        </p:nvSpPr>
        <p:spPr>
          <a:xfrm>
            <a:off x="10566400" y="35687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62" name="AutoShape 62"/>
          <p:cNvSpPr/>
          <p:nvPr/>
        </p:nvSpPr>
        <p:spPr>
          <a:xfrm>
            <a:off x="5257800" y="3886200"/>
            <a:ext cx="6223000" cy="406400"/>
          </a:xfrm>
          <a:prstGeom prst="roundRect">
            <a:avLst>
              <a:gd name="adj" fmla="val 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3" name="AutoShape 63"/>
          <p:cNvSpPr/>
          <p:nvPr/>
        </p:nvSpPr>
        <p:spPr>
          <a:xfrm>
            <a:off x="5384800" y="3987800"/>
            <a:ext cx="1498600" cy="2286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950" b="0" i="0" u="none" strike="noStrike">
                <a:solidFill>
                  <a:srgbClr val="2B2F36"/>
                </a:solidFill>
                <a:latin typeface="Noto Sans SC"/>
                <a:ea typeface="Noto Sans SC"/>
                <a:cs typeface="Noto Sans SC"/>
                <a:sym typeface="Noto Sans SC"/>
              </a:rPr>
              <a:t>llama.cpp · Win</a:t>
            </a:r>
            <a:endParaRPr lang="en-US" sz="1100"/>
          </a:p>
        </p:txBody>
      </p:sp>
      <p:sp>
        <p:nvSpPr>
          <p:cNvPr id="64" name="AutoShape 64"/>
          <p:cNvSpPr/>
          <p:nvPr/>
        </p:nvSpPr>
        <p:spPr>
          <a:xfrm>
            <a:off x="6908800" y="39751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65" name="AutoShape 65"/>
          <p:cNvSpPr/>
          <p:nvPr/>
        </p:nvSpPr>
        <p:spPr>
          <a:xfrm>
            <a:off x="7823200" y="39751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949EA6"/>
                </a:solidFill>
                <a:latin typeface="Roboto Mono"/>
                <a:ea typeface="Roboto Mono"/>
                <a:cs typeface="Roboto Mono"/>
                <a:sym typeface="Roboto Mono"/>
              </a:rPr>
              <a:t>—</a:t>
            </a:r>
            <a:endParaRPr lang="en-US" sz="1100"/>
          </a:p>
        </p:txBody>
      </p:sp>
      <p:sp>
        <p:nvSpPr>
          <p:cNvPr id="66" name="AutoShape 66"/>
          <p:cNvSpPr/>
          <p:nvPr/>
        </p:nvSpPr>
        <p:spPr>
          <a:xfrm>
            <a:off x="8737600" y="39751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949EA6"/>
                </a:solidFill>
                <a:latin typeface="Roboto Mono"/>
                <a:ea typeface="Roboto Mono"/>
                <a:cs typeface="Roboto Mono"/>
                <a:sym typeface="Roboto Mono"/>
              </a:rPr>
              <a:t>—</a:t>
            </a:r>
            <a:endParaRPr lang="en-US" sz="1100"/>
          </a:p>
        </p:txBody>
      </p:sp>
      <p:sp>
        <p:nvSpPr>
          <p:cNvPr id="67" name="AutoShape 67"/>
          <p:cNvSpPr/>
          <p:nvPr/>
        </p:nvSpPr>
        <p:spPr>
          <a:xfrm>
            <a:off x="9652000" y="39751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CED2D6"/>
                </a:solidFill>
                <a:latin typeface="Roboto Mono"/>
                <a:ea typeface="Roboto Mono"/>
                <a:cs typeface="Roboto Mono"/>
                <a:sym typeface="Roboto Mono"/>
              </a:rPr>
              <a:t>N/A</a:t>
            </a:r>
            <a:endParaRPr lang="en-US" sz="1100"/>
          </a:p>
        </p:txBody>
      </p:sp>
      <p:sp>
        <p:nvSpPr>
          <p:cNvPr id="68" name="AutoShape 68"/>
          <p:cNvSpPr/>
          <p:nvPr/>
        </p:nvSpPr>
        <p:spPr>
          <a:xfrm>
            <a:off x="10566400" y="39751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69" name="AutoShape 69"/>
          <p:cNvSpPr/>
          <p:nvPr/>
        </p:nvSpPr>
        <p:spPr>
          <a:xfrm>
            <a:off x="5257800" y="4292600"/>
            <a:ext cx="6223000" cy="4064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0" name="AutoShape 70"/>
          <p:cNvSpPr/>
          <p:nvPr/>
        </p:nvSpPr>
        <p:spPr>
          <a:xfrm>
            <a:off x="5384800" y="4394200"/>
            <a:ext cx="1498600" cy="2286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950" b="0" i="0" u="none" strike="noStrike">
                <a:solidFill>
                  <a:srgbClr val="2B2F36"/>
                </a:solidFill>
                <a:latin typeface="Noto Sans SC"/>
                <a:ea typeface="Noto Sans SC"/>
                <a:cs typeface="Noto Sans SC"/>
                <a:sym typeface="Noto Sans SC"/>
              </a:rPr>
              <a:t>vLLM</a:t>
            </a:r>
            <a:endParaRPr lang="en-US" sz="1100"/>
          </a:p>
        </p:txBody>
      </p:sp>
      <p:sp>
        <p:nvSpPr>
          <p:cNvPr id="71" name="AutoShape 71"/>
          <p:cNvSpPr/>
          <p:nvPr/>
        </p:nvSpPr>
        <p:spPr>
          <a:xfrm>
            <a:off x="6908800" y="4381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72" name="AutoShape 72"/>
          <p:cNvSpPr/>
          <p:nvPr/>
        </p:nvSpPr>
        <p:spPr>
          <a:xfrm>
            <a:off x="7823200" y="4381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73" name="AutoShape 73"/>
          <p:cNvSpPr/>
          <p:nvPr/>
        </p:nvSpPr>
        <p:spPr>
          <a:xfrm>
            <a:off x="8737600" y="4381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949EA6"/>
                </a:solidFill>
                <a:latin typeface="Roboto Mono"/>
                <a:ea typeface="Roboto Mono"/>
                <a:cs typeface="Roboto Mono"/>
                <a:sym typeface="Roboto Mono"/>
              </a:rPr>
              <a:t>—</a:t>
            </a:r>
            <a:endParaRPr lang="en-US" sz="1100"/>
          </a:p>
        </p:txBody>
      </p:sp>
      <p:sp>
        <p:nvSpPr>
          <p:cNvPr id="74" name="AutoShape 74"/>
          <p:cNvSpPr/>
          <p:nvPr/>
        </p:nvSpPr>
        <p:spPr>
          <a:xfrm>
            <a:off x="9652000" y="4381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949EA6"/>
                </a:solidFill>
                <a:latin typeface="Roboto Mono"/>
                <a:ea typeface="Roboto Mono"/>
                <a:cs typeface="Roboto Mono"/>
                <a:sym typeface="Roboto Mono"/>
              </a:rPr>
              <a:t>—</a:t>
            </a:r>
            <a:endParaRPr lang="en-US" sz="1100"/>
          </a:p>
        </p:txBody>
      </p:sp>
      <p:sp>
        <p:nvSpPr>
          <p:cNvPr id="75" name="AutoShape 75"/>
          <p:cNvSpPr/>
          <p:nvPr/>
        </p:nvSpPr>
        <p:spPr>
          <a:xfrm>
            <a:off x="10566400" y="4381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949EA6"/>
                </a:solidFill>
                <a:latin typeface="Roboto Mono"/>
                <a:ea typeface="Roboto Mono"/>
                <a:cs typeface="Roboto Mono"/>
                <a:sym typeface="Roboto Mono"/>
              </a:rPr>
              <a:t>—</a:t>
            </a:r>
            <a:endParaRPr lang="en-US" sz="1100"/>
          </a:p>
        </p:txBody>
      </p:sp>
      <p:sp>
        <p:nvSpPr>
          <p:cNvPr id="76" name="AutoShape 76"/>
          <p:cNvSpPr/>
          <p:nvPr/>
        </p:nvSpPr>
        <p:spPr>
          <a:xfrm>
            <a:off x="5384800" y="4800600"/>
            <a:ext cx="381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6FA39B"/>
                </a:solidFill>
                <a:latin typeface="Roboto Mono"/>
                <a:ea typeface="Roboto Mono"/>
                <a:cs typeface="Roboto Mono"/>
                <a:sym typeface="Roboto Mono"/>
              </a:rPr>
              <a:t>●</a:t>
            </a:r>
            <a:endParaRPr lang="en-US" sz="1100"/>
          </a:p>
        </p:txBody>
      </p:sp>
      <p:sp>
        <p:nvSpPr>
          <p:cNvPr id="77" name="AutoShape 77"/>
          <p:cNvSpPr/>
          <p:nvPr/>
        </p:nvSpPr>
        <p:spPr>
          <a:xfrm>
            <a:off x="5638800" y="4813300"/>
            <a:ext cx="152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原生支持</a:t>
            </a:r>
            <a:endParaRPr lang="en-US" sz="1100"/>
          </a:p>
        </p:txBody>
      </p:sp>
      <p:sp>
        <p:nvSpPr>
          <p:cNvPr id="78" name="AutoShape 78"/>
          <p:cNvSpPr/>
          <p:nvPr/>
        </p:nvSpPr>
        <p:spPr>
          <a:xfrm>
            <a:off x="7289800" y="4800600"/>
            <a:ext cx="381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D9962E"/>
                </a:solidFill>
                <a:latin typeface="Roboto Mono"/>
                <a:ea typeface="Roboto Mono"/>
                <a:cs typeface="Roboto Mono"/>
                <a:sym typeface="Roboto Mono"/>
              </a:rPr>
              <a:t>◐</a:t>
            </a:r>
            <a:endParaRPr lang="en-US" sz="1100"/>
          </a:p>
        </p:txBody>
      </p:sp>
      <p:sp>
        <p:nvSpPr>
          <p:cNvPr id="79" name="AutoShape 79"/>
          <p:cNvSpPr/>
          <p:nvPr/>
        </p:nvSpPr>
        <p:spPr>
          <a:xfrm>
            <a:off x="7543800" y="4813300"/>
            <a:ext cx="152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需额外配置</a:t>
            </a:r>
            <a:endParaRPr lang="en-US" sz="1100"/>
          </a:p>
        </p:txBody>
      </p:sp>
      <p:sp>
        <p:nvSpPr>
          <p:cNvPr id="80" name="AutoShape 80"/>
          <p:cNvSpPr/>
          <p:nvPr/>
        </p:nvSpPr>
        <p:spPr>
          <a:xfrm>
            <a:off x="9194800" y="4800600"/>
            <a:ext cx="381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949EA6"/>
                </a:solidFill>
                <a:latin typeface="Roboto Mono"/>
                <a:ea typeface="Roboto Mono"/>
                <a:cs typeface="Roboto Mono"/>
                <a:sym typeface="Roboto Mono"/>
              </a:rPr>
              <a:t>—</a:t>
            </a:r>
            <a:endParaRPr lang="en-US" sz="1100"/>
          </a:p>
        </p:txBody>
      </p:sp>
      <p:sp>
        <p:nvSpPr>
          <p:cNvPr id="81" name="AutoShape 81"/>
          <p:cNvSpPr/>
          <p:nvPr/>
        </p:nvSpPr>
        <p:spPr>
          <a:xfrm>
            <a:off x="9448800" y="4813300"/>
            <a:ext cx="152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不支持</a:t>
            </a:r>
            <a:endParaRPr lang="en-US" sz="1100"/>
          </a:p>
        </p:txBody>
      </p:sp>
      <p:sp>
        <p:nvSpPr>
          <p:cNvPr id="82" name="AutoShape 82"/>
          <p:cNvSpPr/>
          <p:nvPr/>
        </p:nvSpPr>
        <p:spPr>
          <a:xfrm>
            <a:off x="685800" y="5588000"/>
            <a:ext cx="10820400" cy="685800"/>
          </a:xfrm>
          <a:prstGeom prst="roundRect">
            <a:avLst>
              <a:gd name="adj" fmla="val 14814"/>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3" name="AutoShape 83"/>
          <p:cNvSpPr/>
          <p:nvPr/>
        </p:nvSpPr>
        <p:spPr>
          <a:xfrm>
            <a:off x="685800" y="5588000"/>
            <a:ext cx="50800" cy="6858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4" name="AutoShape 84"/>
          <p:cNvSpPr/>
          <p:nvPr/>
        </p:nvSpPr>
        <p:spPr>
          <a:xfrm>
            <a:off x="990600" y="5765800"/>
            <a:ext cx="104140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D9962E"/>
                </a:solidFill>
                <a:latin typeface="Roboto Mono"/>
                <a:ea typeface="Roboto Mono"/>
                <a:cs typeface="Roboto Mono"/>
                <a:sym typeface="Roboto Mono"/>
              </a:rPr>
              <a:t>67 天 · 246 次提交</a:t>
            </a:r>
            <a:r>
              <a:rPr lang="en-US" sz="1200" b="0" i="0" u="none" strike="noStrike">
                <a:solidFill>
                  <a:srgbClr val="FFFFFF"/>
                </a:solidFill>
                <a:latin typeface="Noto Sans SC"/>
                <a:ea typeface="Noto Sans SC"/>
                <a:cs typeface="Noto Sans SC"/>
                <a:sym typeface="Noto Sans SC"/>
              </a:rPr>
              <a:t>（2026-06-28 → 09-03），另有 914 段手写样本——从算法到产品全部自主完成</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1F2E38">
                <a:alpha val="100000"/>
              </a:srgbClr>
            </a:gs>
            <a:gs pos="100000">
              <a:srgbClr val="16222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85800" y="5080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8C9CA8"/>
                </a:solidFill>
                <a:latin typeface="Roboto Mono"/>
                <a:ea typeface="Roboto Mono"/>
                <a:cs typeface="Roboto Mono"/>
                <a:sym typeface="Roboto Mono"/>
              </a:rPr>
              <a:t>NIVIS · GRADUATION DEFENSE</a:t>
            </a:r>
            <a:endParaRPr lang="en-US" sz="1100"/>
          </a:p>
        </p:txBody>
      </p:sp>
      <p:sp>
        <p:nvSpPr>
          <p:cNvPr id="4" name="AutoShape 4"/>
          <p:cNvSpPr/>
          <p:nvPr/>
        </p:nvSpPr>
        <p:spPr>
          <a:xfrm>
            <a:off x="635000" y="1905000"/>
            <a:ext cx="3302000" cy="2540000"/>
          </a:xfrm>
          <a:prstGeom prst="rect">
            <a:avLst/>
          </a:prstGeom>
          <a:noFill/>
          <a:ln w="12700" cap="flat" cmpd="sng">
            <a:noFill/>
            <a:prstDash val="solid"/>
            <a:round/>
          </a:ln>
        </p:spPr>
        <p:txBody>
          <a:bodyPr vert="horz" wrap="none" lIns="0" tIns="0" rIns="0" bIns="0" rtlCol="0" anchor="ctr" anchorCtr="0"/>
          <a:lstStyle/>
          <a:p>
            <a:pPr marL="0" indent="0" algn="l">
              <a:lnSpc>
                <a:spcPct val="112500"/>
              </a:lnSpc>
              <a:defRPr/>
            </a:pPr>
            <a:r>
              <a:rPr lang="en-US" sz="15000" b="1" i="0" u="none" strike="noStrike">
                <a:solidFill>
                  <a:srgbClr val="4A7FA5">
                    <a:alpha val="54902"/>
                  </a:srgbClr>
                </a:solidFill>
                <a:latin typeface="Roboto Mono"/>
                <a:ea typeface="Roboto Mono"/>
                <a:cs typeface="Roboto Mono"/>
                <a:sym typeface="Roboto Mono"/>
              </a:rPr>
              <a:t>05</a:t>
            </a:r>
            <a:endParaRPr lang="en-US" sz="1100"/>
          </a:p>
        </p:txBody>
      </p:sp>
      <p:sp>
        <p:nvSpPr>
          <p:cNvPr id="5" name="AutoShape 5"/>
          <p:cNvSpPr/>
          <p:nvPr/>
        </p:nvSpPr>
        <p:spPr>
          <a:xfrm>
            <a:off x="3810000" y="2768600"/>
            <a:ext cx="50800" cy="812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4114800" y="2641600"/>
            <a:ext cx="7112000" cy="635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4000" b="1" i="0" u="none" strike="noStrike">
                <a:solidFill>
                  <a:srgbClr val="FFFFFF"/>
                </a:solidFill>
                <a:latin typeface="Noto Sans SC"/>
                <a:ea typeface="Noto Sans SC"/>
                <a:cs typeface="Noto Sans SC"/>
                <a:sym typeface="Noto Sans SC"/>
              </a:rPr>
              <a:t>系统演示</a:t>
            </a:r>
            <a:endParaRPr lang="en-US" sz="1100"/>
          </a:p>
        </p:txBody>
      </p:sp>
      <p:sp>
        <p:nvSpPr>
          <p:cNvPr id="7" name="AutoShape 7"/>
          <p:cNvSpPr/>
          <p:nvPr/>
        </p:nvSpPr>
        <p:spPr>
          <a:xfrm>
            <a:off x="4140200" y="3276600"/>
            <a:ext cx="7112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0" i="0" u="none" strike="noStrike">
                <a:solidFill>
                  <a:srgbClr val="8296A2"/>
                </a:solidFill>
                <a:latin typeface="Roboto Mono"/>
                <a:ea typeface="Roboto Mono"/>
                <a:cs typeface="Roboto Mono"/>
                <a:sym typeface="Roboto Mono"/>
              </a:rPr>
              <a:t>LIVE SYSTEM · A FULL-STACK PRODUCT, NOT A DEMO</a:t>
            </a:r>
            <a:endParaRPr lang="en-US" sz="1100"/>
          </a:p>
        </p:txBody>
      </p:sp>
      <p:sp>
        <p:nvSpPr>
          <p:cNvPr id="8" name="AutoShape 8"/>
          <p:cNvSpPr/>
          <p:nvPr/>
        </p:nvSpPr>
        <p:spPr>
          <a:xfrm>
            <a:off x="4140200" y="3708400"/>
            <a:ext cx="7112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C6D2DA"/>
                </a:solidFill>
                <a:latin typeface="Noto Sans SC"/>
                <a:ea typeface="Noto Sans SC"/>
                <a:cs typeface="Noto Sans SC"/>
                <a:sym typeface="Noto Sans SC"/>
              </a:rPr>
              <a:t>从粘贴代码到 SARIF 报告，每一个界面背后，都是刚才那套引擎在真实运行。</a:t>
            </a:r>
            <a:endParaRPr lang="en-US" sz="1100"/>
          </a:p>
        </p:txBody>
      </p:sp>
      <p:sp>
        <p:nvSpPr>
          <p:cNvPr id="9" name="AutoShape 9"/>
          <p:cNvSpPr/>
          <p:nvPr/>
        </p:nvSpPr>
        <p:spPr>
          <a:xfrm>
            <a:off x="4140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140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01 研究背景</a:t>
            </a:r>
            <a:endParaRPr lang="en-US" sz="1100"/>
          </a:p>
        </p:txBody>
      </p:sp>
      <p:sp>
        <p:nvSpPr>
          <p:cNvPr id="11" name="AutoShape 11"/>
          <p:cNvSpPr/>
          <p:nvPr/>
        </p:nvSpPr>
        <p:spPr>
          <a:xfrm>
            <a:off x="52578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2578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02 研究目标</a:t>
            </a:r>
            <a:endParaRPr lang="en-US" sz="1100"/>
          </a:p>
        </p:txBody>
      </p:sp>
      <p:sp>
        <p:nvSpPr>
          <p:cNvPr id="13" name="AutoShape 13"/>
          <p:cNvSpPr/>
          <p:nvPr/>
        </p:nvSpPr>
        <p:spPr>
          <a:xfrm>
            <a:off x="63754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3754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03 我们的价值</a:t>
            </a:r>
            <a:endParaRPr lang="en-US" sz="1100"/>
          </a:p>
        </p:txBody>
      </p:sp>
      <p:sp>
        <p:nvSpPr>
          <p:cNvPr id="15" name="AutoShape 15"/>
          <p:cNvSpPr/>
          <p:nvPr/>
        </p:nvSpPr>
        <p:spPr>
          <a:xfrm>
            <a:off x="74930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74930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04 项目的价值</a:t>
            </a:r>
            <a:endParaRPr lang="en-US" sz="1100"/>
          </a:p>
        </p:txBody>
      </p:sp>
      <p:sp>
        <p:nvSpPr>
          <p:cNvPr id="17" name="AutoShape 17"/>
          <p:cNvSpPr/>
          <p:nvPr/>
        </p:nvSpPr>
        <p:spPr>
          <a:xfrm>
            <a:off x="8610600" y="4902200"/>
            <a:ext cx="508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6106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E8DEC8"/>
                </a:solidFill>
                <a:latin typeface="Noto Sans SC"/>
                <a:ea typeface="Noto Sans SC"/>
                <a:cs typeface="Noto Sans SC"/>
                <a:sym typeface="Noto Sans SC"/>
              </a:rPr>
              <a:t>05 系统演示</a:t>
            </a:r>
            <a:endParaRPr lang="en-US" sz="1100"/>
          </a:p>
        </p:txBody>
      </p:sp>
      <p:sp>
        <p:nvSpPr>
          <p:cNvPr id="19" name="AutoShape 19"/>
          <p:cNvSpPr/>
          <p:nvPr/>
        </p:nvSpPr>
        <p:spPr>
          <a:xfrm>
            <a:off x="9728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728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06 未来规划</a:t>
            </a:r>
            <a:endParaRPr lang="en-US" sz="1100"/>
          </a:p>
        </p:txBody>
      </p:sp>
      <p:sp>
        <p:nvSpPr>
          <p:cNvPr id="21" name="AutoShape 21"/>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6E7E8A"/>
                </a:solidFill>
                <a:latin typeface="Noto Sans SC"/>
                <a:ea typeface="Noto Sans SC"/>
                <a:cs typeface="Noto Sans SC"/>
                <a:sym typeface="Noto Sans SC"/>
              </a:rPr>
              <a:t>Nivis · 基于大语言模型的代码安全分析系统</a:t>
            </a:r>
            <a:endParaRPr lang="en-US" sz="1100"/>
          </a:p>
        </p:txBody>
      </p:sp>
      <p:sp>
        <p:nvSpPr>
          <p:cNvPr id="22" name="AutoShape 22"/>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6E7E8A"/>
                </a:solidFill>
                <a:latin typeface="Roboto Mono"/>
                <a:ea typeface="Roboto Mono"/>
                <a:cs typeface="Roboto Mono"/>
                <a:sym typeface="Roboto Mono"/>
              </a:rPr>
              <a:t>24 / 30</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05 系统演示</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总览与扫描工作台：从代码输入到逐条裁决，全程可视</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25 / 30</a:t>
            </a:r>
            <a:endParaRPr lang="en-US" sz="1100"/>
          </a:p>
        </p:txBody>
      </p:sp>
      <p:sp>
        <p:nvSpPr>
          <p:cNvPr id="8" name="AutoShape 8"/>
          <p:cNvSpPr/>
          <p:nvPr/>
        </p:nvSpPr>
        <p:spPr>
          <a:xfrm>
            <a:off x="584200" y="1574800"/>
            <a:ext cx="4013200" cy="2184400"/>
          </a:xfrm>
          <a:prstGeom prst="roundRect">
            <a:avLst>
              <a:gd name="adj" fmla="val 3488"/>
            </a:avLst>
          </a:prstGeom>
          <a:solidFill>
            <a:srgbClr val="FFFFFF">
              <a:alpha val="100000"/>
            </a:srgbClr>
          </a:solidFill>
          <a:ln w="12700" cap="flat" cmpd="sng">
            <a:solidFill>
              <a:srgbClr val="DCE0E4">
                <a:alpha val="10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3"/>
          <a:srcRect t="3598" b="3598"/>
          <a:stretch>
            <a:fillRect/>
          </a:stretch>
        </p:blipFill>
        <p:spPr>
          <a:xfrm>
            <a:off x="685800" y="1676400"/>
            <a:ext cx="3810000" cy="1981200"/>
          </a:xfrm>
          <a:prstGeom prst="rect">
            <a:avLst/>
          </a:prstGeom>
          <a:noFill/>
          <a:ln w="25400" cap="flat" cmpd="sng">
            <a:noFill/>
            <a:prstDash val="solid"/>
            <a:round/>
          </a:ln>
        </p:spPr>
      </p:pic>
      <p:sp>
        <p:nvSpPr>
          <p:cNvPr id="10" name="AutoShape 10"/>
          <p:cNvSpPr/>
          <p:nvPr/>
        </p:nvSpPr>
        <p:spPr>
          <a:xfrm>
            <a:off x="4800600" y="1574800"/>
            <a:ext cx="6705600" cy="2184400"/>
          </a:xfrm>
          <a:prstGeom prst="roundRect">
            <a:avLst>
              <a:gd name="adj" fmla="val 465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800600" y="1574800"/>
            <a:ext cx="50800" cy="21844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080000" y="1752600"/>
            <a:ext cx="762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800" b="1" i="0" u="none" strike="noStrike">
                <a:solidFill>
                  <a:srgbClr val="4A7FA5"/>
                </a:solidFill>
                <a:latin typeface="Roboto Mono"/>
                <a:ea typeface="Roboto Mono"/>
                <a:cs typeface="Roboto Mono"/>
                <a:sym typeface="Roboto Mono"/>
              </a:rPr>
              <a:t>01</a:t>
            </a:r>
            <a:endParaRPr lang="en-US" sz="1100"/>
          </a:p>
        </p:txBody>
      </p:sp>
      <p:sp>
        <p:nvSpPr>
          <p:cNvPr id="13" name="AutoShape 13"/>
          <p:cNvSpPr/>
          <p:nvPr/>
        </p:nvSpPr>
        <p:spPr>
          <a:xfrm>
            <a:off x="5638800" y="1803400"/>
            <a:ext cx="5588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2B2F36"/>
                </a:solidFill>
                <a:latin typeface="Noto Sans SC"/>
                <a:ea typeface="Noto Sans SC"/>
                <a:cs typeface="Noto Sans SC"/>
                <a:sym typeface="Noto Sans SC"/>
              </a:rPr>
              <a:t>仪表盘 · 系统总览</a:t>
            </a:r>
            <a:endParaRPr lang="en-US" sz="1100"/>
          </a:p>
        </p:txBody>
      </p:sp>
      <p:sp>
        <p:nvSpPr>
          <p:cNvPr id="14" name="AutoShape 14"/>
          <p:cNvSpPr/>
          <p:nvPr/>
        </p:nvSpPr>
        <p:spPr>
          <a:xfrm>
            <a:off x="5638800" y="2184400"/>
            <a:ext cx="5664200" cy="13970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sz="1150" b="0" i="0" u="none" strike="noStrike">
                <a:solidFill>
                  <a:srgbClr val="5B6770"/>
                </a:solidFill>
                <a:latin typeface="Noto Sans SC"/>
                <a:ea typeface="Noto Sans SC"/>
                <a:cs typeface="Noto Sans SC"/>
                <a:sym typeface="Noto Sans SC"/>
              </a:rPr>
              <a:t>四后端运行状态实时可见；汇总扫描文件数、待修数量，</a:t>
            </a:r>
            <a:endParaRPr lang="en-US" sz="1100"/>
          </a:p>
          <a:p>
            <a:pPr marL="0" indent="0" algn="l">
              <a:lnSpc>
                <a:spcPct val="133333"/>
              </a:lnSpc>
            </a:pPr>
            <a:r>
              <a:rPr lang="en-US" sz="1150" b="0" i="0" u="none" strike="noStrike">
                <a:solidFill>
                  <a:srgbClr val="5B6770"/>
                </a:solidFill>
                <a:latin typeface="Noto Sans SC"/>
                <a:ea typeface="Noto Sans SC"/>
                <a:cs typeface="Noto Sans SC"/>
                <a:sym typeface="Noto Sans SC"/>
              </a:rPr>
              <a:t>展示风险分 7.7、安全评分与历史趋势，</a:t>
            </a:r>
          </a:p>
          <a:p>
            <a:pPr marL="0" indent="0" algn="l">
              <a:lnSpc>
                <a:spcPct val="133333"/>
              </a:lnSpc>
            </a:pPr>
            <a:r>
              <a:rPr lang="en-US" sz="1150" b="0" i="0" u="none" strike="noStrike">
                <a:solidFill>
                  <a:srgbClr val="5B6770"/>
                </a:solidFill>
                <a:latin typeface="Noto Sans SC"/>
                <a:ea typeface="Noto Sans SC"/>
                <a:cs typeface="Noto Sans SC"/>
                <a:sym typeface="Noto Sans SC"/>
              </a:rPr>
              <a:t>一屏掌握仓库整体安全态势。</a:t>
            </a:r>
          </a:p>
        </p:txBody>
      </p:sp>
      <p:sp>
        <p:nvSpPr>
          <p:cNvPr id="15" name="AutoShape 15"/>
          <p:cNvSpPr/>
          <p:nvPr/>
        </p:nvSpPr>
        <p:spPr>
          <a:xfrm>
            <a:off x="584200" y="3962400"/>
            <a:ext cx="4013200" cy="2108200"/>
          </a:xfrm>
          <a:prstGeom prst="roundRect">
            <a:avLst>
              <a:gd name="adj" fmla="val 3614"/>
            </a:avLst>
          </a:prstGeom>
          <a:solidFill>
            <a:srgbClr val="FFFFFF">
              <a:alpha val="100000"/>
            </a:srgbClr>
          </a:solidFill>
          <a:ln w="12700" cap="flat" cmpd="sng">
            <a:solidFill>
              <a:srgbClr val="DCE0E4">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4"/>
          <a:srcRect l="276" r="276"/>
          <a:stretch>
            <a:fillRect/>
          </a:stretch>
        </p:blipFill>
        <p:spPr>
          <a:xfrm>
            <a:off x="685800" y="4064000"/>
            <a:ext cx="3810000" cy="1905000"/>
          </a:xfrm>
          <a:prstGeom prst="rect">
            <a:avLst/>
          </a:prstGeom>
          <a:noFill/>
          <a:ln w="25400" cap="flat" cmpd="sng">
            <a:noFill/>
            <a:prstDash val="solid"/>
            <a:round/>
          </a:ln>
        </p:spPr>
      </p:pic>
      <p:sp>
        <p:nvSpPr>
          <p:cNvPr id="17" name="AutoShape 17"/>
          <p:cNvSpPr/>
          <p:nvPr/>
        </p:nvSpPr>
        <p:spPr>
          <a:xfrm>
            <a:off x="4800600" y="3962400"/>
            <a:ext cx="6705600" cy="2108200"/>
          </a:xfrm>
          <a:prstGeom prst="roundRect">
            <a:avLst>
              <a:gd name="adj" fmla="val 4819"/>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4800600" y="3962400"/>
            <a:ext cx="50800" cy="21082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5080000" y="4140200"/>
            <a:ext cx="762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800" b="1" i="0" u="none" strike="noStrike">
                <a:solidFill>
                  <a:srgbClr val="6FA39B"/>
                </a:solidFill>
                <a:latin typeface="Roboto Mono"/>
                <a:ea typeface="Roboto Mono"/>
                <a:cs typeface="Roboto Mono"/>
                <a:sym typeface="Roboto Mono"/>
              </a:rPr>
              <a:t>02</a:t>
            </a:r>
            <a:endParaRPr lang="en-US" sz="1100"/>
          </a:p>
        </p:txBody>
      </p:sp>
      <p:sp>
        <p:nvSpPr>
          <p:cNvPr id="20" name="AutoShape 20"/>
          <p:cNvSpPr/>
          <p:nvPr/>
        </p:nvSpPr>
        <p:spPr>
          <a:xfrm>
            <a:off x="5638800" y="4191000"/>
            <a:ext cx="5588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2B2F36"/>
                </a:solidFill>
                <a:latin typeface="Noto Sans SC"/>
                <a:ea typeface="Noto Sans SC"/>
                <a:cs typeface="Noto Sans SC"/>
                <a:sym typeface="Noto Sans SC"/>
              </a:rPr>
              <a:t>扫描工作台 · 主流程与可干预裁决</a:t>
            </a:r>
            <a:endParaRPr lang="en-US" sz="1100"/>
          </a:p>
        </p:txBody>
      </p:sp>
      <p:sp>
        <p:nvSpPr>
          <p:cNvPr id="21" name="AutoShape 21"/>
          <p:cNvSpPr/>
          <p:nvPr/>
        </p:nvSpPr>
        <p:spPr>
          <a:xfrm>
            <a:off x="5638800" y="4572000"/>
            <a:ext cx="5664200" cy="13970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sz="1150" b="0" i="0" u="none" strike="noStrike">
                <a:solidFill>
                  <a:srgbClr val="5B6770"/>
                </a:solidFill>
                <a:latin typeface="Noto Sans SC"/>
                <a:ea typeface="Noto Sans SC"/>
                <a:cs typeface="Noto Sans SC"/>
                <a:sym typeface="Noto Sans SC"/>
              </a:rPr>
              <a:t>粘贴或上传代码 → 开始分析；结果逐条展开：CWE 编号、</a:t>
            </a:r>
            <a:endParaRPr lang="en-US" sz="1100"/>
          </a:p>
          <a:p>
            <a:pPr marL="0" indent="0" algn="l">
              <a:lnSpc>
                <a:spcPct val="133333"/>
              </a:lnSpc>
            </a:pPr>
            <a:r>
              <a:rPr lang="en-US" sz="1150" b="0" i="0" u="none" strike="noStrike">
                <a:solidFill>
                  <a:srgbClr val="5B6770"/>
                </a:solidFill>
                <a:latin typeface="Noto Sans SC"/>
                <a:ea typeface="Noto Sans SC"/>
                <a:cs typeface="Noto Sans SC"/>
                <a:sym typeface="Noto Sans SC"/>
              </a:rPr>
              <a:t>命中行号、证据链、N=3 投票裁决与修复建议；每条显示</a:t>
            </a:r>
          </a:p>
          <a:p>
            <a:pPr marL="0" indent="0" algn="l">
              <a:lnSpc>
                <a:spcPct val="133333"/>
              </a:lnSpc>
            </a:pPr>
            <a:r>
              <a:rPr lang="en-US" sz="1150" b="0" i="0" u="none" strike="noStrike">
                <a:solidFill>
                  <a:srgbClr val="5B6770"/>
                </a:solidFill>
                <a:latin typeface="Noto Sans SC"/>
                <a:ea typeface="Noto Sans SC"/>
                <a:cs typeface="Noto Sans SC"/>
                <a:sym typeface="Noto Sans SC"/>
              </a:rPr>
              <a:t>置信度与一致性，抑制、回填、转人工均可一键操作。</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05 系统演示</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CWE 样本库与仓库级安全态势：从单条结论到全局视图</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26 / 30</a:t>
            </a:r>
            <a:endParaRPr lang="en-US" sz="1100"/>
          </a:p>
        </p:txBody>
      </p:sp>
      <p:sp>
        <p:nvSpPr>
          <p:cNvPr id="8" name="AutoShape 8"/>
          <p:cNvSpPr/>
          <p:nvPr/>
        </p:nvSpPr>
        <p:spPr>
          <a:xfrm>
            <a:off x="584200" y="1498600"/>
            <a:ext cx="5943600" cy="3327400"/>
          </a:xfrm>
          <a:prstGeom prst="roundRect">
            <a:avLst>
              <a:gd name="adj" fmla="val 2290"/>
            </a:avLst>
          </a:prstGeom>
          <a:solidFill>
            <a:srgbClr val="FFFFFF">
              <a:alpha val="100000"/>
            </a:srgbClr>
          </a:solidFill>
          <a:ln w="12700" cap="flat" cmpd="sng">
            <a:solidFill>
              <a:srgbClr val="DCE0E4">
                <a:alpha val="10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3"/>
          <a:srcRect t="1654" b="1654"/>
          <a:stretch>
            <a:fillRect/>
          </a:stretch>
        </p:blipFill>
        <p:spPr>
          <a:xfrm>
            <a:off x="685800" y="1600200"/>
            <a:ext cx="5740400" cy="3124200"/>
          </a:xfrm>
          <a:prstGeom prst="rect">
            <a:avLst/>
          </a:prstGeom>
          <a:noFill/>
          <a:ln w="25400" cap="flat" cmpd="sng">
            <a:noFill/>
            <a:prstDash val="solid"/>
            <a:round/>
          </a:ln>
        </p:spPr>
      </p:pic>
      <p:sp>
        <p:nvSpPr>
          <p:cNvPr id="10" name="AutoShape 10"/>
          <p:cNvSpPr/>
          <p:nvPr/>
        </p:nvSpPr>
        <p:spPr>
          <a:xfrm>
            <a:off x="685800" y="4978400"/>
            <a:ext cx="5740400" cy="1219200"/>
          </a:xfrm>
          <a:prstGeom prst="roundRect">
            <a:avLst>
              <a:gd name="adj" fmla="val 8333"/>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85800" y="4978400"/>
            <a:ext cx="50800" cy="1219200"/>
          </a:xfrm>
          <a:prstGeom prst="roundRect">
            <a:avLst>
              <a:gd name="adj" fmla="val 5000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939800" y="5130800"/>
            <a:ext cx="5334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345E80"/>
                </a:solidFill>
                <a:latin typeface="Noto Sans SC"/>
                <a:ea typeface="Noto Sans SC"/>
                <a:cs typeface="Noto Sans SC"/>
                <a:sym typeface="Noto Sans SC"/>
              </a:rPr>
              <a:t>① CWE 样本库</a:t>
            </a:r>
            <a:endParaRPr lang="en-US" sz="1100"/>
          </a:p>
        </p:txBody>
      </p:sp>
      <p:sp>
        <p:nvSpPr>
          <p:cNvPr id="13" name="AutoShape 13"/>
          <p:cNvSpPr/>
          <p:nvPr/>
        </p:nvSpPr>
        <p:spPr>
          <a:xfrm>
            <a:off x="939800" y="5435600"/>
            <a:ext cx="53340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2B2F36"/>
                </a:solidFill>
                <a:latin typeface="Noto Sans SC"/>
                <a:ea typeface="Noto Sans SC"/>
                <a:cs typeface="Noto Sans SC"/>
                <a:sym typeface="Noto Sans SC"/>
              </a:rPr>
              <a:t>19 类 CWE 卡片，每类含风险等级、正反代码样例与修复模式；</a:t>
            </a:r>
            <a:endParaRPr lang="en-US" sz="1100"/>
          </a:p>
          <a:p>
            <a:pPr marL="0" indent="0" algn="l">
              <a:lnSpc>
                <a:spcPct val="125000"/>
              </a:lnSpc>
            </a:pPr>
            <a:r>
              <a:rPr lang="en-US" sz="1050" b="0" i="0" u="none" strike="noStrike">
                <a:solidFill>
                  <a:srgbClr val="2B2F36"/>
                </a:solidFill>
                <a:latin typeface="Noto Sans SC"/>
                <a:ea typeface="Noto Sans SC"/>
                <a:cs typeface="Noto Sans SC"/>
                <a:sym typeface="Noto Sans SC"/>
              </a:rPr>
              <a:t>它既是裁决时 RAG 的知识来源，也是安全审计的学习库。</a:t>
            </a:r>
          </a:p>
        </p:txBody>
      </p:sp>
      <p:sp>
        <p:nvSpPr>
          <p:cNvPr id="14" name="AutoShape 14"/>
          <p:cNvSpPr/>
          <p:nvPr/>
        </p:nvSpPr>
        <p:spPr>
          <a:xfrm>
            <a:off x="7924800" y="1498600"/>
            <a:ext cx="3581400" cy="4660900"/>
          </a:xfrm>
          <a:prstGeom prst="roundRect">
            <a:avLst>
              <a:gd name="adj" fmla="val 2127"/>
            </a:avLst>
          </a:prstGeom>
          <a:solidFill>
            <a:srgbClr val="FFFFFF">
              <a:alpha val="100000"/>
            </a:srgbClr>
          </a:solidFill>
          <a:ln w="12700" cap="flat" cmpd="sng">
            <a:solidFill>
              <a:srgbClr val="DCE0E4">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4"/>
          <a:srcRect t="510" b="510"/>
          <a:stretch>
            <a:fillRect/>
          </a:stretch>
        </p:blipFill>
        <p:spPr>
          <a:xfrm>
            <a:off x="8026400" y="1600200"/>
            <a:ext cx="3378200" cy="4457700"/>
          </a:xfrm>
          <a:prstGeom prst="rect">
            <a:avLst/>
          </a:prstGeom>
          <a:noFill/>
          <a:ln w="25400" cap="flat" cmpd="sng">
            <a:noFill/>
            <a:prstDash val="solid"/>
            <a:round/>
          </a:ln>
        </p:spPr>
      </p:pic>
      <p:sp>
        <p:nvSpPr>
          <p:cNvPr id="16" name="AutoShape 16"/>
          <p:cNvSpPr/>
          <p:nvPr/>
        </p:nvSpPr>
        <p:spPr>
          <a:xfrm>
            <a:off x="7924800" y="6248400"/>
            <a:ext cx="3581400" cy="279400"/>
          </a:xfrm>
          <a:prstGeom prst="roundRect">
            <a:avLst>
              <a:gd name="adj" fmla="val 18181"/>
            </a:avLst>
          </a:prstGeom>
          <a:solidFill>
            <a:srgbClr val="E9F2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026400" y="6286500"/>
            <a:ext cx="3429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3C6E66"/>
                </a:solidFill>
                <a:latin typeface="Noto Sans SC"/>
                <a:ea typeface="Noto Sans SC"/>
                <a:cs typeface="Noto Sans SC"/>
                <a:sym typeface="Noto Sans SC"/>
              </a:rPr>
              <a:t>② 安全态势：评分 · 分布 · 高危文件 · P1–P4 修复优先级</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F2E38">
                <a:alpha val="100000"/>
              </a:srgbClr>
            </a:gs>
            <a:gs pos="100000">
              <a:srgbClr val="142029">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85800" y="508000"/>
            <a:ext cx="381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D9962E"/>
                </a:solidFill>
                <a:latin typeface="Roboto Mono"/>
                <a:ea typeface="Roboto Mono"/>
                <a:cs typeface="Roboto Mono"/>
                <a:sym typeface="Roboto Mono"/>
              </a:rPr>
              <a:t>05 SYSTEM DEMO · 系统演示</a:t>
            </a:r>
            <a:endParaRPr lang="en-US" sz="1100"/>
          </a:p>
        </p:txBody>
      </p:sp>
      <p:sp>
        <p:nvSpPr>
          <p:cNvPr id="4" name="AutoShape 4"/>
          <p:cNvSpPr/>
          <p:nvPr/>
        </p:nvSpPr>
        <p:spPr>
          <a:xfrm>
            <a:off x="685800" y="762000"/>
            <a:ext cx="7620000" cy="457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2800" b="1" i="0" u="none" strike="noStrike">
                <a:solidFill>
                  <a:srgbClr val="FFFFFF"/>
                </a:solidFill>
                <a:latin typeface="Noto Sans SC"/>
                <a:ea typeface="Noto Sans SC"/>
                <a:cs typeface="Noto Sans SC"/>
                <a:sym typeface="Noto Sans SC"/>
              </a:rPr>
              <a:t>系统演示视频</a:t>
            </a:r>
            <a:endParaRPr lang="en-US" sz="1100"/>
          </a:p>
        </p:txBody>
      </p:sp>
      <p:sp>
        <p:nvSpPr>
          <p:cNvPr id="5" name="AutoShape 5"/>
          <p:cNvSpPr/>
          <p:nvPr/>
        </p:nvSpPr>
        <p:spPr>
          <a:xfrm>
            <a:off x="685800" y="1320800"/>
            <a:ext cx="6096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524000" y="1625600"/>
            <a:ext cx="9144000" cy="3327400"/>
          </a:xfrm>
          <a:prstGeom prst="roundRect">
            <a:avLst>
              <a:gd name="adj" fmla="val 4580"/>
            </a:avLst>
          </a:prstGeom>
          <a:solidFill>
            <a:srgbClr val="4A7FA5">
              <a:alpha val="7000"/>
            </a:srgbClr>
          </a:solidFill>
          <a:ln w="25400" cap="flat" cmpd="sng">
            <a:solidFill>
              <a:srgbClr val="D9962E">
                <a:alpha val="100000"/>
              </a:srgbClr>
            </a:solidFill>
            <a:prstDash val="dash"/>
            <a:round/>
          </a:ln>
        </p:spPr>
        <p:txBody>
          <a:bodyPr vert="horz" wrap="square" lIns="63500" tIns="63500" rIns="63500" bIns="63500" rtlCol="0" anchor="ctr"/>
          <a:lstStyle/>
          <a:p>
            <a:pPr algn="ctr">
              <a:defRPr/>
            </a:pPr>
            <a:endParaRPr/>
          </a:p>
        </p:txBody>
      </p:sp>
      <p:sp>
        <p:nvSpPr>
          <p:cNvPr id="7" name="AutoShape 7"/>
          <p:cNvSpPr/>
          <p:nvPr/>
        </p:nvSpPr>
        <p:spPr>
          <a:xfrm>
            <a:off x="5537200" y="2260600"/>
            <a:ext cx="1117600" cy="1117600"/>
          </a:xfrm>
          <a:prstGeom prst="ellipse">
            <a:avLst/>
          </a:prstGeom>
          <a:solidFill>
            <a:srgbClr val="D9962E">
              <a:alpha val="16000"/>
            </a:srgbClr>
          </a:solidFill>
          <a:ln w="25400" cap="flat" cmpd="sng">
            <a:solidFill>
              <a:srgbClr val="D9962E">
                <a:alpha val="10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67400" y="2590800"/>
            <a:ext cx="457200" cy="457200"/>
          </a:xfrm>
          <a:prstGeom prst="rect">
            <a:avLst/>
          </a:prstGeom>
        </p:spPr>
      </p:pic>
      <p:sp>
        <p:nvSpPr>
          <p:cNvPr id="9" name="AutoShape 9"/>
          <p:cNvSpPr/>
          <p:nvPr/>
        </p:nvSpPr>
        <p:spPr>
          <a:xfrm>
            <a:off x="1524000" y="3632200"/>
            <a:ext cx="9144000" cy="3048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700" b="1" i="0" u="none" strike="noStrike">
                <a:solidFill>
                  <a:srgbClr val="FFFFFF"/>
                </a:solidFill>
                <a:latin typeface="Noto Sans SC"/>
                <a:ea typeface="Noto Sans SC"/>
                <a:cs typeface="Noto Sans SC"/>
                <a:sym typeface="Noto Sans SC"/>
              </a:rPr>
              <a:t>演示视频占位 · 待插入</a:t>
            </a:r>
            <a:endParaRPr lang="en-US" sz="1100"/>
          </a:p>
        </p:txBody>
      </p:sp>
      <p:sp>
        <p:nvSpPr>
          <p:cNvPr id="10" name="AutoShape 10"/>
          <p:cNvSpPr/>
          <p:nvPr/>
        </p:nvSpPr>
        <p:spPr>
          <a:xfrm>
            <a:off x="1524000" y="4013200"/>
            <a:ext cx="9144000" cy="2032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000" b="0" i="0" u="none" strike="noStrike">
                <a:solidFill>
                  <a:srgbClr val="96A6B2"/>
                </a:solidFill>
                <a:latin typeface="Roboto Mono"/>
                <a:ea typeface="Roboto Mono"/>
                <a:cs typeface="Roboto Mono"/>
                <a:sym typeface="Roboto Mono"/>
              </a:rPr>
              <a:t>DEMO VIDEO PLACEHOLDER</a:t>
            </a:r>
            <a:endParaRPr lang="en-US" sz="1100"/>
          </a:p>
        </p:txBody>
      </p:sp>
      <p:sp>
        <p:nvSpPr>
          <p:cNvPr id="11" name="AutoShape 11"/>
          <p:cNvSpPr/>
          <p:nvPr/>
        </p:nvSpPr>
        <p:spPr>
          <a:xfrm>
            <a:off x="1524000" y="4368800"/>
            <a:ext cx="9144000" cy="381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100" b="0" i="0" u="none" strike="noStrike">
                <a:solidFill>
                  <a:srgbClr val="AAB8C2"/>
                </a:solidFill>
                <a:latin typeface="Noto Sans SC"/>
                <a:ea typeface="Noto Sans SC"/>
                <a:cs typeface="Noto Sans SC"/>
                <a:sym typeface="Noto Sans SC"/>
              </a:rPr>
              <a:t>（本页为预留位，视频由答辩人后续自行插入；建议 2–3 分钟、16:9）</a:t>
            </a:r>
            <a:endParaRPr lang="en-US" sz="1100"/>
          </a:p>
        </p:txBody>
      </p:sp>
      <p:sp>
        <p:nvSpPr>
          <p:cNvPr id="12" name="AutoShape 12"/>
          <p:cNvSpPr/>
          <p:nvPr/>
        </p:nvSpPr>
        <p:spPr>
          <a:xfrm>
            <a:off x="685800" y="5181600"/>
            <a:ext cx="381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D9962E"/>
                </a:solidFill>
                <a:latin typeface="Roboto Mono"/>
                <a:ea typeface="Roboto Mono"/>
                <a:cs typeface="Roboto Mono"/>
                <a:sym typeface="Roboto Mono"/>
              </a:rPr>
              <a:t>建议演示动线</a:t>
            </a:r>
            <a:endParaRPr lang="en-US" sz="1100"/>
          </a:p>
        </p:txBody>
      </p:sp>
      <p:sp>
        <p:nvSpPr>
          <p:cNvPr id="13" name="AutoShape 13"/>
          <p:cNvSpPr/>
          <p:nvPr/>
        </p:nvSpPr>
        <p:spPr>
          <a:xfrm>
            <a:off x="685800" y="5435600"/>
            <a:ext cx="2108200" cy="508000"/>
          </a:xfrm>
          <a:prstGeom prst="roundRect">
            <a:avLst>
              <a:gd name="adj" fmla="val 15000"/>
            </a:avLst>
          </a:prstGeom>
          <a:solidFill>
            <a:srgbClr val="FFFFFF">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787400" y="5435600"/>
            <a:ext cx="1905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FFFFFF"/>
                </a:solidFill>
                <a:latin typeface="Noto Sans SC"/>
                <a:ea typeface="Noto Sans SC"/>
                <a:cs typeface="Noto Sans SC"/>
                <a:sym typeface="Noto Sans SC"/>
              </a:rPr>
              <a:t>1 粘贴待检代码</a:t>
            </a:r>
            <a:endParaRPr lang="en-US" sz="1100"/>
          </a:p>
        </p:txBody>
      </p:sp>
      <p:cxnSp>
        <p:nvCxnSpPr>
          <p:cNvPr id="15" name="Connector 15"/>
          <p:cNvCxnSpPr/>
          <p:nvPr/>
        </p:nvCxnSpPr>
        <p:spPr>
          <a:xfrm rot="-842174">
            <a:off x="2820182" y="5683250"/>
            <a:ext cx="50800" cy="12700"/>
          </a:xfrm>
          <a:prstGeom prst="straightConnector1">
            <a:avLst/>
          </a:prstGeom>
          <a:solidFill>
            <a:srgbClr val="DEE0E3">
              <a:alpha val="100000"/>
            </a:srgbClr>
          </a:solidFill>
          <a:ln w="25400" cap="flat" cmpd="sng">
            <a:solidFill>
              <a:srgbClr val="D9962E">
                <a:alpha val="100000"/>
              </a:srgbClr>
            </a:solidFill>
            <a:prstDash val="solid"/>
            <a:round/>
            <a:headEnd type="none" w="lg" len="lg"/>
            <a:tailEnd type="arrow" w="lg" len="lg"/>
          </a:ln>
        </p:spPr>
      </p:cxnSp>
      <p:sp>
        <p:nvSpPr>
          <p:cNvPr id="16" name="AutoShape 16"/>
          <p:cNvSpPr/>
          <p:nvPr/>
        </p:nvSpPr>
        <p:spPr>
          <a:xfrm>
            <a:off x="2895600" y="5435600"/>
            <a:ext cx="2108200" cy="508000"/>
          </a:xfrm>
          <a:prstGeom prst="roundRect">
            <a:avLst>
              <a:gd name="adj" fmla="val 15000"/>
            </a:avLst>
          </a:prstGeom>
          <a:solidFill>
            <a:srgbClr val="FFFFFF">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2997200" y="5435600"/>
            <a:ext cx="1905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FFFFFF"/>
                </a:solidFill>
                <a:latin typeface="Noto Sans SC"/>
                <a:ea typeface="Noto Sans SC"/>
                <a:cs typeface="Noto Sans SC"/>
                <a:sym typeface="Noto Sans SC"/>
              </a:rPr>
              <a:t>2 四路并行召回</a:t>
            </a:r>
            <a:endParaRPr lang="en-US" sz="1100"/>
          </a:p>
        </p:txBody>
      </p:sp>
      <p:cxnSp>
        <p:nvCxnSpPr>
          <p:cNvPr id="18" name="Connector 18"/>
          <p:cNvCxnSpPr/>
          <p:nvPr/>
        </p:nvCxnSpPr>
        <p:spPr>
          <a:xfrm rot="-842174">
            <a:off x="5029982" y="5683250"/>
            <a:ext cx="50800" cy="12700"/>
          </a:xfrm>
          <a:prstGeom prst="straightConnector1">
            <a:avLst/>
          </a:prstGeom>
          <a:solidFill>
            <a:srgbClr val="DEE0E3">
              <a:alpha val="100000"/>
            </a:srgbClr>
          </a:solidFill>
          <a:ln w="25400" cap="flat" cmpd="sng">
            <a:solidFill>
              <a:srgbClr val="D9962E">
                <a:alpha val="100000"/>
              </a:srgbClr>
            </a:solidFill>
            <a:prstDash val="solid"/>
            <a:round/>
            <a:headEnd type="none" w="lg" len="lg"/>
            <a:tailEnd type="arrow" w="lg" len="lg"/>
          </a:ln>
        </p:spPr>
      </p:cxnSp>
      <p:sp>
        <p:nvSpPr>
          <p:cNvPr id="19" name="AutoShape 19"/>
          <p:cNvSpPr/>
          <p:nvPr/>
        </p:nvSpPr>
        <p:spPr>
          <a:xfrm>
            <a:off x="5105400" y="5435600"/>
            <a:ext cx="2108200" cy="508000"/>
          </a:xfrm>
          <a:prstGeom prst="roundRect">
            <a:avLst>
              <a:gd name="adj" fmla="val 15000"/>
            </a:avLst>
          </a:prstGeom>
          <a:solidFill>
            <a:srgbClr val="FFFFFF">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5207000" y="5435600"/>
            <a:ext cx="1905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FFFFFF"/>
                </a:solidFill>
                <a:latin typeface="Noto Sans SC"/>
                <a:ea typeface="Noto Sans SC"/>
                <a:cs typeface="Noto Sans SC"/>
                <a:sym typeface="Noto Sans SC"/>
              </a:rPr>
              <a:t>3 N=3 封闭裁决</a:t>
            </a:r>
            <a:endParaRPr lang="en-US" sz="1100"/>
          </a:p>
        </p:txBody>
      </p:sp>
      <p:cxnSp>
        <p:nvCxnSpPr>
          <p:cNvPr id="21" name="Connector 21"/>
          <p:cNvCxnSpPr/>
          <p:nvPr/>
        </p:nvCxnSpPr>
        <p:spPr>
          <a:xfrm rot="-842174">
            <a:off x="7239782" y="5683250"/>
            <a:ext cx="50800" cy="12700"/>
          </a:xfrm>
          <a:prstGeom prst="straightConnector1">
            <a:avLst/>
          </a:prstGeom>
          <a:solidFill>
            <a:srgbClr val="DEE0E3">
              <a:alpha val="100000"/>
            </a:srgbClr>
          </a:solidFill>
          <a:ln w="25400" cap="flat" cmpd="sng">
            <a:solidFill>
              <a:srgbClr val="D9962E">
                <a:alpha val="100000"/>
              </a:srgbClr>
            </a:solidFill>
            <a:prstDash val="solid"/>
            <a:round/>
            <a:headEnd type="none" w="lg" len="lg"/>
            <a:tailEnd type="arrow" w="lg" len="lg"/>
          </a:ln>
        </p:spPr>
      </p:cxnSp>
      <p:sp>
        <p:nvSpPr>
          <p:cNvPr id="22" name="AutoShape 22"/>
          <p:cNvSpPr/>
          <p:nvPr/>
        </p:nvSpPr>
        <p:spPr>
          <a:xfrm>
            <a:off x="7315200" y="5435600"/>
            <a:ext cx="2108200" cy="508000"/>
          </a:xfrm>
          <a:prstGeom prst="roundRect">
            <a:avLst>
              <a:gd name="adj" fmla="val 15000"/>
            </a:avLst>
          </a:prstGeom>
          <a:solidFill>
            <a:srgbClr val="FFFFFF">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7416800" y="5435600"/>
            <a:ext cx="1905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FFFFFF"/>
                </a:solidFill>
                <a:latin typeface="Noto Sans SC"/>
                <a:ea typeface="Noto Sans SC"/>
                <a:cs typeface="Noto Sans SC"/>
                <a:sym typeface="Noto Sans SC"/>
              </a:rPr>
              <a:t>4 证据链修复建议</a:t>
            </a:r>
            <a:endParaRPr lang="en-US" sz="1100"/>
          </a:p>
        </p:txBody>
      </p:sp>
      <p:cxnSp>
        <p:nvCxnSpPr>
          <p:cNvPr id="24" name="Connector 24"/>
          <p:cNvCxnSpPr/>
          <p:nvPr/>
        </p:nvCxnSpPr>
        <p:spPr>
          <a:xfrm rot="-842174">
            <a:off x="9449582" y="5683250"/>
            <a:ext cx="50800" cy="12700"/>
          </a:xfrm>
          <a:prstGeom prst="straightConnector1">
            <a:avLst/>
          </a:prstGeom>
          <a:solidFill>
            <a:srgbClr val="DEE0E3">
              <a:alpha val="100000"/>
            </a:srgbClr>
          </a:solidFill>
          <a:ln w="25400" cap="flat" cmpd="sng">
            <a:solidFill>
              <a:srgbClr val="D9962E">
                <a:alpha val="100000"/>
              </a:srgbClr>
            </a:solidFill>
            <a:prstDash val="solid"/>
            <a:round/>
            <a:headEnd type="none" w="lg" len="lg"/>
            <a:tailEnd type="arrow" w="lg" len="lg"/>
          </a:ln>
        </p:spPr>
      </p:cxnSp>
      <p:sp>
        <p:nvSpPr>
          <p:cNvPr id="25" name="AutoShape 25"/>
          <p:cNvSpPr/>
          <p:nvPr/>
        </p:nvSpPr>
        <p:spPr>
          <a:xfrm>
            <a:off x="9525000" y="5435600"/>
            <a:ext cx="2108200" cy="508000"/>
          </a:xfrm>
          <a:prstGeom prst="roundRect">
            <a:avLst>
              <a:gd name="adj" fmla="val 15000"/>
            </a:avLst>
          </a:prstGeom>
          <a:solidFill>
            <a:srgbClr val="FFFFFF">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9626600" y="5435600"/>
            <a:ext cx="1905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12500"/>
              </a:lnSpc>
              <a:defRPr/>
            </a:pPr>
            <a:r>
              <a:rPr lang="en-US" sz="1050" b="0" i="0" u="none" strike="noStrike">
                <a:solidFill>
                  <a:srgbClr val="FFFFFF"/>
                </a:solidFill>
                <a:latin typeface="Noto Sans SC"/>
                <a:ea typeface="Noto Sans SC"/>
                <a:cs typeface="Noto Sans SC"/>
                <a:sym typeface="Noto Sans SC"/>
              </a:rPr>
              <a:t>5 SARIF 导出 / IDE 联动</a:t>
            </a:r>
            <a:endParaRPr lang="en-US" sz="1100"/>
          </a:p>
        </p:txBody>
      </p:sp>
      <p:sp>
        <p:nvSpPr>
          <p:cNvPr id="27" name="AutoShape 27"/>
          <p:cNvSpPr/>
          <p:nvPr/>
        </p:nvSpPr>
        <p:spPr>
          <a:xfrm>
            <a:off x="685800" y="6172200"/>
            <a:ext cx="108204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8C9AA6"/>
                </a:solidFill>
                <a:latin typeface="Noto Sans SC"/>
                <a:ea typeface="Noto Sans SC"/>
                <a:cs typeface="Noto Sans SC"/>
                <a:sym typeface="Noto Sans SC"/>
              </a:rPr>
              <a:t>插入方式：飞书幻灯片「插入 → 视频」；本地 PPTX「插入 → 视频 → 此设备」。本页其余元素可在视频放入后删除。</a:t>
            </a:r>
            <a:endParaRPr lang="en-US" sz="1100"/>
          </a:p>
        </p:txBody>
      </p:sp>
      <p:sp>
        <p:nvSpPr>
          <p:cNvPr id="28" name="AutoShape 28"/>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788894"/>
                </a:solidFill>
                <a:latin typeface="Noto Sans SC"/>
                <a:ea typeface="Noto Sans SC"/>
                <a:cs typeface="Noto Sans SC"/>
                <a:sym typeface="Noto Sans SC"/>
              </a:rPr>
              <a:t>Nivis · 基于大语言模型的代码安全分析系统</a:t>
            </a:r>
            <a:endParaRPr lang="en-US" sz="1100"/>
          </a:p>
        </p:txBody>
      </p:sp>
      <p:sp>
        <p:nvSpPr>
          <p:cNvPr id="29" name="AutoShape 29"/>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788894"/>
                </a:solidFill>
                <a:latin typeface="Roboto Mono"/>
                <a:ea typeface="Roboto Mono"/>
                <a:cs typeface="Roboto Mono"/>
                <a:sym typeface="Roboto Mono"/>
              </a:rPr>
              <a:t>27 / 30</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1F2E38">
                <a:alpha val="100000"/>
              </a:srgbClr>
            </a:gs>
            <a:gs pos="100000">
              <a:srgbClr val="16222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85800" y="5080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8C9CA8"/>
                </a:solidFill>
                <a:latin typeface="Roboto Mono"/>
                <a:ea typeface="Roboto Mono"/>
                <a:cs typeface="Roboto Mono"/>
                <a:sym typeface="Roboto Mono"/>
              </a:rPr>
              <a:t>NIVIS · GRADUATION DEFENSE</a:t>
            </a:r>
            <a:endParaRPr lang="en-US" sz="1100"/>
          </a:p>
        </p:txBody>
      </p:sp>
      <p:sp>
        <p:nvSpPr>
          <p:cNvPr id="4" name="AutoShape 4"/>
          <p:cNvSpPr/>
          <p:nvPr/>
        </p:nvSpPr>
        <p:spPr>
          <a:xfrm>
            <a:off x="635000" y="1905000"/>
            <a:ext cx="3302000" cy="2540000"/>
          </a:xfrm>
          <a:prstGeom prst="rect">
            <a:avLst/>
          </a:prstGeom>
          <a:noFill/>
          <a:ln w="12700" cap="flat" cmpd="sng">
            <a:noFill/>
            <a:prstDash val="solid"/>
            <a:round/>
          </a:ln>
        </p:spPr>
        <p:txBody>
          <a:bodyPr vert="horz" wrap="none" lIns="0" tIns="0" rIns="0" bIns="0" rtlCol="0" anchor="ctr" anchorCtr="0"/>
          <a:lstStyle/>
          <a:p>
            <a:pPr marL="0" indent="0" algn="l">
              <a:lnSpc>
                <a:spcPct val="112500"/>
              </a:lnSpc>
              <a:defRPr/>
            </a:pPr>
            <a:r>
              <a:rPr lang="en-US" sz="15000" b="1" i="0" u="none" strike="noStrike">
                <a:solidFill>
                  <a:srgbClr val="4A7FA5">
                    <a:alpha val="54902"/>
                  </a:srgbClr>
                </a:solidFill>
                <a:latin typeface="Roboto Mono"/>
                <a:ea typeface="Roboto Mono"/>
                <a:cs typeface="Roboto Mono"/>
                <a:sym typeface="Roboto Mono"/>
              </a:rPr>
              <a:t>06</a:t>
            </a:r>
            <a:endParaRPr lang="en-US" sz="1100"/>
          </a:p>
        </p:txBody>
      </p:sp>
      <p:sp>
        <p:nvSpPr>
          <p:cNvPr id="5" name="AutoShape 5"/>
          <p:cNvSpPr/>
          <p:nvPr/>
        </p:nvSpPr>
        <p:spPr>
          <a:xfrm>
            <a:off x="3810000" y="2768600"/>
            <a:ext cx="50800" cy="812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4114800" y="2641600"/>
            <a:ext cx="7112000" cy="635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4000" b="1" i="0" u="none" strike="noStrike">
                <a:solidFill>
                  <a:srgbClr val="FFFFFF"/>
                </a:solidFill>
                <a:latin typeface="Noto Sans SC"/>
                <a:ea typeface="Noto Sans SC"/>
                <a:cs typeface="Noto Sans SC"/>
                <a:sym typeface="Noto Sans SC"/>
              </a:rPr>
              <a:t>未来规划</a:t>
            </a:r>
            <a:endParaRPr lang="en-US" sz="1100"/>
          </a:p>
        </p:txBody>
      </p:sp>
      <p:sp>
        <p:nvSpPr>
          <p:cNvPr id="7" name="AutoShape 7"/>
          <p:cNvSpPr/>
          <p:nvPr/>
        </p:nvSpPr>
        <p:spPr>
          <a:xfrm>
            <a:off x="4140200" y="3276600"/>
            <a:ext cx="7112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0" i="0" u="none" strike="noStrike">
                <a:solidFill>
                  <a:srgbClr val="8296A2"/>
                </a:solidFill>
                <a:latin typeface="Roboto Mono"/>
                <a:ea typeface="Roboto Mono"/>
                <a:cs typeface="Roboto Mono"/>
                <a:sym typeface="Roboto Mono"/>
              </a:rPr>
              <a:t>ROADMAP · NIVIS-α0.6, α1 AND BEYOND</a:t>
            </a:r>
            <a:endParaRPr lang="en-US" sz="1100"/>
          </a:p>
        </p:txBody>
      </p:sp>
      <p:sp>
        <p:nvSpPr>
          <p:cNvPr id="8" name="AutoShape 8"/>
          <p:cNvSpPr/>
          <p:nvPr/>
        </p:nvSpPr>
        <p:spPr>
          <a:xfrm>
            <a:off x="4140200" y="3708400"/>
            <a:ext cx="7112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C6D2DA"/>
                </a:solidFill>
                <a:latin typeface="Noto Sans SC"/>
                <a:ea typeface="Noto Sans SC"/>
                <a:cs typeface="Noto Sans SC"/>
                <a:sym typeface="Noto Sans SC"/>
              </a:rPr>
              <a:t>当前不是终点：α0.6 训练在即，α1 偏好对齐、评估飞轮与两档发布路径已经清晰。</a:t>
            </a:r>
            <a:endParaRPr lang="en-US" sz="1100"/>
          </a:p>
        </p:txBody>
      </p:sp>
      <p:sp>
        <p:nvSpPr>
          <p:cNvPr id="9" name="AutoShape 9"/>
          <p:cNvSpPr/>
          <p:nvPr/>
        </p:nvSpPr>
        <p:spPr>
          <a:xfrm>
            <a:off x="4140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140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01 研究背景</a:t>
            </a:r>
            <a:endParaRPr lang="en-US" sz="1100"/>
          </a:p>
        </p:txBody>
      </p:sp>
      <p:sp>
        <p:nvSpPr>
          <p:cNvPr id="11" name="AutoShape 11"/>
          <p:cNvSpPr/>
          <p:nvPr/>
        </p:nvSpPr>
        <p:spPr>
          <a:xfrm>
            <a:off x="52578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2578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02 研究目标</a:t>
            </a:r>
            <a:endParaRPr lang="en-US" sz="1100"/>
          </a:p>
        </p:txBody>
      </p:sp>
      <p:sp>
        <p:nvSpPr>
          <p:cNvPr id="13" name="AutoShape 13"/>
          <p:cNvSpPr/>
          <p:nvPr/>
        </p:nvSpPr>
        <p:spPr>
          <a:xfrm>
            <a:off x="63754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3754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03 我们的价值</a:t>
            </a:r>
            <a:endParaRPr lang="en-US" sz="1100"/>
          </a:p>
        </p:txBody>
      </p:sp>
      <p:sp>
        <p:nvSpPr>
          <p:cNvPr id="15" name="AutoShape 15"/>
          <p:cNvSpPr/>
          <p:nvPr/>
        </p:nvSpPr>
        <p:spPr>
          <a:xfrm>
            <a:off x="74930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74930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04 项目的价值</a:t>
            </a:r>
            <a:endParaRPr lang="en-US" sz="1100"/>
          </a:p>
        </p:txBody>
      </p:sp>
      <p:sp>
        <p:nvSpPr>
          <p:cNvPr id="17" name="AutoShape 17"/>
          <p:cNvSpPr/>
          <p:nvPr/>
        </p:nvSpPr>
        <p:spPr>
          <a:xfrm>
            <a:off x="86106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6106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05 系统演示</a:t>
            </a:r>
            <a:endParaRPr lang="en-US" sz="1100"/>
          </a:p>
        </p:txBody>
      </p:sp>
      <p:sp>
        <p:nvSpPr>
          <p:cNvPr id="19" name="AutoShape 19"/>
          <p:cNvSpPr/>
          <p:nvPr/>
        </p:nvSpPr>
        <p:spPr>
          <a:xfrm>
            <a:off x="9728200" y="4902200"/>
            <a:ext cx="508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728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E8DEC8"/>
                </a:solidFill>
                <a:latin typeface="Noto Sans SC"/>
                <a:ea typeface="Noto Sans SC"/>
                <a:cs typeface="Noto Sans SC"/>
                <a:sym typeface="Noto Sans SC"/>
              </a:rPr>
              <a:t>06 未来规划</a:t>
            </a:r>
            <a:endParaRPr lang="en-US" sz="1100"/>
          </a:p>
        </p:txBody>
      </p:sp>
      <p:sp>
        <p:nvSpPr>
          <p:cNvPr id="21" name="AutoShape 21"/>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6E7E8A"/>
                </a:solidFill>
                <a:latin typeface="Noto Sans SC"/>
                <a:ea typeface="Noto Sans SC"/>
                <a:cs typeface="Noto Sans SC"/>
                <a:sym typeface="Noto Sans SC"/>
              </a:rPr>
              <a:t>Nivis · 基于大语言模型的代码安全分析系统</a:t>
            </a:r>
            <a:endParaRPr lang="en-US" sz="1100"/>
          </a:p>
        </p:txBody>
      </p:sp>
      <p:sp>
        <p:nvSpPr>
          <p:cNvPr id="22" name="AutoShape 22"/>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6E7E8A"/>
                </a:solidFill>
                <a:latin typeface="Roboto Mono"/>
                <a:ea typeface="Roboto Mono"/>
                <a:cs typeface="Roboto Mono"/>
                <a:sym typeface="Roboto Mono"/>
              </a:rPr>
              <a:t>28 / 30</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06 未来规划</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下一步：α0.6 开训验证闭环，α1 走向偏好对齐</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29 / 30</a:t>
            </a:r>
            <a:endParaRPr lang="en-US" sz="1100"/>
          </a:p>
        </p:txBody>
      </p:sp>
      <p:sp>
        <p:nvSpPr>
          <p:cNvPr id="8" name="AutoShape 8"/>
          <p:cNvSpPr/>
          <p:nvPr/>
        </p:nvSpPr>
        <p:spPr>
          <a:xfrm>
            <a:off x="685800" y="1574800"/>
            <a:ext cx="2628900" cy="381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85800" y="1727200"/>
            <a:ext cx="635000" cy="355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800" b="1" i="0" u="none" strike="noStrike">
                <a:solidFill>
                  <a:srgbClr val="4A7FA5"/>
                </a:solidFill>
                <a:latin typeface="Roboto Mono"/>
                <a:ea typeface="Roboto Mono"/>
                <a:cs typeface="Roboto Mono"/>
                <a:sym typeface="Roboto Mono"/>
              </a:rPr>
              <a:t>01</a:t>
            </a:r>
            <a:endParaRPr lang="en-US" sz="1100"/>
          </a:p>
        </p:txBody>
      </p:sp>
      <p:sp>
        <p:nvSpPr>
          <p:cNvPr id="10" name="AutoShape 10"/>
          <p:cNvSpPr/>
          <p:nvPr/>
        </p:nvSpPr>
        <p:spPr>
          <a:xfrm>
            <a:off x="1193800" y="1778000"/>
            <a:ext cx="2032000" cy="2794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α0.6 开训</a:t>
            </a:r>
            <a:endParaRPr lang="en-US" sz="1100"/>
          </a:p>
        </p:txBody>
      </p:sp>
      <p:sp>
        <p:nvSpPr>
          <p:cNvPr id="11" name="AutoShape 11"/>
          <p:cNvSpPr/>
          <p:nvPr/>
        </p:nvSpPr>
        <p:spPr>
          <a:xfrm>
            <a:off x="685800" y="2260600"/>
            <a:ext cx="26289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85800" y="2260600"/>
            <a:ext cx="50800" cy="11176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863600" y="2413000"/>
            <a:ext cx="2311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2B2F36"/>
                </a:solidFill>
                <a:latin typeface="Noto Sans SC"/>
                <a:ea typeface="Noto Sans SC"/>
                <a:cs typeface="Noto Sans SC"/>
                <a:sym typeface="Noto Sans SC"/>
              </a:rPr>
              <a:t>语料已冻结</a:t>
            </a:r>
            <a:endParaRPr lang="en-US" sz="1100"/>
          </a:p>
        </p:txBody>
      </p:sp>
      <p:sp>
        <p:nvSpPr>
          <p:cNvPr id="14" name="AutoShape 14"/>
          <p:cNvSpPr/>
          <p:nvPr/>
        </p:nvSpPr>
        <p:spPr>
          <a:xfrm>
            <a:off x="863600" y="2667000"/>
            <a:ext cx="23368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950" b="0" i="0" u="none" strike="noStrike">
                <a:solidFill>
                  <a:srgbClr val="5B6770"/>
                </a:solidFill>
                <a:latin typeface="Noto Sans SC"/>
                <a:ea typeface="Noto Sans SC"/>
                <a:cs typeface="Noto Sans SC"/>
                <a:sym typeface="Noto Sans SC"/>
              </a:rPr>
              <a:t>10,167 条经 15 个审计版本，覆盖缺口清零</a:t>
            </a:r>
            <a:endParaRPr lang="en-US" sz="1100"/>
          </a:p>
        </p:txBody>
      </p:sp>
      <p:sp>
        <p:nvSpPr>
          <p:cNvPr id="15" name="AutoShape 15"/>
          <p:cNvSpPr/>
          <p:nvPr/>
        </p:nvSpPr>
        <p:spPr>
          <a:xfrm>
            <a:off x="685800" y="3505200"/>
            <a:ext cx="26289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85800" y="3505200"/>
            <a:ext cx="50800" cy="11176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63600" y="3657600"/>
            <a:ext cx="2311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2B2F36"/>
                </a:solidFill>
                <a:latin typeface="Noto Sans SC"/>
                <a:ea typeface="Noto Sans SC"/>
                <a:cs typeface="Noto Sans SC"/>
                <a:sym typeface="Noto Sans SC"/>
              </a:rPr>
              <a:t>验证闭环</a:t>
            </a:r>
            <a:endParaRPr lang="en-US" sz="1100"/>
          </a:p>
        </p:txBody>
      </p:sp>
      <p:sp>
        <p:nvSpPr>
          <p:cNvPr id="18" name="AutoShape 18"/>
          <p:cNvSpPr/>
          <p:nvPr/>
        </p:nvSpPr>
        <p:spPr>
          <a:xfrm>
            <a:off x="863600" y="3911600"/>
            <a:ext cx="23368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950" b="0" i="0" u="none" strike="noStrike">
                <a:solidFill>
                  <a:srgbClr val="5B6770"/>
                </a:solidFill>
                <a:latin typeface="Noto Sans SC"/>
                <a:ea typeface="Noto Sans SC"/>
                <a:cs typeface="Noto Sans SC"/>
                <a:sym typeface="Noto Sans SC"/>
              </a:rPr>
              <a:t>启动 SFT，首次跑通“蒸馏→训练→双口径评估”全链路</a:t>
            </a:r>
            <a:endParaRPr lang="en-US" sz="1100"/>
          </a:p>
        </p:txBody>
      </p:sp>
      <p:sp>
        <p:nvSpPr>
          <p:cNvPr id="19" name="AutoShape 19"/>
          <p:cNvSpPr/>
          <p:nvPr/>
        </p:nvSpPr>
        <p:spPr>
          <a:xfrm>
            <a:off x="3416300" y="1574800"/>
            <a:ext cx="2628900" cy="381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3416300" y="1727200"/>
            <a:ext cx="635000" cy="355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800" b="1" i="0" u="none" strike="noStrike">
                <a:solidFill>
                  <a:srgbClr val="6FA39B"/>
                </a:solidFill>
                <a:latin typeface="Roboto Mono"/>
                <a:ea typeface="Roboto Mono"/>
                <a:cs typeface="Roboto Mono"/>
                <a:sym typeface="Roboto Mono"/>
              </a:rPr>
              <a:t>02</a:t>
            </a:r>
            <a:endParaRPr lang="en-US" sz="1100"/>
          </a:p>
        </p:txBody>
      </p:sp>
      <p:sp>
        <p:nvSpPr>
          <p:cNvPr id="21" name="AutoShape 21"/>
          <p:cNvSpPr/>
          <p:nvPr/>
        </p:nvSpPr>
        <p:spPr>
          <a:xfrm>
            <a:off x="3924300" y="1778000"/>
            <a:ext cx="2032000" cy="2794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α1 偏好对齐</a:t>
            </a:r>
            <a:endParaRPr lang="en-US" sz="1100"/>
          </a:p>
        </p:txBody>
      </p:sp>
      <p:sp>
        <p:nvSpPr>
          <p:cNvPr id="22" name="AutoShape 22"/>
          <p:cNvSpPr/>
          <p:nvPr/>
        </p:nvSpPr>
        <p:spPr>
          <a:xfrm>
            <a:off x="3416300" y="2260600"/>
            <a:ext cx="26289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3416300" y="22606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3594100" y="2413000"/>
            <a:ext cx="2311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2B2F36"/>
                </a:solidFill>
                <a:latin typeface="Noto Sans SC"/>
                <a:ea typeface="Noto Sans SC"/>
                <a:cs typeface="Noto Sans SC"/>
                <a:sym typeface="Noto Sans SC"/>
              </a:rPr>
              <a:t>DPO 起步</a:t>
            </a:r>
            <a:endParaRPr lang="en-US" sz="1100"/>
          </a:p>
        </p:txBody>
      </p:sp>
      <p:sp>
        <p:nvSpPr>
          <p:cNvPr id="25" name="AutoShape 25"/>
          <p:cNvSpPr/>
          <p:nvPr/>
        </p:nvSpPr>
        <p:spPr>
          <a:xfrm>
            <a:off x="3594100" y="2667000"/>
            <a:ext cx="23368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950" b="0" i="0" u="none" strike="noStrike">
                <a:solidFill>
                  <a:srgbClr val="5B6770"/>
                </a:solidFill>
                <a:latin typeface="Noto Sans SC"/>
                <a:ea typeface="Noto Sans SC"/>
                <a:cs typeface="Noto Sans SC"/>
                <a:sym typeface="Noto Sans SC"/>
              </a:rPr>
              <a:t>用 A/B 判定对、编号错的样本构造偏好对</a:t>
            </a:r>
            <a:endParaRPr lang="en-US" sz="1100"/>
          </a:p>
        </p:txBody>
      </p:sp>
      <p:sp>
        <p:nvSpPr>
          <p:cNvPr id="26" name="AutoShape 26"/>
          <p:cNvSpPr/>
          <p:nvPr/>
        </p:nvSpPr>
        <p:spPr>
          <a:xfrm>
            <a:off x="3416300" y="3505200"/>
            <a:ext cx="26289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3416300" y="35052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3594100" y="3657600"/>
            <a:ext cx="2311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2B2F36"/>
                </a:solidFill>
                <a:latin typeface="Noto Sans SC"/>
                <a:ea typeface="Noto Sans SC"/>
                <a:cs typeface="Noto Sans SC"/>
                <a:sym typeface="Noto Sans SC"/>
              </a:rPr>
              <a:t>GRPO 进阶</a:t>
            </a:r>
            <a:endParaRPr lang="en-US" sz="1100"/>
          </a:p>
        </p:txBody>
      </p:sp>
      <p:sp>
        <p:nvSpPr>
          <p:cNvPr id="29" name="AutoShape 29"/>
          <p:cNvSpPr/>
          <p:nvPr/>
        </p:nvSpPr>
        <p:spPr>
          <a:xfrm>
            <a:off x="3594100" y="3911600"/>
            <a:ext cx="23368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950" b="0" i="0" u="none" strike="noStrike">
                <a:solidFill>
                  <a:srgbClr val="5B6770"/>
                </a:solidFill>
                <a:latin typeface="Noto Sans SC"/>
                <a:ea typeface="Noto Sans SC"/>
                <a:cs typeface="Noto Sans SC"/>
                <a:sym typeface="Noto Sans SC"/>
              </a:rPr>
              <a:t>奖励三闸：FP 惩罚 ≥ FN、格式门前置、证据接地</a:t>
            </a:r>
            <a:endParaRPr lang="en-US" sz="1100"/>
          </a:p>
        </p:txBody>
      </p:sp>
      <p:sp>
        <p:nvSpPr>
          <p:cNvPr id="30" name="AutoShape 30"/>
          <p:cNvSpPr/>
          <p:nvPr/>
        </p:nvSpPr>
        <p:spPr>
          <a:xfrm>
            <a:off x="6146800" y="1574800"/>
            <a:ext cx="26289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6146800" y="1727200"/>
            <a:ext cx="635000" cy="355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800" b="1" i="0" u="none" strike="noStrike">
                <a:solidFill>
                  <a:srgbClr val="D9962E"/>
                </a:solidFill>
                <a:latin typeface="Roboto Mono"/>
                <a:ea typeface="Roboto Mono"/>
                <a:cs typeface="Roboto Mono"/>
                <a:sym typeface="Roboto Mono"/>
              </a:rPr>
              <a:t>03</a:t>
            </a:r>
            <a:endParaRPr lang="en-US" sz="1100"/>
          </a:p>
        </p:txBody>
      </p:sp>
      <p:sp>
        <p:nvSpPr>
          <p:cNvPr id="32" name="AutoShape 32"/>
          <p:cNvSpPr/>
          <p:nvPr/>
        </p:nvSpPr>
        <p:spPr>
          <a:xfrm>
            <a:off x="6654800" y="1778000"/>
            <a:ext cx="2032000" cy="2794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评估飞轮</a:t>
            </a:r>
            <a:endParaRPr lang="en-US" sz="1100"/>
          </a:p>
        </p:txBody>
      </p:sp>
      <p:sp>
        <p:nvSpPr>
          <p:cNvPr id="33" name="AutoShape 33"/>
          <p:cNvSpPr/>
          <p:nvPr/>
        </p:nvSpPr>
        <p:spPr>
          <a:xfrm>
            <a:off x="6146800" y="2260600"/>
            <a:ext cx="26289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6146800" y="2260600"/>
            <a:ext cx="50800" cy="11176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6324600" y="2413000"/>
            <a:ext cx="2311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2B2F36"/>
                </a:solidFill>
                <a:latin typeface="Noto Sans SC"/>
                <a:ea typeface="Noto Sans SC"/>
                <a:cs typeface="Noto Sans SC"/>
                <a:sym typeface="Noto Sans SC"/>
              </a:rPr>
              <a:t>独立集已建</a:t>
            </a:r>
            <a:endParaRPr lang="en-US" sz="1100"/>
          </a:p>
        </p:txBody>
      </p:sp>
      <p:sp>
        <p:nvSpPr>
          <p:cNvPr id="36" name="AutoShape 36"/>
          <p:cNvSpPr/>
          <p:nvPr/>
        </p:nvSpPr>
        <p:spPr>
          <a:xfrm>
            <a:off x="6324600" y="2667000"/>
            <a:ext cx="23368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950" b="0" i="0" u="none" strike="noStrike">
                <a:solidFill>
                  <a:srgbClr val="5B6770"/>
                </a:solidFill>
                <a:latin typeface="Noto Sans SC"/>
                <a:ea typeface="Noto Sans SC"/>
                <a:cs typeface="Noto Sans SC"/>
                <a:sym typeface="Noto Sans SC"/>
              </a:rPr>
              <a:t>20 段真实 CVE-fix；共形预测改用独立校准集</a:t>
            </a:r>
            <a:endParaRPr lang="en-US" sz="1100"/>
          </a:p>
        </p:txBody>
      </p:sp>
      <p:sp>
        <p:nvSpPr>
          <p:cNvPr id="37" name="AutoShape 37"/>
          <p:cNvSpPr/>
          <p:nvPr/>
        </p:nvSpPr>
        <p:spPr>
          <a:xfrm>
            <a:off x="6146800" y="3505200"/>
            <a:ext cx="26289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6146800" y="3505200"/>
            <a:ext cx="50800" cy="11176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6324600" y="3657600"/>
            <a:ext cx="2311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2B2F36"/>
                </a:solidFill>
                <a:latin typeface="Noto Sans SC"/>
                <a:ea typeface="Noto Sans SC"/>
                <a:cs typeface="Noto Sans SC"/>
                <a:sym typeface="Noto Sans SC"/>
              </a:rPr>
              <a:t>人工批准转正</a:t>
            </a:r>
            <a:endParaRPr lang="en-US" sz="1100"/>
          </a:p>
        </p:txBody>
      </p:sp>
      <p:sp>
        <p:nvSpPr>
          <p:cNvPr id="40" name="AutoShape 40"/>
          <p:cNvSpPr/>
          <p:nvPr/>
        </p:nvSpPr>
        <p:spPr>
          <a:xfrm>
            <a:off x="6324600" y="3911600"/>
            <a:ext cx="23368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950" b="0" i="0" u="none" strike="noStrike">
                <a:solidFill>
                  <a:srgbClr val="5B6770"/>
                </a:solidFill>
                <a:latin typeface="Noto Sans SC"/>
                <a:ea typeface="Noto Sans SC"/>
                <a:cs typeface="Noto Sans SC"/>
                <a:sym typeface="Noto Sans SC"/>
              </a:rPr>
              <a:t>learn_pool 管道就绪，候选经人工批准才进训练池</a:t>
            </a:r>
            <a:endParaRPr lang="en-US" sz="1100"/>
          </a:p>
        </p:txBody>
      </p:sp>
      <p:sp>
        <p:nvSpPr>
          <p:cNvPr id="41" name="AutoShape 41"/>
          <p:cNvSpPr/>
          <p:nvPr/>
        </p:nvSpPr>
        <p:spPr>
          <a:xfrm>
            <a:off x="8877300" y="1574800"/>
            <a:ext cx="2628900" cy="38100"/>
          </a:xfrm>
          <a:prstGeom prst="roundRect">
            <a:avLst>
              <a:gd name="adj" fmla="val 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8877300" y="1727200"/>
            <a:ext cx="635000" cy="355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800" b="1" i="0" u="none" strike="noStrike">
                <a:solidFill>
                  <a:srgbClr val="345E80"/>
                </a:solidFill>
                <a:latin typeface="Roboto Mono"/>
                <a:ea typeface="Roboto Mono"/>
                <a:cs typeface="Roboto Mono"/>
                <a:sym typeface="Roboto Mono"/>
              </a:rPr>
              <a:t>04</a:t>
            </a:r>
            <a:endParaRPr lang="en-US" sz="1100"/>
          </a:p>
        </p:txBody>
      </p:sp>
      <p:sp>
        <p:nvSpPr>
          <p:cNvPr id="43" name="AutoShape 43"/>
          <p:cNvSpPr/>
          <p:nvPr/>
        </p:nvSpPr>
        <p:spPr>
          <a:xfrm>
            <a:off x="9385300" y="1778000"/>
            <a:ext cx="2032000" cy="2794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两档发布</a:t>
            </a:r>
            <a:endParaRPr lang="en-US" sz="1100"/>
          </a:p>
        </p:txBody>
      </p:sp>
      <p:sp>
        <p:nvSpPr>
          <p:cNvPr id="44" name="AutoShape 44"/>
          <p:cNvSpPr/>
          <p:nvPr/>
        </p:nvSpPr>
        <p:spPr>
          <a:xfrm>
            <a:off x="8877300" y="2260600"/>
            <a:ext cx="26289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AutoShape 45"/>
          <p:cNvSpPr/>
          <p:nvPr/>
        </p:nvSpPr>
        <p:spPr>
          <a:xfrm>
            <a:off x="8877300" y="2260600"/>
            <a:ext cx="50800" cy="1117600"/>
          </a:xfrm>
          <a:prstGeom prst="roundRect">
            <a:avLst>
              <a:gd name="adj" fmla="val 5000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AutoShape 46"/>
          <p:cNvSpPr/>
          <p:nvPr/>
        </p:nvSpPr>
        <p:spPr>
          <a:xfrm>
            <a:off x="9055100" y="2413000"/>
            <a:ext cx="2311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2B2F36"/>
                </a:solidFill>
                <a:latin typeface="Noto Sans SC"/>
                <a:ea typeface="Noto Sans SC"/>
                <a:cs typeface="Noto Sans SC"/>
                <a:sym typeface="Noto Sans SC"/>
              </a:rPr>
              <a:t>HuggingFace FP16</a:t>
            </a:r>
            <a:endParaRPr lang="en-US" sz="1100"/>
          </a:p>
        </p:txBody>
      </p:sp>
      <p:sp>
        <p:nvSpPr>
          <p:cNvPr id="47" name="AutoShape 47"/>
          <p:cNvSpPr/>
          <p:nvPr/>
        </p:nvSpPr>
        <p:spPr>
          <a:xfrm>
            <a:off x="9055100" y="2667000"/>
            <a:ext cx="23368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950" b="0" i="0" u="none" strike="noStrike">
                <a:solidFill>
                  <a:srgbClr val="5B6770"/>
                </a:solidFill>
                <a:latin typeface="Noto Sans SC"/>
                <a:ea typeface="Noto Sans SC"/>
                <a:cs typeface="Noto Sans SC"/>
                <a:sym typeface="Noto Sans SC"/>
              </a:rPr>
              <a:t>全精度版，面向研究与二次开发</a:t>
            </a:r>
            <a:endParaRPr lang="en-US" sz="1100"/>
          </a:p>
        </p:txBody>
      </p:sp>
      <p:sp>
        <p:nvSpPr>
          <p:cNvPr id="48" name="AutoShape 48"/>
          <p:cNvSpPr/>
          <p:nvPr/>
        </p:nvSpPr>
        <p:spPr>
          <a:xfrm>
            <a:off x="8877300" y="3505200"/>
            <a:ext cx="26289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49"/>
          <p:cNvSpPr/>
          <p:nvPr/>
        </p:nvSpPr>
        <p:spPr>
          <a:xfrm>
            <a:off x="8877300" y="3505200"/>
            <a:ext cx="50800" cy="1117600"/>
          </a:xfrm>
          <a:prstGeom prst="roundRect">
            <a:avLst>
              <a:gd name="adj" fmla="val 5000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50"/>
          <p:cNvSpPr/>
          <p:nvPr/>
        </p:nvSpPr>
        <p:spPr>
          <a:xfrm>
            <a:off x="9055100" y="3657600"/>
            <a:ext cx="2311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2B2F36"/>
                </a:solidFill>
                <a:latin typeface="Noto Sans SC"/>
                <a:ea typeface="Noto Sans SC"/>
                <a:cs typeface="Noto Sans SC"/>
                <a:sym typeface="Noto Sans SC"/>
              </a:rPr>
              <a:t>Ollama Q4</a:t>
            </a:r>
            <a:endParaRPr lang="en-US" sz="1100"/>
          </a:p>
        </p:txBody>
      </p:sp>
      <p:sp>
        <p:nvSpPr>
          <p:cNvPr id="51" name="AutoShape 51"/>
          <p:cNvSpPr/>
          <p:nvPr/>
        </p:nvSpPr>
        <p:spPr>
          <a:xfrm>
            <a:off x="9055100" y="3911600"/>
            <a:ext cx="23368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950" b="0" i="0" u="none" strike="noStrike">
                <a:solidFill>
                  <a:srgbClr val="5B6770"/>
                </a:solidFill>
                <a:latin typeface="Noto Sans SC"/>
                <a:ea typeface="Noto Sans SC"/>
                <a:cs typeface="Noto Sans SC"/>
                <a:sym typeface="Noto Sans SC"/>
              </a:rPr>
              <a:t>量化版，16GB 本地一键部署</a:t>
            </a:r>
            <a:endParaRPr lang="en-US" sz="1100"/>
          </a:p>
        </p:txBody>
      </p:sp>
      <p:sp>
        <p:nvSpPr>
          <p:cNvPr id="52" name="AutoShape 52"/>
          <p:cNvSpPr/>
          <p:nvPr/>
        </p:nvSpPr>
        <p:spPr>
          <a:xfrm>
            <a:off x="685800" y="4902200"/>
            <a:ext cx="10820400" cy="1117600"/>
          </a:xfrm>
          <a:prstGeom prst="roundRect">
            <a:avLst>
              <a:gd name="adj" fmla="val 9090"/>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3" name="AutoShape 53"/>
          <p:cNvSpPr/>
          <p:nvPr/>
        </p:nvSpPr>
        <p:spPr>
          <a:xfrm>
            <a:off x="685800" y="4902200"/>
            <a:ext cx="50800" cy="11176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4" name="AutoShape 54"/>
          <p:cNvSpPr/>
          <p:nvPr/>
        </p:nvSpPr>
        <p:spPr>
          <a:xfrm>
            <a:off x="990600" y="5054600"/>
            <a:ext cx="508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1" i="0" u="none" strike="noStrike">
                <a:solidFill>
                  <a:srgbClr val="D9962E"/>
                </a:solidFill>
                <a:latin typeface="Roboto Mono"/>
                <a:ea typeface="Roboto Mono"/>
                <a:cs typeface="Roboto Mono"/>
                <a:sym typeface="Roboto Mono"/>
              </a:rPr>
              <a:t>STATUS · 状态声明</a:t>
            </a:r>
            <a:endParaRPr lang="en-US" sz="1100"/>
          </a:p>
        </p:txBody>
      </p:sp>
      <p:sp>
        <p:nvSpPr>
          <p:cNvPr id="55" name="AutoShape 55"/>
          <p:cNvSpPr/>
          <p:nvPr/>
        </p:nvSpPr>
        <p:spPr>
          <a:xfrm>
            <a:off x="990600" y="5308600"/>
            <a:ext cx="10414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FFFFFF"/>
                </a:solidFill>
                <a:latin typeface="Noto Sans SC"/>
                <a:ea typeface="Noto Sans SC"/>
                <a:cs typeface="Noto Sans SC"/>
                <a:sym typeface="Noto Sans SC"/>
              </a:rPr>
              <a:t>α0.6 与 α1 均未开始训练：方案、脚本、语料已就绪，本页不预支任何结果。</a:t>
            </a:r>
            <a:endParaRPr lang="en-US" sz="1100"/>
          </a:p>
        </p:txBody>
      </p:sp>
      <p:sp>
        <p:nvSpPr>
          <p:cNvPr id="56" name="AutoShape 56"/>
          <p:cNvSpPr/>
          <p:nvPr/>
        </p:nvSpPr>
        <p:spPr>
          <a:xfrm>
            <a:off x="990600" y="5613400"/>
            <a:ext cx="10414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B4C0CA"/>
                </a:solidFill>
                <a:latin typeface="Noto Sans SC"/>
                <a:ea typeface="Noto Sans SC"/>
                <a:cs typeface="Noto Sans SC"/>
                <a:sym typeface="Noto Sans SC"/>
              </a:rPr>
              <a:t>当前线上：α0.5 + 两阶段 + wave8 信任层　／　下一里程碑：α0.6 开训</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1F2E38">
                <a:alpha val="100000"/>
              </a:srgbClr>
            </a:gs>
            <a:gs pos="100000">
              <a:srgbClr val="142029">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85800" y="5588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8C9CA8"/>
                </a:solidFill>
                <a:latin typeface="Roboto Mono"/>
                <a:ea typeface="Roboto Mono"/>
                <a:cs typeface="Roboto Mono"/>
                <a:sym typeface="Roboto Mono"/>
              </a:rPr>
              <a:t>NIVIS · GRADUATION DEFENSE</a:t>
            </a:r>
            <a:endParaRPr lang="en-US" sz="1100"/>
          </a:p>
        </p:txBody>
      </p:sp>
      <p:sp>
        <p:nvSpPr>
          <p:cNvPr id="4" name="AutoShape 4"/>
          <p:cNvSpPr/>
          <p:nvPr/>
        </p:nvSpPr>
        <p:spPr>
          <a:xfrm>
            <a:off x="685800" y="1651000"/>
            <a:ext cx="10820400" cy="635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3800" b="1" i="0" u="none" strike="noStrike">
                <a:solidFill>
                  <a:srgbClr val="FFFFFF"/>
                </a:solidFill>
                <a:latin typeface="Noto Sans SC"/>
                <a:ea typeface="Noto Sans SC"/>
                <a:cs typeface="Noto Sans SC"/>
                <a:sym typeface="Noto Sans SC"/>
              </a:rPr>
              <a:t>恳请各位老师批评指正</a:t>
            </a:r>
            <a:endParaRPr lang="en-US" sz="1100"/>
          </a:p>
        </p:txBody>
      </p:sp>
      <p:sp>
        <p:nvSpPr>
          <p:cNvPr id="5" name="AutoShape 5"/>
          <p:cNvSpPr/>
          <p:nvPr/>
        </p:nvSpPr>
        <p:spPr>
          <a:xfrm>
            <a:off x="685800" y="2413000"/>
            <a:ext cx="6096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2616200"/>
            <a:ext cx="108204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0" i="0" u="none" strike="noStrike">
                <a:solidFill>
                  <a:srgbClr val="8C9CA8"/>
                </a:solidFill>
                <a:latin typeface="Roboto Mono"/>
                <a:ea typeface="Roboto Mono"/>
                <a:cs typeface="Roboto Mono"/>
                <a:sym typeface="Roboto Mono"/>
              </a:rPr>
              <a:t>THANK YOU FOR YOUR TIME AND FEEDBACK</a:t>
            </a:r>
            <a:endParaRPr lang="en-US" sz="1100"/>
          </a:p>
        </p:txBody>
      </p:sp>
      <p:sp>
        <p:nvSpPr>
          <p:cNvPr id="7" name="AutoShape 7"/>
          <p:cNvSpPr/>
          <p:nvPr/>
        </p:nvSpPr>
        <p:spPr>
          <a:xfrm>
            <a:off x="685800" y="3403600"/>
            <a:ext cx="2286000" cy="1219200"/>
          </a:xfrm>
          <a:prstGeom prst="roundRect">
            <a:avLst>
              <a:gd name="adj" fmla="val 8333"/>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85800" y="3403600"/>
            <a:ext cx="2286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85800" y="3632200"/>
            <a:ext cx="2286000" cy="508000"/>
          </a:xfrm>
          <a:prstGeom prst="rect">
            <a:avLst/>
          </a:prstGeom>
          <a:noFill/>
          <a:ln w="12700" cap="flat" cmpd="sng">
            <a:noFill/>
            <a:prstDash val="solid"/>
            <a:round/>
          </a:ln>
        </p:spPr>
        <p:txBody>
          <a:bodyPr vert="horz" wrap="none" lIns="0" tIns="0" rIns="0" bIns="0" rtlCol="0" anchor="t" anchorCtr="0"/>
          <a:lstStyle/>
          <a:p>
            <a:pPr marL="0" indent="0" algn="ctr">
              <a:lnSpc>
                <a:spcPct val="112500"/>
              </a:lnSpc>
              <a:defRPr/>
            </a:pPr>
            <a:r>
              <a:rPr lang="en-US" sz="2700" b="1" i="0" u="none" strike="noStrike">
                <a:solidFill>
                  <a:srgbClr val="D9962E"/>
                </a:solidFill>
                <a:latin typeface="Roboto Mono"/>
                <a:ea typeface="Roboto Mono"/>
                <a:cs typeface="Roboto Mono"/>
                <a:sym typeface="Roboto Mono"/>
              </a:rPr>
              <a:t>100%</a:t>
            </a:r>
            <a:endParaRPr lang="en-US" sz="1100"/>
          </a:p>
        </p:txBody>
      </p:sp>
      <p:sp>
        <p:nvSpPr>
          <p:cNvPr id="10" name="AutoShape 10"/>
          <p:cNvSpPr/>
          <p:nvPr/>
        </p:nvSpPr>
        <p:spPr>
          <a:xfrm>
            <a:off x="685800" y="4216400"/>
            <a:ext cx="22860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100" b="0" i="0" u="none" strike="noStrike">
                <a:solidFill>
                  <a:srgbClr val="C6D2DA"/>
                </a:solidFill>
                <a:latin typeface="Noto Sans SC"/>
                <a:ea typeface="Noto Sans SC"/>
                <a:cs typeface="Noto Sans SC"/>
                <a:sym typeface="Noto Sans SC"/>
              </a:rPr>
              <a:t>合成集召回</a:t>
            </a:r>
            <a:endParaRPr lang="en-US" sz="1100"/>
          </a:p>
        </p:txBody>
      </p:sp>
      <p:sp>
        <p:nvSpPr>
          <p:cNvPr id="11" name="AutoShape 11"/>
          <p:cNvSpPr/>
          <p:nvPr/>
        </p:nvSpPr>
        <p:spPr>
          <a:xfrm>
            <a:off x="3530600" y="3403600"/>
            <a:ext cx="2286000" cy="1219200"/>
          </a:xfrm>
          <a:prstGeom prst="roundRect">
            <a:avLst>
              <a:gd name="adj" fmla="val 8333"/>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3530600" y="3403600"/>
            <a:ext cx="2286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3530600" y="3632200"/>
            <a:ext cx="2286000" cy="508000"/>
          </a:xfrm>
          <a:prstGeom prst="rect">
            <a:avLst/>
          </a:prstGeom>
          <a:noFill/>
          <a:ln w="12700" cap="flat" cmpd="sng">
            <a:noFill/>
            <a:prstDash val="solid"/>
            <a:round/>
          </a:ln>
        </p:spPr>
        <p:txBody>
          <a:bodyPr vert="horz" wrap="none" lIns="0" tIns="0" rIns="0" bIns="0" rtlCol="0" anchor="t" anchorCtr="0"/>
          <a:lstStyle/>
          <a:p>
            <a:pPr marL="0" indent="0" algn="ctr">
              <a:lnSpc>
                <a:spcPct val="112500"/>
              </a:lnSpc>
              <a:defRPr/>
            </a:pPr>
            <a:r>
              <a:rPr lang="en-US" sz="2700" b="1" i="0" u="none" strike="noStrike">
                <a:solidFill>
                  <a:srgbClr val="D9962E"/>
                </a:solidFill>
                <a:latin typeface="Roboto Mono"/>
                <a:ea typeface="Roboto Mono"/>
                <a:cs typeface="Roboto Mono"/>
                <a:sym typeface="Roboto Mono"/>
              </a:rPr>
              <a:t>4.3%</a:t>
            </a:r>
            <a:endParaRPr lang="en-US" sz="1100"/>
          </a:p>
        </p:txBody>
      </p:sp>
      <p:sp>
        <p:nvSpPr>
          <p:cNvPr id="14" name="AutoShape 14"/>
          <p:cNvSpPr/>
          <p:nvPr/>
        </p:nvSpPr>
        <p:spPr>
          <a:xfrm>
            <a:off x="3530600" y="4216400"/>
            <a:ext cx="22860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100" b="0" i="0" u="none" strike="noStrike">
                <a:solidFill>
                  <a:srgbClr val="C6D2DA"/>
                </a:solidFill>
                <a:latin typeface="Noto Sans SC"/>
                <a:ea typeface="Noto Sans SC"/>
                <a:cs typeface="Noto Sans SC"/>
                <a:sym typeface="Noto Sans SC"/>
              </a:rPr>
              <a:t>误报率</a:t>
            </a:r>
            <a:endParaRPr lang="en-US" sz="1100"/>
          </a:p>
        </p:txBody>
      </p:sp>
      <p:sp>
        <p:nvSpPr>
          <p:cNvPr id="15" name="AutoShape 15"/>
          <p:cNvSpPr/>
          <p:nvPr/>
        </p:nvSpPr>
        <p:spPr>
          <a:xfrm>
            <a:off x="6375400" y="3403600"/>
            <a:ext cx="2286000" cy="1219200"/>
          </a:xfrm>
          <a:prstGeom prst="roundRect">
            <a:avLst>
              <a:gd name="adj" fmla="val 8333"/>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375400" y="3403600"/>
            <a:ext cx="2286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375400" y="3632200"/>
            <a:ext cx="2286000" cy="508000"/>
          </a:xfrm>
          <a:prstGeom prst="rect">
            <a:avLst/>
          </a:prstGeom>
          <a:noFill/>
          <a:ln w="12700" cap="flat" cmpd="sng">
            <a:noFill/>
            <a:prstDash val="solid"/>
            <a:round/>
          </a:ln>
        </p:spPr>
        <p:txBody>
          <a:bodyPr vert="horz" wrap="none" lIns="0" tIns="0" rIns="0" bIns="0" rtlCol="0" anchor="t" anchorCtr="0"/>
          <a:lstStyle/>
          <a:p>
            <a:pPr marL="0" indent="0" algn="ctr">
              <a:lnSpc>
                <a:spcPct val="112500"/>
              </a:lnSpc>
              <a:defRPr/>
            </a:pPr>
            <a:r>
              <a:rPr lang="en-US" sz="2700" b="1" i="0" u="none" strike="noStrike">
                <a:solidFill>
                  <a:srgbClr val="D9962E"/>
                </a:solidFill>
                <a:latin typeface="Roboto Mono"/>
                <a:ea typeface="Roboto Mono"/>
                <a:cs typeface="Roboto Mono"/>
                <a:sym typeface="Roboto Mono"/>
              </a:rPr>
              <a:t>1.000</a:t>
            </a:r>
            <a:endParaRPr lang="en-US" sz="1100"/>
          </a:p>
        </p:txBody>
      </p:sp>
      <p:sp>
        <p:nvSpPr>
          <p:cNvPr id="18" name="AutoShape 18"/>
          <p:cNvSpPr/>
          <p:nvPr/>
        </p:nvSpPr>
        <p:spPr>
          <a:xfrm>
            <a:off x="6375400" y="4216400"/>
            <a:ext cx="22860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100" b="0" i="0" u="none" strike="noStrike">
                <a:solidFill>
                  <a:srgbClr val="C6D2DA"/>
                </a:solidFill>
                <a:latin typeface="Noto Sans SC"/>
                <a:ea typeface="Noto Sans SC"/>
                <a:cs typeface="Noto Sans SC"/>
                <a:sym typeface="Noto Sans SC"/>
              </a:rPr>
              <a:t>真实 CVE 严格归因</a:t>
            </a:r>
            <a:endParaRPr lang="en-US" sz="1100"/>
          </a:p>
        </p:txBody>
      </p:sp>
      <p:sp>
        <p:nvSpPr>
          <p:cNvPr id="19" name="AutoShape 19"/>
          <p:cNvSpPr/>
          <p:nvPr/>
        </p:nvSpPr>
        <p:spPr>
          <a:xfrm>
            <a:off x="9220200" y="3403600"/>
            <a:ext cx="2286000" cy="1219200"/>
          </a:xfrm>
          <a:prstGeom prst="roundRect">
            <a:avLst>
              <a:gd name="adj" fmla="val 8333"/>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220200" y="3403600"/>
            <a:ext cx="2286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9220200" y="3632200"/>
            <a:ext cx="2286000" cy="508000"/>
          </a:xfrm>
          <a:prstGeom prst="rect">
            <a:avLst/>
          </a:prstGeom>
          <a:noFill/>
          <a:ln w="12700" cap="flat" cmpd="sng">
            <a:noFill/>
            <a:prstDash val="solid"/>
            <a:round/>
          </a:ln>
        </p:spPr>
        <p:txBody>
          <a:bodyPr vert="horz" wrap="none" lIns="0" tIns="0" rIns="0" bIns="0" rtlCol="0" anchor="t" anchorCtr="0"/>
          <a:lstStyle/>
          <a:p>
            <a:pPr marL="0" indent="0" algn="ctr">
              <a:lnSpc>
                <a:spcPct val="112500"/>
              </a:lnSpc>
              <a:defRPr/>
            </a:pPr>
            <a:r>
              <a:rPr lang="en-US" sz="2700" b="1" i="0" u="none" strike="noStrike">
                <a:solidFill>
                  <a:srgbClr val="D9962E"/>
                </a:solidFill>
                <a:latin typeface="Roboto Mono"/>
                <a:ea typeface="Roboto Mono"/>
                <a:cs typeface="Roboto Mono"/>
                <a:sym typeface="Roboto Mono"/>
              </a:rPr>
              <a:t>39,298</a:t>
            </a:r>
            <a:endParaRPr lang="en-US" sz="1100"/>
          </a:p>
        </p:txBody>
      </p:sp>
      <p:sp>
        <p:nvSpPr>
          <p:cNvPr id="22" name="AutoShape 22"/>
          <p:cNvSpPr/>
          <p:nvPr/>
        </p:nvSpPr>
        <p:spPr>
          <a:xfrm>
            <a:off x="9220200" y="4216400"/>
            <a:ext cx="22860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100" b="0" i="0" u="none" strike="noStrike">
                <a:solidFill>
                  <a:srgbClr val="C6D2DA"/>
                </a:solidFill>
                <a:latin typeface="Noto Sans SC"/>
                <a:ea typeface="Noto Sans SC"/>
                <a:cs typeface="Noto Sans SC"/>
                <a:sym typeface="Noto Sans SC"/>
              </a:rPr>
              <a:t>行手写代码</a:t>
            </a:r>
            <a:endParaRPr lang="en-US" sz="1100"/>
          </a:p>
        </p:txBody>
      </p:sp>
      <p:cxnSp>
        <p:nvCxnSpPr>
          <p:cNvPr id="23" name="Connector 23"/>
          <p:cNvCxnSpPr/>
          <p:nvPr/>
        </p:nvCxnSpPr>
        <p:spPr>
          <a:xfrm rot="-4034">
            <a:off x="685804" y="5327650"/>
            <a:ext cx="10820400" cy="12700"/>
          </a:xfrm>
          <a:prstGeom prst="straightConnector1">
            <a:avLst/>
          </a:prstGeom>
          <a:solidFill>
            <a:srgbClr val="DEE0E3">
              <a:alpha val="100000"/>
            </a:srgbClr>
          </a:solidFill>
          <a:ln w="12700" cap="flat" cmpd="sng">
            <a:solidFill>
              <a:srgbClr val="4A5C6A">
                <a:alpha val="100000"/>
              </a:srgbClr>
            </a:solidFill>
            <a:prstDash val="solid"/>
            <a:round/>
            <a:headEnd type="none" w="med" len="med"/>
            <a:tailEnd type="none" w="med" len="med"/>
          </a:ln>
        </p:spPr>
      </p:cxnSp>
      <p:sp>
        <p:nvSpPr>
          <p:cNvPr id="24" name="AutoShape 24"/>
          <p:cNvSpPr/>
          <p:nvPr/>
        </p:nvSpPr>
        <p:spPr>
          <a:xfrm>
            <a:off x="685800" y="5562600"/>
            <a:ext cx="6350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zh-CN" altLang="en-US" sz="1300" b="1" dirty="0">
                <a:solidFill>
                  <a:srgbClr val="FFFFFF"/>
                </a:solidFill>
                <a:latin typeface="Noto Sans SC"/>
                <a:ea typeface="Noto Sans SC"/>
                <a:cs typeface="Noto Sans SC"/>
                <a:sym typeface="Noto Sans SC"/>
              </a:rPr>
              <a:t>报告</a:t>
            </a:r>
            <a:r>
              <a:rPr lang="en-US" sz="1300" b="1" i="0" u="none" strike="noStrike" dirty="0" err="1">
                <a:solidFill>
                  <a:srgbClr val="FFFFFF"/>
                </a:solidFill>
                <a:latin typeface="Noto Sans SC"/>
                <a:ea typeface="Noto Sans SC"/>
                <a:cs typeface="Noto Sans SC"/>
                <a:sym typeface="Noto Sans SC"/>
              </a:rPr>
              <a:t>人：白明耀、易卓玥</a:t>
            </a:r>
            <a:endParaRPr lang="en-US" sz="1100" dirty="0"/>
          </a:p>
        </p:txBody>
      </p:sp>
      <p:sp>
        <p:nvSpPr>
          <p:cNvPr id="25" name="AutoShape 25"/>
          <p:cNvSpPr/>
          <p:nvPr/>
        </p:nvSpPr>
        <p:spPr>
          <a:xfrm>
            <a:off x="685800" y="5867400"/>
            <a:ext cx="635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0" i="0" u="none" strike="noStrike" dirty="0" err="1">
                <a:solidFill>
                  <a:srgbClr val="96A6B2"/>
                </a:solidFill>
                <a:latin typeface="Noto Sans SC"/>
                <a:ea typeface="Noto Sans SC"/>
                <a:cs typeface="Noto Sans SC"/>
                <a:sym typeface="Noto Sans SC"/>
              </a:rPr>
              <a:t>指导教师：陈纪友</a:t>
            </a:r>
            <a:r>
              <a:rPr lang="en-US" sz="1050" b="0" i="0" u="none" strike="noStrike" dirty="0">
                <a:solidFill>
                  <a:srgbClr val="96A6B2"/>
                </a:solidFill>
                <a:latin typeface="Noto Sans SC"/>
                <a:ea typeface="Noto Sans SC"/>
                <a:cs typeface="Noto Sans SC"/>
                <a:sym typeface="Noto Sans SC"/>
              </a:rPr>
              <a:t> · </a:t>
            </a:r>
            <a:r>
              <a:rPr lang="en-US" sz="1050" b="0" i="0" u="none" strike="noStrike" dirty="0" err="1">
                <a:solidFill>
                  <a:srgbClr val="96A6B2"/>
                </a:solidFill>
                <a:latin typeface="Noto Sans SC"/>
                <a:ea typeface="Noto Sans SC"/>
                <a:cs typeface="Noto Sans SC"/>
                <a:sym typeface="Noto Sans SC"/>
              </a:rPr>
              <a:t>衡阳师范学院</a:t>
            </a:r>
            <a:endParaRPr lang="en-US" sz="1100" dirty="0"/>
          </a:p>
        </p:txBody>
      </p:sp>
      <p:sp>
        <p:nvSpPr>
          <p:cNvPr id="26" name="AutoShape 26"/>
          <p:cNvSpPr/>
          <p:nvPr/>
        </p:nvSpPr>
        <p:spPr>
          <a:xfrm>
            <a:off x="7620000" y="5562600"/>
            <a:ext cx="3886200" cy="2794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1300" b="1" i="0" u="none" strike="noStrike">
                <a:solidFill>
                  <a:srgbClr val="FFFFFF"/>
                </a:solidFill>
                <a:latin typeface="Noto Sans SC"/>
                <a:ea typeface="Noto Sans SC"/>
                <a:cs typeface="Noto Sans SC"/>
                <a:sym typeface="Noto Sans SC"/>
              </a:rPr>
              <a:t>2026 年 9 月</a:t>
            </a:r>
            <a:endParaRPr lang="en-US" sz="1100"/>
          </a:p>
        </p:txBody>
      </p:sp>
      <p:sp>
        <p:nvSpPr>
          <p:cNvPr id="27" name="AutoShape 27"/>
          <p:cNvSpPr/>
          <p:nvPr/>
        </p:nvSpPr>
        <p:spPr>
          <a:xfrm>
            <a:off x="7620000" y="5867400"/>
            <a:ext cx="3886200" cy="2540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1050" b="0" i="0" u="none" strike="noStrike">
                <a:solidFill>
                  <a:srgbClr val="96A6B2"/>
                </a:solidFill>
                <a:latin typeface="Noto Sans SC"/>
                <a:ea typeface="Noto Sans SC"/>
                <a:cs typeface="Noto Sans SC"/>
                <a:sym typeface="Noto Sans SC"/>
              </a:rPr>
              <a:t>基于大语言模型的代码安全分析系统 · Nivis</a:t>
            </a:r>
            <a:endParaRPr lang="en-US" sz="1100"/>
          </a:p>
        </p:txBody>
      </p:sp>
      <p:pic>
        <p:nvPicPr>
          <p:cNvPr id="28" name="Picture 28"/>
          <p:cNvPicPr>
            <a:picLocks noChangeAspect="1"/>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4331</Words>
  <Application>Microsoft Office PowerPoint</Application>
  <PresentationFormat>宽屏</PresentationFormat>
  <Paragraphs>823</Paragraphs>
  <Slides>30</Slides>
  <Notes>30</Notes>
  <HiddenSlides>0</HiddenSlides>
  <MMClips>0</MMClips>
  <ScaleCrop>false</ScaleCrop>
  <HeadingPairs>
    <vt:vector size="6" baseType="variant">
      <vt:variant>
        <vt:lpstr>已用的字体</vt:lpstr>
      </vt:variant>
      <vt:variant>
        <vt:i4>4</vt:i4>
      </vt:variant>
      <vt:variant>
        <vt:lpstr>主题</vt:lpstr>
      </vt:variant>
      <vt:variant>
        <vt:i4>3</vt:i4>
      </vt:variant>
      <vt:variant>
        <vt:lpstr>幻灯片标题</vt:lpstr>
      </vt:variant>
      <vt:variant>
        <vt:i4>30</vt:i4>
      </vt:variant>
    </vt:vector>
  </HeadingPairs>
  <TitlesOfParts>
    <vt:vector size="37" baseType="lpstr">
      <vt:lpstr>Noto Sans SC</vt:lpstr>
      <vt:lpstr>Roboto Mono</vt:lpstr>
      <vt:lpstr>思源黑体</vt:lpstr>
      <vt:lpstr>Arial</vt:lpstr>
      <vt:lpstr>Office 主题​​</vt:lpstr>
      <vt:lpstr>默认主题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Garry White</cp:lastModifiedBy>
  <cp:revision>4</cp:revision>
  <dcterms:modified xsi:type="dcterms:W3CDTF">2026-09-03T09:45:37Z</dcterms:modified>
</cp:coreProperties>
</file>